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82" r:id="rId3"/>
    <p:sldId id="279" r:id="rId4"/>
    <p:sldId id="283" r:id="rId5"/>
    <p:sldId id="281" r:id="rId6"/>
    <p:sldId id="280" r:id="rId7"/>
    <p:sldId id="316" r:id="rId8"/>
    <p:sldId id="284" r:id="rId9"/>
    <p:sldId id="257" r:id="rId10"/>
    <p:sldId id="263" r:id="rId11"/>
    <p:sldId id="262" r:id="rId12"/>
    <p:sldId id="268" r:id="rId13"/>
    <p:sldId id="273" r:id="rId14"/>
    <p:sldId id="269" r:id="rId15"/>
    <p:sldId id="270" r:id="rId16"/>
    <p:sldId id="271" r:id="rId17"/>
    <p:sldId id="272" r:id="rId18"/>
    <p:sldId id="286" r:id="rId19"/>
    <p:sldId id="287" r:id="rId20"/>
    <p:sldId id="288" r:id="rId21"/>
    <p:sldId id="289" r:id="rId22"/>
    <p:sldId id="317" r:id="rId23"/>
    <p:sldId id="318" r:id="rId24"/>
    <p:sldId id="259" r:id="rId25"/>
    <p:sldId id="274" r:id="rId26"/>
    <p:sldId id="320" r:id="rId27"/>
    <p:sldId id="321" r:id="rId28"/>
    <p:sldId id="319" r:id="rId29"/>
    <p:sldId id="322" r:id="rId30"/>
    <p:sldId id="275" r:id="rId31"/>
    <p:sldId id="276" r:id="rId32"/>
    <p:sldId id="277" r:id="rId33"/>
    <p:sldId id="260" r:id="rId34"/>
    <p:sldId id="261" r:id="rId35"/>
    <p:sldId id="285" r:id="rId36"/>
    <p:sldId id="291" r:id="rId37"/>
    <p:sldId id="290" r:id="rId38"/>
    <p:sldId id="293" r:id="rId39"/>
    <p:sldId id="328" r:id="rId40"/>
    <p:sldId id="329" r:id="rId41"/>
    <p:sldId id="296" r:id="rId42"/>
    <p:sldId id="299" r:id="rId43"/>
    <p:sldId id="300" r:id="rId44"/>
    <p:sldId id="323" r:id="rId45"/>
    <p:sldId id="301" r:id="rId46"/>
    <p:sldId id="302" r:id="rId47"/>
    <p:sldId id="303" r:id="rId48"/>
    <p:sldId id="304" r:id="rId49"/>
    <p:sldId id="305" r:id="rId50"/>
    <p:sldId id="306" r:id="rId51"/>
    <p:sldId id="315" r:id="rId52"/>
    <p:sldId id="327" r:id="rId53"/>
    <p:sldId id="307" r:id="rId54"/>
    <p:sldId id="311" r:id="rId55"/>
    <p:sldId id="312" r:id="rId56"/>
    <p:sldId id="313" r:id="rId57"/>
    <p:sldId id="314" r:id="rId58"/>
    <p:sldId id="324" r:id="rId59"/>
    <p:sldId id="325" r:id="rId60"/>
    <p:sldId id="326" r:id="rId61"/>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40B54D-B184-4DE5-8FD1-3770111CBB7D}">
          <p14:sldIdLst>
            <p14:sldId id="256"/>
            <p14:sldId id="282"/>
            <p14:sldId id="279"/>
            <p14:sldId id="283"/>
            <p14:sldId id="281"/>
            <p14:sldId id="280"/>
            <p14:sldId id="316"/>
            <p14:sldId id="284"/>
            <p14:sldId id="257"/>
            <p14:sldId id="263"/>
            <p14:sldId id="262"/>
            <p14:sldId id="268"/>
            <p14:sldId id="273"/>
            <p14:sldId id="269"/>
            <p14:sldId id="270"/>
            <p14:sldId id="271"/>
            <p14:sldId id="272"/>
            <p14:sldId id="286"/>
            <p14:sldId id="287"/>
            <p14:sldId id="288"/>
            <p14:sldId id="289"/>
            <p14:sldId id="317"/>
            <p14:sldId id="318"/>
            <p14:sldId id="259"/>
            <p14:sldId id="274"/>
            <p14:sldId id="320"/>
            <p14:sldId id="321"/>
            <p14:sldId id="319"/>
            <p14:sldId id="322"/>
            <p14:sldId id="275"/>
            <p14:sldId id="276"/>
            <p14:sldId id="277"/>
            <p14:sldId id="260"/>
            <p14:sldId id="261"/>
            <p14:sldId id="285"/>
            <p14:sldId id="291"/>
            <p14:sldId id="290"/>
            <p14:sldId id="293"/>
            <p14:sldId id="328"/>
            <p14:sldId id="329"/>
            <p14:sldId id="296"/>
            <p14:sldId id="299"/>
            <p14:sldId id="300"/>
            <p14:sldId id="323"/>
            <p14:sldId id="301"/>
            <p14:sldId id="302"/>
            <p14:sldId id="303"/>
            <p14:sldId id="304"/>
            <p14:sldId id="305"/>
            <p14:sldId id="306"/>
            <p14:sldId id="315"/>
            <p14:sldId id="327"/>
            <p14:sldId id="307"/>
            <p14:sldId id="311"/>
            <p14:sldId id="312"/>
            <p14:sldId id="313"/>
            <p14:sldId id="314"/>
            <p14:sldId id="324"/>
            <p14:sldId id="325"/>
            <p14:sldId id="32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F79"/>
    <a:srgbClr val="D75600"/>
    <a:srgbClr val="716BB0"/>
    <a:srgbClr val="BC232C"/>
    <a:srgbClr val="E9D4BF"/>
    <a:srgbClr val="5ABAB9"/>
    <a:srgbClr val="D2232E"/>
    <a:srgbClr val="CA985C"/>
    <a:srgbClr val="393F7C"/>
    <a:srgbClr val="0D0D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A075D5-7D11-40BF-84C8-3C4001C13329}" v="78" dt="2025-11-20T20:18:01.7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78610" autoAdjust="0"/>
  </p:normalViewPr>
  <p:slideViewPr>
    <p:cSldViewPr>
      <p:cViewPr>
        <p:scale>
          <a:sx n="50" d="100"/>
          <a:sy n="50" d="100"/>
        </p:scale>
        <p:origin x="1542" y="-354"/>
      </p:cViewPr>
      <p:guideLst>
        <p:guide orient="horz" pos="2880"/>
        <p:guide pos="216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undo custSel addSld modSld">
      <pc:chgData name="Jonathan Mah" userId="5261b2f2f3e51194" providerId="LiveId" clId="{DB9BCF8B-E91B-491C-8171-92D39BBC1534}" dt="2025-11-20T22:04:46.424" v="4144" actId="20577"/>
      <pc:docMkLst>
        <pc:docMk/>
      </pc:docMkLst>
      <pc:sldChg chg="modNotesTx">
        <pc:chgData name="Jonathan Mah" userId="5261b2f2f3e51194" providerId="LiveId" clId="{DB9BCF8B-E91B-491C-8171-92D39BBC1534}" dt="2025-11-20T17:06:15.636" v="289" actId="20577"/>
        <pc:sldMkLst>
          <pc:docMk/>
          <pc:sldMk cId="0" sldId="256"/>
        </pc:sldMkLst>
      </pc:sldChg>
      <pc:sldChg chg="modNotesTx">
        <pc:chgData name="Jonathan Mah" userId="5261b2f2f3e51194" providerId="LiveId" clId="{DB9BCF8B-E91B-491C-8171-92D39BBC1534}" dt="2025-11-20T17:21:32.096" v="917" actId="20577"/>
        <pc:sldMkLst>
          <pc:docMk/>
          <pc:sldMk cId="1283752724" sldId="270"/>
        </pc:sldMkLst>
      </pc:sldChg>
      <pc:sldChg chg="delSp mod modNotesTx">
        <pc:chgData name="Jonathan Mah" userId="5261b2f2f3e51194" providerId="LiveId" clId="{DB9BCF8B-E91B-491C-8171-92D39BBC1534}" dt="2025-11-20T17:31:19.101" v="1156" actId="478"/>
        <pc:sldMkLst>
          <pc:docMk/>
          <pc:sldMk cId="2013949097" sldId="274"/>
        </pc:sldMkLst>
        <pc:picChg chg="del">
          <ac:chgData name="Jonathan Mah" userId="5261b2f2f3e51194" providerId="LiveId" clId="{DB9BCF8B-E91B-491C-8171-92D39BBC1534}" dt="2025-11-20T17:31:19.101" v="1156" actId="478"/>
          <ac:picMkLst>
            <pc:docMk/>
            <pc:sldMk cId="2013949097" sldId="274"/>
            <ac:picMk id="5" creationId="{58C94974-A01F-09F8-7DDC-6688BC03A310}"/>
          </ac:picMkLst>
        </pc:picChg>
      </pc:sldChg>
      <pc:sldChg chg="addSp delSp modSp mod modNotesTx">
        <pc:chgData name="Jonathan Mah" userId="5261b2f2f3e51194" providerId="LiveId" clId="{DB9BCF8B-E91B-491C-8171-92D39BBC1534}" dt="2025-11-20T17:52:41.795" v="2188" actId="14100"/>
        <pc:sldMkLst>
          <pc:docMk/>
          <pc:sldMk cId="3143581182" sldId="275"/>
        </pc:sldMkLst>
        <pc:spChg chg="mod">
          <ac:chgData name="Jonathan Mah" userId="5261b2f2f3e51194" providerId="LiveId" clId="{DB9BCF8B-E91B-491C-8171-92D39BBC1534}" dt="2025-11-20T17:52:41.795" v="2188" actId="14100"/>
          <ac:spMkLst>
            <pc:docMk/>
            <pc:sldMk cId="3143581182" sldId="275"/>
            <ac:spMk id="14" creationId="{252FE87C-DA2B-A89E-E6CE-3E5DE01239DD}"/>
          </ac:spMkLst>
        </pc:spChg>
        <pc:picChg chg="add mod ord">
          <ac:chgData name="Jonathan Mah" userId="5261b2f2f3e51194" providerId="LiveId" clId="{DB9BCF8B-E91B-491C-8171-92D39BBC1534}" dt="2025-11-20T17:52:21.252" v="2184" actId="167"/>
          <ac:picMkLst>
            <pc:docMk/>
            <pc:sldMk cId="3143581182" sldId="275"/>
            <ac:picMk id="3" creationId="{2EE0607B-6025-4EA4-7474-7230F848E2D5}"/>
          </ac:picMkLst>
        </pc:picChg>
        <pc:picChg chg="del">
          <ac:chgData name="Jonathan Mah" userId="5261b2f2f3e51194" providerId="LiveId" clId="{DB9BCF8B-E91B-491C-8171-92D39BBC1534}" dt="2025-11-20T17:48:29.353" v="2173" actId="478"/>
          <ac:picMkLst>
            <pc:docMk/>
            <pc:sldMk cId="3143581182" sldId="275"/>
            <ac:picMk id="4" creationId="{1EC46661-F4E7-9546-C964-B97F652AE811}"/>
          </ac:picMkLst>
        </pc:picChg>
      </pc:sldChg>
      <pc:sldChg chg="addSp delSp modSp mod modNotesTx">
        <pc:chgData name="Jonathan Mah" userId="5261b2f2f3e51194" providerId="LiveId" clId="{DB9BCF8B-E91B-491C-8171-92D39BBC1534}" dt="2025-11-20T17:52:53.398" v="2192" actId="14100"/>
        <pc:sldMkLst>
          <pc:docMk/>
          <pc:sldMk cId="827994631" sldId="276"/>
        </pc:sldMkLst>
        <pc:spChg chg="mod">
          <ac:chgData name="Jonathan Mah" userId="5261b2f2f3e51194" providerId="LiveId" clId="{DB9BCF8B-E91B-491C-8171-92D39BBC1534}" dt="2025-11-20T17:52:53.398" v="2192" actId="14100"/>
          <ac:spMkLst>
            <pc:docMk/>
            <pc:sldMk cId="827994631" sldId="276"/>
            <ac:spMk id="14" creationId="{12A808E6-B05C-8895-95BD-6580B0F8789D}"/>
          </ac:spMkLst>
        </pc:spChg>
        <pc:picChg chg="add mod ord">
          <ac:chgData name="Jonathan Mah" userId="5261b2f2f3e51194" providerId="LiveId" clId="{DB9BCF8B-E91B-491C-8171-92D39BBC1534}" dt="2025-11-20T17:52:48.818" v="2190" actId="1076"/>
          <ac:picMkLst>
            <pc:docMk/>
            <pc:sldMk cId="827994631" sldId="276"/>
            <ac:picMk id="3" creationId="{B823CF14-49B3-91CA-DEA7-3E72A0921E97}"/>
          </ac:picMkLst>
        </pc:picChg>
        <pc:picChg chg="del">
          <ac:chgData name="Jonathan Mah" userId="5261b2f2f3e51194" providerId="LiveId" clId="{DB9BCF8B-E91B-491C-8171-92D39BBC1534}" dt="2025-11-20T17:48:30.428" v="2174" actId="478"/>
          <ac:picMkLst>
            <pc:docMk/>
            <pc:sldMk cId="827994631" sldId="276"/>
            <ac:picMk id="4" creationId="{241B6DC2-3F91-8433-EC48-52C2380D51E4}"/>
          </ac:picMkLst>
        </pc:picChg>
      </pc:sldChg>
      <pc:sldChg chg="addSp delSp modSp mod modNotesTx">
        <pc:chgData name="Jonathan Mah" userId="5261b2f2f3e51194" providerId="LiveId" clId="{DB9BCF8B-E91B-491C-8171-92D39BBC1534}" dt="2025-11-20T17:53:14.170" v="2195" actId="14100"/>
        <pc:sldMkLst>
          <pc:docMk/>
          <pc:sldMk cId="3060462361" sldId="277"/>
        </pc:sldMkLst>
        <pc:spChg chg="mod">
          <ac:chgData name="Jonathan Mah" userId="5261b2f2f3e51194" providerId="LiveId" clId="{DB9BCF8B-E91B-491C-8171-92D39BBC1534}" dt="2025-11-20T17:53:14.170" v="2195" actId="14100"/>
          <ac:spMkLst>
            <pc:docMk/>
            <pc:sldMk cId="3060462361" sldId="277"/>
            <ac:spMk id="14" creationId="{5ED55A9F-0648-D163-874C-F7223FAB5107}"/>
          </ac:spMkLst>
        </pc:spChg>
        <pc:picChg chg="add mod ord">
          <ac:chgData name="Jonathan Mah" userId="5261b2f2f3e51194" providerId="LiveId" clId="{DB9BCF8B-E91B-491C-8171-92D39BBC1534}" dt="2025-11-20T17:52:30.133" v="2186" actId="167"/>
          <ac:picMkLst>
            <pc:docMk/>
            <pc:sldMk cId="3060462361" sldId="277"/>
            <ac:picMk id="3" creationId="{8E1175D9-7C7C-1A9C-512A-8640F70A53AD}"/>
          </ac:picMkLst>
        </pc:picChg>
        <pc:picChg chg="del">
          <ac:chgData name="Jonathan Mah" userId="5261b2f2f3e51194" providerId="LiveId" clId="{DB9BCF8B-E91B-491C-8171-92D39BBC1534}" dt="2025-11-20T17:48:32.518" v="2175" actId="478"/>
          <ac:picMkLst>
            <pc:docMk/>
            <pc:sldMk cId="3060462361" sldId="277"/>
            <ac:picMk id="4" creationId="{F5EAD526-DAEF-2BCB-11DC-D2EF154F8CA5}"/>
          </ac:picMkLst>
        </pc:picChg>
      </pc:sldChg>
      <pc:sldChg chg="addSp delSp modSp mod modNotesTx">
        <pc:chgData name="Jonathan Mah" userId="5261b2f2f3e51194" providerId="LiveId" clId="{DB9BCF8B-E91B-491C-8171-92D39BBC1534}" dt="2025-11-20T17:15:20.136" v="865" actId="20577"/>
        <pc:sldMkLst>
          <pc:docMk/>
          <pc:sldMk cId="3987497924" sldId="280"/>
        </pc:sldMkLst>
        <pc:picChg chg="add del mod">
          <ac:chgData name="Jonathan Mah" userId="5261b2f2f3e51194" providerId="LiveId" clId="{DB9BCF8B-E91B-491C-8171-92D39BBC1534}" dt="2025-11-20T17:10:21.183" v="571" actId="478"/>
          <ac:picMkLst>
            <pc:docMk/>
            <pc:sldMk cId="3987497924" sldId="280"/>
            <ac:picMk id="4" creationId="{59D954EF-BB3E-EA50-BAF2-0FCA64747901}"/>
          </ac:picMkLst>
        </pc:picChg>
        <pc:picChg chg="mod">
          <ac:chgData name="Jonathan Mah" userId="5261b2f2f3e51194" providerId="LiveId" clId="{DB9BCF8B-E91B-491C-8171-92D39BBC1534}" dt="2025-11-20T17:09:38.747" v="569" actId="1076"/>
          <ac:picMkLst>
            <pc:docMk/>
            <pc:sldMk cId="3987497924" sldId="280"/>
            <ac:picMk id="5" creationId="{0226EB26-88B1-B0EF-AA57-AECDBF45CA94}"/>
          </ac:picMkLst>
        </pc:picChg>
      </pc:sldChg>
      <pc:sldChg chg="modSp mod">
        <pc:chgData name="Jonathan Mah" userId="5261b2f2f3e51194" providerId="LiveId" clId="{DB9BCF8B-E91B-491C-8171-92D39BBC1534}" dt="2025-11-20T17:08:25.236" v="562" actId="20577"/>
        <pc:sldMkLst>
          <pc:docMk/>
          <pc:sldMk cId="951066982" sldId="281"/>
        </pc:sldMkLst>
        <pc:spChg chg="mod">
          <ac:chgData name="Jonathan Mah" userId="5261b2f2f3e51194" providerId="LiveId" clId="{DB9BCF8B-E91B-491C-8171-92D39BBC1534}" dt="2025-11-20T17:08:25.236" v="562" actId="20577"/>
          <ac:spMkLst>
            <pc:docMk/>
            <pc:sldMk cId="951066982" sldId="281"/>
            <ac:spMk id="3" creationId="{D3CF7DDC-0562-D736-4A2E-225A746C8434}"/>
          </ac:spMkLst>
        </pc:spChg>
      </pc:sldChg>
      <pc:sldChg chg="modNotesTx">
        <pc:chgData name="Jonathan Mah" userId="5261b2f2f3e51194" providerId="LiveId" clId="{DB9BCF8B-E91B-491C-8171-92D39BBC1534}" dt="2025-11-20T17:07:05.469" v="555" actId="20577"/>
        <pc:sldMkLst>
          <pc:docMk/>
          <pc:sldMk cId="4159860108" sldId="282"/>
        </pc:sldMkLst>
      </pc:sldChg>
      <pc:sldChg chg="modNotesTx">
        <pc:chgData name="Jonathan Mah" userId="5261b2f2f3e51194" providerId="LiveId" clId="{DB9BCF8B-E91B-491C-8171-92D39BBC1534}" dt="2025-11-20T20:51:33.823" v="3693" actId="20577"/>
        <pc:sldMkLst>
          <pc:docMk/>
          <pc:sldMk cId="1428314087" sldId="284"/>
        </pc:sldMkLst>
      </pc:sldChg>
      <pc:sldChg chg="modNotesTx">
        <pc:chgData name="Jonathan Mah" userId="5261b2f2f3e51194" providerId="LiveId" clId="{DB9BCF8B-E91B-491C-8171-92D39BBC1534}" dt="2025-11-20T17:23:56.691" v="1032" actId="20577"/>
        <pc:sldMkLst>
          <pc:docMk/>
          <pc:sldMk cId="699070622" sldId="287"/>
        </pc:sldMkLst>
      </pc:sldChg>
      <pc:sldChg chg="modNotesTx">
        <pc:chgData name="Jonathan Mah" userId="5261b2f2f3e51194" providerId="LiveId" clId="{DB9BCF8B-E91B-491C-8171-92D39BBC1534}" dt="2025-11-20T17:23:25.007" v="1030" actId="20577"/>
        <pc:sldMkLst>
          <pc:docMk/>
          <pc:sldMk cId="3161931992" sldId="288"/>
        </pc:sldMkLst>
      </pc:sldChg>
      <pc:sldChg chg="addSp modSp mod modNotesTx">
        <pc:chgData name="Jonathan Mah" userId="5261b2f2f3e51194" providerId="LiveId" clId="{DB9BCF8B-E91B-491C-8171-92D39BBC1534}" dt="2025-11-20T17:26:15.346" v="1049" actId="14100"/>
        <pc:sldMkLst>
          <pc:docMk/>
          <pc:sldMk cId="2532190129" sldId="289"/>
        </pc:sldMkLst>
        <pc:spChg chg="mod">
          <ac:chgData name="Jonathan Mah" userId="5261b2f2f3e51194" providerId="LiveId" clId="{DB9BCF8B-E91B-491C-8171-92D39BBC1534}" dt="2025-11-20T17:25:46.659" v="1042" actId="208"/>
          <ac:spMkLst>
            <pc:docMk/>
            <pc:sldMk cId="2532190129" sldId="289"/>
            <ac:spMk id="3" creationId="{D629003F-CB14-1E81-3DC8-EB00BEA447F3}"/>
          </ac:spMkLst>
        </pc:spChg>
        <pc:spChg chg="add mod">
          <ac:chgData name="Jonathan Mah" userId="5261b2f2f3e51194" providerId="LiveId" clId="{DB9BCF8B-E91B-491C-8171-92D39BBC1534}" dt="2025-11-20T17:26:15.346" v="1049" actId="14100"/>
          <ac:spMkLst>
            <pc:docMk/>
            <pc:sldMk cId="2532190129" sldId="289"/>
            <ac:spMk id="4" creationId="{3E29924E-3926-8279-CAA1-7B0240C9A741}"/>
          </ac:spMkLst>
        </pc:spChg>
      </pc:sldChg>
      <pc:sldChg chg="modNotesTx">
        <pc:chgData name="Jonathan Mah" userId="5261b2f2f3e51194" providerId="LiveId" clId="{DB9BCF8B-E91B-491C-8171-92D39BBC1534}" dt="2025-11-20T21:50:37.319" v="3961" actId="20577"/>
        <pc:sldMkLst>
          <pc:docMk/>
          <pc:sldMk cId="2186476797" sldId="290"/>
        </pc:sldMkLst>
      </pc:sldChg>
      <pc:sldChg chg="modSp mod modNotesTx">
        <pc:chgData name="Jonathan Mah" userId="5261b2f2f3e51194" providerId="LiveId" clId="{DB9BCF8B-E91B-491C-8171-92D39BBC1534}" dt="2025-11-20T21:45:14.182" v="3791" actId="20577"/>
        <pc:sldMkLst>
          <pc:docMk/>
          <pc:sldMk cId="4030106359" sldId="293"/>
        </pc:sldMkLst>
        <pc:spChg chg="mod">
          <ac:chgData name="Jonathan Mah" userId="5261b2f2f3e51194" providerId="LiveId" clId="{DB9BCF8B-E91B-491C-8171-92D39BBC1534}" dt="2025-11-20T17:54:53.885" v="2274" actId="208"/>
          <ac:spMkLst>
            <pc:docMk/>
            <pc:sldMk cId="4030106359" sldId="293"/>
            <ac:spMk id="3" creationId="{CCAEE833-8C6D-365B-05E8-E2225F232927}"/>
          </ac:spMkLst>
        </pc:spChg>
      </pc:sldChg>
      <pc:sldChg chg="modSp mod modNotesTx">
        <pc:chgData name="Jonathan Mah" userId="5261b2f2f3e51194" providerId="LiveId" clId="{DB9BCF8B-E91B-491C-8171-92D39BBC1534}" dt="2025-11-20T22:04:46.424" v="4144" actId="20577"/>
        <pc:sldMkLst>
          <pc:docMk/>
          <pc:sldMk cId="2576943687" sldId="315"/>
        </pc:sldMkLst>
        <pc:spChg chg="mod">
          <ac:chgData name="Jonathan Mah" userId="5261b2f2f3e51194" providerId="LiveId" clId="{DB9BCF8B-E91B-491C-8171-92D39BBC1534}" dt="2025-11-20T20:19:15.397" v="3567" actId="1076"/>
          <ac:spMkLst>
            <pc:docMk/>
            <pc:sldMk cId="2576943687" sldId="315"/>
            <ac:spMk id="3" creationId="{54B0DEA1-C0F9-F5C0-C574-8C46D50FA8D3}"/>
          </ac:spMkLst>
        </pc:spChg>
      </pc:sldChg>
      <pc:sldChg chg="addSp modSp add mod modNotesTx">
        <pc:chgData name="Jonathan Mah" userId="5261b2f2f3e51194" providerId="LiveId" clId="{DB9BCF8B-E91B-491C-8171-92D39BBC1534}" dt="2025-11-20T17:11:21.157" v="659" actId="20577"/>
        <pc:sldMkLst>
          <pc:docMk/>
          <pc:sldMk cId="2446006912" sldId="316"/>
        </pc:sldMkLst>
        <pc:spChg chg="add mod">
          <ac:chgData name="Jonathan Mah" userId="5261b2f2f3e51194" providerId="LiveId" clId="{DB9BCF8B-E91B-491C-8171-92D39BBC1534}" dt="2025-11-20T17:11:00.901" v="577" actId="14100"/>
          <ac:spMkLst>
            <pc:docMk/>
            <pc:sldMk cId="2446006912" sldId="316"/>
            <ac:spMk id="3" creationId="{9AE27AC5-F502-9B4E-9726-714278951536}"/>
          </ac:spMkLst>
        </pc:spChg>
      </pc:sldChg>
      <pc:sldChg chg="addSp modSp add mod modNotesTx">
        <pc:chgData name="Jonathan Mah" userId="5261b2f2f3e51194" providerId="LiveId" clId="{DB9BCF8B-E91B-491C-8171-92D39BBC1534}" dt="2025-11-20T17:27:15.603" v="1055" actId="20577"/>
        <pc:sldMkLst>
          <pc:docMk/>
          <pc:sldMk cId="1283649620" sldId="317"/>
        </pc:sldMkLst>
        <pc:spChg chg="mod">
          <ac:chgData name="Jonathan Mah" userId="5261b2f2f3e51194" providerId="LiveId" clId="{DB9BCF8B-E91B-491C-8171-92D39BBC1534}" dt="2025-11-20T17:26:26.541" v="1050" actId="208"/>
          <ac:spMkLst>
            <pc:docMk/>
            <pc:sldMk cId="1283649620" sldId="317"/>
            <ac:spMk id="3" creationId="{7680A695-1F50-B571-C2FA-ADD4040E8524}"/>
          </ac:spMkLst>
        </pc:spChg>
        <pc:spChg chg="add mod">
          <ac:chgData name="Jonathan Mah" userId="5261b2f2f3e51194" providerId="LiveId" clId="{DB9BCF8B-E91B-491C-8171-92D39BBC1534}" dt="2025-11-20T17:26:40.515" v="1054" actId="14100"/>
          <ac:spMkLst>
            <pc:docMk/>
            <pc:sldMk cId="1283649620" sldId="317"/>
            <ac:spMk id="4" creationId="{8A06EFCE-C0D2-BCA0-B8F5-E3708449719E}"/>
          </ac:spMkLst>
        </pc:spChg>
      </pc:sldChg>
      <pc:sldChg chg="add modNotesTx">
        <pc:chgData name="Jonathan Mah" userId="5261b2f2f3e51194" providerId="LiveId" clId="{DB9BCF8B-E91B-491C-8171-92D39BBC1534}" dt="2025-11-20T17:24:43.932" v="1035" actId="6549"/>
        <pc:sldMkLst>
          <pc:docMk/>
          <pc:sldMk cId="1468255695" sldId="318"/>
        </pc:sldMkLst>
      </pc:sldChg>
      <pc:sldChg chg="addSp delSp modSp add mod modNotesTx">
        <pc:chgData name="Jonathan Mah" userId="5261b2f2f3e51194" providerId="LiveId" clId="{DB9BCF8B-E91B-491C-8171-92D39BBC1534}" dt="2025-11-20T17:54:10.478" v="2273"/>
        <pc:sldMkLst>
          <pc:docMk/>
          <pc:sldMk cId="3430087762" sldId="319"/>
        </pc:sldMkLst>
        <pc:picChg chg="add mod">
          <ac:chgData name="Jonathan Mah" userId="5261b2f2f3e51194" providerId="LiveId" clId="{DB9BCF8B-E91B-491C-8171-92D39BBC1534}" dt="2025-11-20T17:54:10.478" v="2273"/>
          <ac:picMkLst>
            <pc:docMk/>
            <pc:sldMk cId="3430087762" sldId="319"/>
            <ac:picMk id="3" creationId="{385F8E6B-FE80-371A-29A5-76E21A0327C9}"/>
          </ac:picMkLst>
        </pc:picChg>
        <pc:picChg chg="del">
          <ac:chgData name="Jonathan Mah" userId="5261b2f2f3e51194" providerId="LiveId" clId="{DB9BCF8B-E91B-491C-8171-92D39BBC1534}" dt="2025-11-20T17:48:27.371" v="2171" actId="478"/>
          <ac:picMkLst>
            <pc:docMk/>
            <pc:sldMk cId="3430087762" sldId="319"/>
            <ac:picMk id="5" creationId="{B8F92E0F-7CF5-ECA6-6EAB-15CB5706445E}"/>
          </ac:picMkLst>
        </pc:picChg>
      </pc:sldChg>
      <pc:sldChg chg="addSp modSp add mod modNotesTx">
        <pc:chgData name="Jonathan Mah" userId="5261b2f2f3e51194" providerId="LiveId" clId="{DB9BCF8B-E91B-491C-8171-92D39BBC1534}" dt="2025-11-20T17:35:23.342" v="1642" actId="20577"/>
        <pc:sldMkLst>
          <pc:docMk/>
          <pc:sldMk cId="1448368057" sldId="320"/>
        </pc:sldMkLst>
        <pc:picChg chg="add mod modCrop">
          <ac:chgData name="Jonathan Mah" userId="5261b2f2f3e51194" providerId="LiveId" clId="{DB9BCF8B-E91B-491C-8171-92D39BBC1534}" dt="2025-11-20T17:33:29.065" v="1265" actId="14100"/>
          <ac:picMkLst>
            <pc:docMk/>
            <pc:sldMk cId="1448368057" sldId="320"/>
            <ac:picMk id="3" creationId="{BB8811AB-4E36-9DAD-C458-BC08BBB7E3C3}"/>
          </ac:picMkLst>
        </pc:picChg>
      </pc:sldChg>
      <pc:sldChg chg="addSp modSp add mod modNotesTx">
        <pc:chgData name="Jonathan Mah" userId="5261b2f2f3e51194" providerId="LiveId" clId="{DB9BCF8B-E91B-491C-8171-92D39BBC1534}" dt="2025-11-20T17:39:45.805" v="1989" actId="20577"/>
        <pc:sldMkLst>
          <pc:docMk/>
          <pc:sldMk cId="3985460876" sldId="321"/>
        </pc:sldMkLst>
        <pc:spChg chg="add mod">
          <ac:chgData name="Jonathan Mah" userId="5261b2f2f3e51194" providerId="LiveId" clId="{DB9BCF8B-E91B-491C-8171-92D39BBC1534}" dt="2025-11-20T17:39:18.330" v="1946" actId="1582"/>
          <ac:spMkLst>
            <pc:docMk/>
            <pc:sldMk cId="3985460876" sldId="321"/>
            <ac:spMk id="4" creationId="{9E875F4A-C518-0CA4-AC6D-38EDED53453C}"/>
          </ac:spMkLst>
        </pc:spChg>
        <pc:spChg chg="add mod">
          <ac:chgData name="Jonathan Mah" userId="5261b2f2f3e51194" providerId="LiveId" clId="{DB9BCF8B-E91B-491C-8171-92D39BBC1534}" dt="2025-11-20T17:39:18.330" v="1946" actId="1582"/>
          <ac:spMkLst>
            <pc:docMk/>
            <pc:sldMk cId="3985460876" sldId="321"/>
            <ac:spMk id="5" creationId="{CDB17A54-1539-5A93-38F2-E09069F75B64}"/>
          </ac:spMkLst>
        </pc:spChg>
        <pc:spChg chg="add mod">
          <ac:chgData name="Jonathan Mah" userId="5261b2f2f3e51194" providerId="LiveId" clId="{DB9BCF8B-E91B-491C-8171-92D39BBC1534}" dt="2025-11-20T17:39:18.330" v="1946" actId="1582"/>
          <ac:spMkLst>
            <pc:docMk/>
            <pc:sldMk cId="3985460876" sldId="321"/>
            <ac:spMk id="6" creationId="{DF7330B9-3B57-02A3-DAF6-3699E6A6D1A4}"/>
          </ac:spMkLst>
        </pc:spChg>
      </pc:sldChg>
      <pc:sldChg chg="addSp delSp modSp add mod modNotesTx">
        <pc:chgData name="Jonathan Mah" userId="5261b2f2f3e51194" providerId="LiveId" clId="{DB9BCF8B-E91B-491C-8171-92D39BBC1534}" dt="2025-11-20T17:53:50.558" v="2272" actId="14100"/>
        <pc:sldMkLst>
          <pc:docMk/>
          <pc:sldMk cId="62847071" sldId="322"/>
        </pc:sldMkLst>
        <pc:spChg chg="add">
          <ac:chgData name="Jonathan Mah" userId="5261b2f2f3e51194" providerId="LiveId" clId="{DB9BCF8B-E91B-491C-8171-92D39BBC1534}" dt="2025-11-20T17:51:50.330" v="2176"/>
          <ac:spMkLst>
            <pc:docMk/>
            <pc:sldMk cId="62847071" sldId="322"/>
            <ac:spMk id="3" creationId="{3FFEC19C-2727-01D4-27F9-7CD1FA5E895E}"/>
          </ac:spMkLst>
        </pc:spChg>
        <pc:spChg chg="add mod">
          <ac:chgData name="Jonathan Mah" userId="5261b2f2f3e51194" providerId="LiveId" clId="{DB9BCF8B-E91B-491C-8171-92D39BBC1534}" dt="2025-11-20T17:53:50.558" v="2272" actId="14100"/>
          <ac:spMkLst>
            <pc:docMk/>
            <pc:sldMk cId="62847071" sldId="322"/>
            <ac:spMk id="6" creationId="{987EC07D-1409-FD49-B8AB-595C21E616CA}"/>
          </ac:spMkLst>
        </pc:spChg>
        <pc:picChg chg="add mod ord">
          <ac:chgData name="Jonathan Mah" userId="5261b2f2f3e51194" providerId="LiveId" clId="{DB9BCF8B-E91B-491C-8171-92D39BBC1534}" dt="2025-11-20T17:52:18.388" v="2183" actId="167"/>
          <ac:picMkLst>
            <pc:docMk/>
            <pc:sldMk cId="62847071" sldId="322"/>
            <ac:picMk id="4" creationId="{C6804022-49D0-19C2-3639-A843786FA25D}"/>
          </ac:picMkLst>
        </pc:picChg>
        <pc:picChg chg="del">
          <ac:chgData name="Jonathan Mah" userId="5261b2f2f3e51194" providerId="LiveId" clId="{DB9BCF8B-E91B-491C-8171-92D39BBC1534}" dt="2025-11-20T17:48:28.363" v="2172" actId="478"/>
          <ac:picMkLst>
            <pc:docMk/>
            <pc:sldMk cId="62847071" sldId="322"/>
            <ac:picMk id="5" creationId="{F3BAF494-5E62-B205-A49A-1427192CF9BE}"/>
          </ac:picMkLst>
        </pc:picChg>
      </pc:sldChg>
      <pc:sldChg chg="addSp delSp modSp add mod">
        <pc:chgData name="Jonathan Mah" userId="5261b2f2f3e51194" providerId="LiveId" clId="{DB9BCF8B-E91B-491C-8171-92D39BBC1534}" dt="2025-11-20T20:18:01.761" v="3554" actId="1076"/>
        <pc:sldMkLst>
          <pc:docMk/>
          <pc:sldMk cId="1549394937" sldId="323"/>
        </pc:sldMkLst>
        <pc:spChg chg="mod">
          <ac:chgData name="Jonathan Mah" userId="5261b2f2f3e51194" providerId="LiveId" clId="{DB9BCF8B-E91B-491C-8171-92D39BBC1534}" dt="2025-11-20T18:01:36.898" v="2698" actId="14100"/>
          <ac:spMkLst>
            <pc:docMk/>
            <pc:sldMk cId="1549394937" sldId="323"/>
            <ac:spMk id="2" creationId="{625A2688-59BA-97E1-7C5B-738AD29AC5A1}"/>
          </ac:spMkLst>
        </pc:spChg>
        <pc:picChg chg="add mod">
          <ac:chgData name="Jonathan Mah" userId="5261b2f2f3e51194" providerId="LiveId" clId="{DB9BCF8B-E91B-491C-8171-92D39BBC1534}" dt="2025-11-20T20:17:52.618" v="3549" actId="1076"/>
          <ac:picMkLst>
            <pc:docMk/>
            <pc:sldMk cId="1549394937" sldId="323"/>
            <ac:picMk id="4" creationId="{AA912C2A-8589-A802-0FE5-3D55AAB96DDA}"/>
          </ac:picMkLst>
        </pc:picChg>
        <pc:picChg chg="del">
          <ac:chgData name="Jonathan Mah" userId="5261b2f2f3e51194" providerId="LiveId" clId="{DB9BCF8B-E91B-491C-8171-92D39BBC1534}" dt="2025-11-20T17:57:29.003" v="2640" actId="478"/>
          <ac:picMkLst>
            <pc:docMk/>
            <pc:sldMk cId="1549394937" sldId="323"/>
            <ac:picMk id="5" creationId="{BE713645-5798-67A2-0EC2-FA2128CDECB6}"/>
          </ac:picMkLst>
        </pc:picChg>
        <pc:picChg chg="del">
          <ac:chgData name="Jonathan Mah" userId="5261b2f2f3e51194" providerId="LiveId" clId="{DB9BCF8B-E91B-491C-8171-92D39BBC1534}" dt="2025-11-20T17:57:29.003" v="2640" actId="478"/>
          <ac:picMkLst>
            <pc:docMk/>
            <pc:sldMk cId="1549394937" sldId="323"/>
            <ac:picMk id="7" creationId="{0403F608-1F7C-9B35-2A04-01381C033ABD}"/>
          </ac:picMkLst>
        </pc:picChg>
        <pc:picChg chg="del">
          <ac:chgData name="Jonathan Mah" userId="5261b2f2f3e51194" providerId="LiveId" clId="{DB9BCF8B-E91B-491C-8171-92D39BBC1534}" dt="2025-11-20T17:57:29.003" v="2640" actId="478"/>
          <ac:picMkLst>
            <pc:docMk/>
            <pc:sldMk cId="1549394937" sldId="323"/>
            <ac:picMk id="9" creationId="{A1946AF0-A9CB-9D56-AAB1-9F6F4E739A02}"/>
          </ac:picMkLst>
        </pc:picChg>
        <pc:picChg chg="add mod">
          <ac:chgData name="Jonathan Mah" userId="5261b2f2f3e51194" providerId="LiveId" clId="{DB9BCF8B-E91B-491C-8171-92D39BBC1534}" dt="2025-11-20T20:17:55.265" v="3550" actId="1076"/>
          <ac:picMkLst>
            <pc:docMk/>
            <pc:sldMk cId="1549394937" sldId="323"/>
            <ac:picMk id="9218" creationId="{ECF356F5-7602-C2D0-BE8C-4911882BCD67}"/>
          </ac:picMkLst>
        </pc:picChg>
        <pc:picChg chg="add mod">
          <ac:chgData name="Jonathan Mah" userId="5261b2f2f3e51194" providerId="LiveId" clId="{DB9BCF8B-E91B-491C-8171-92D39BBC1534}" dt="2025-11-20T20:18:01.761" v="3554" actId="1076"/>
          <ac:picMkLst>
            <pc:docMk/>
            <pc:sldMk cId="1549394937" sldId="323"/>
            <ac:picMk id="9220" creationId="{0F996848-01ED-12EF-5F15-124C63FD2808}"/>
          </ac:picMkLst>
        </pc:picChg>
      </pc:sldChg>
      <pc:sldChg chg="addSp delSp modSp add mod">
        <pc:chgData name="Jonathan Mah" userId="5261b2f2f3e51194" providerId="LiveId" clId="{DB9BCF8B-E91B-491C-8171-92D39BBC1534}" dt="2025-11-20T18:03:40.103" v="2710"/>
        <pc:sldMkLst>
          <pc:docMk/>
          <pc:sldMk cId="3711617737" sldId="324"/>
        </pc:sldMkLst>
        <pc:picChg chg="del">
          <ac:chgData name="Jonathan Mah" userId="5261b2f2f3e51194" providerId="LiveId" clId="{DB9BCF8B-E91B-491C-8171-92D39BBC1534}" dt="2025-11-20T18:02:56.818" v="2700" actId="478"/>
          <ac:picMkLst>
            <pc:docMk/>
            <pc:sldMk cId="3711617737" sldId="324"/>
            <ac:picMk id="4" creationId="{0F1BB6D9-B0D8-30CD-61A6-1D1C975CDD2F}"/>
          </ac:picMkLst>
        </pc:picChg>
        <pc:picChg chg="add del mod">
          <ac:chgData name="Jonathan Mah" userId="5261b2f2f3e51194" providerId="LiveId" clId="{DB9BCF8B-E91B-491C-8171-92D39BBC1534}" dt="2025-11-20T18:03:37.531" v="2709" actId="478"/>
          <ac:picMkLst>
            <pc:docMk/>
            <pc:sldMk cId="3711617737" sldId="324"/>
            <ac:picMk id="2050" creationId="{BCF8E590-C0E1-5F4B-4F2D-366B4B962F62}"/>
          </ac:picMkLst>
        </pc:picChg>
        <pc:picChg chg="add">
          <ac:chgData name="Jonathan Mah" userId="5261b2f2f3e51194" providerId="LiveId" clId="{DB9BCF8B-E91B-491C-8171-92D39BBC1534}" dt="2025-11-20T18:03:40.103" v="2710"/>
          <ac:picMkLst>
            <pc:docMk/>
            <pc:sldMk cId="3711617737" sldId="324"/>
            <ac:picMk id="2052" creationId="{19410675-A3F7-4D0D-A42C-44061825FFBE}"/>
          </ac:picMkLst>
        </pc:picChg>
      </pc:sldChg>
      <pc:sldChg chg="addSp add">
        <pc:chgData name="Jonathan Mah" userId="5261b2f2f3e51194" providerId="LiveId" clId="{DB9BCF8B-E91B-491C-8171-92D39BBC1534}" dt="2025-11-20T18:03:49.002" v="2711"/>
        <pc:sldMkLst>
          <pc:docMk/>
          <pc:sldMk cId="3803423039" sldId="325"/>
        </pc:sldMkLst>
        <pc:picChg chg="add">
          <ac:chgData name="Jonathan Mah" userId="5261b2f2f3e51194" providerId="LiveId" clId="{DB9BCF8B-E91B-491C-8171-92D39BBC1534}" dt="2025-11-20T18:03:49.002" v="2711"/>
          <ac:picMkLst>
            <pc:docMk/>
            <pc:sldMk cId="3803423039" sldId="325"/>
            <ac:picMk id="7170" creationId="{0B6B9D38-8ED8-622F-0667-790BC53ABE6F}"/>
          </ac:picMkLst>
        </pc:picChg>
      </pc:sldChg>
      <pc:sldChg chg="addSp add">
        <pc:chgData name="Jonathan Mah" userId="5261b2f2f3e51194" providerId="LiveId" clId="{DB9BCF8B-E91B-491C-8171-92D39BBC1534}" dt="2025-11-20T18:03:55.984" v="2712"/>
        <pc:sldMkLst>
          <pc:docMk/>
          <pc:sldMk cId="4207279296" sldId="326"/>
        </pc:sldMkLst>
        <pc:picChg chg="add">
          <ac:chgData name="Jonathan Mah" userId="5261b2f2f3e51194" providerId="LiveId" clId="{DB9BCF8B-E91B-491C-8171-92D39BBC1534}" dt="2025-11-20T18:03:55.984" v="2712"/>
          <ac:picMkLst>
            <pc:docMk/>
            <pc:sldMk cId="4207279296" sldId="326"/>
            <ac:picMk id="8194" creationId="{5B00930B-D579-CACB-C351-3296ED6CCFB3}"/>
          </ac:picMkLst>
        </pc:picChg>
      </pc:sldChg>
      <pc:sldChg chg="modSp add mod">
        <pc:chgData name="Jonathan Mah" userId="5261b2f2f3e51194" providerId="LiveId" clId="{DB9BCF8B-E91B-491C-8171-92D39BBC1534}" dt="2025-11-20T18:09:04.601" v="2732" actId="20577"/>
        <pc:sldMkLst>
          <pc:docMk/>
          <pc:sldMk cId="286643451" sldId="327"/>
        </pc:sldMkLst>
        <pc:spChg chg="mod">
          <ac:chgData name="Jonathan Mah" userId="5261b2f2f3e51194" providerId="LiveId" clId="{DB9BCF8B-E91B-491C-8171-92D39BBC1534}" dt="2025-11-20T18:09:04.601" v="2732" actId="20577"/>
          <ac:spMkLst>
            <pc:docMk/>
            <pc:sldMk cId="286643451" sldId="327"/>
            <ac:spMk id="7" creationId="{318A9553-A4D2-AEC9-6DD2-B3BFE5663594}"/>
          </ac:spMkLst>
        </pc:spChg>
      </pc:sldChg>
      <pc:sldChg chg="addSp delSp modSp add mod modNotesTx">
        <pc:chgData name="Jonathan Mah" userId="5261b2f2f3e51194" providerId="LiveId" clId="{DB9BCF8B-E91B-491C-8171-92D39BBC1534}" dt="2025-11-20T19:50:29.328" v="3196" actId="478"/>
        <pc:sldMkLst>
          <pc:docMk/>
          <pc:sldMk cId="3402187243" sldId="328"/>
        </pc:sldMkLst>
        <pc:spChg chg="add mod">
          <ac:chgData name="Jonathan Mah" userId="5261b2f2f3e51194" providerId="LiveId" clId="{DB9BCF8B-E91B-491C-8171-92D39BBC1534}" dt="2025-11-20T19:49:09.836" v="2852" actId="1076"/>
          <ac:spMkLst>
            <pc:docMk/>
            <pc:sldMk cId="3402187243" sldId="328"/>
            <ac:spMk id="7" creationId="{291FD428-5256-2C5D-550B-BDA86C335924}"/>
          </ac:spMkLst>
        </pc:spChg>
        <pc:spChg chg="add del mod">
          <ac:chgData name="Jonathan Mah" userId="5261b2f2f3e51194" providerId="LiveId" clId="{DB9BCF8B-E91B-491C-8171-92D39BBC1534}" dt="2025-11-20T19:50:29.328" v="3196" actId="478"/>
          <ac:spMkLst>
            <pc:docMk/>
            <pc:sldMk cId="3402187243" sldId="328"/>
            <ac:spMk id="8" creationId="{0C4FD15B-B020-73C7-9C0E-C75549FA2720}"/>
          </ac:spMkLst>
        </pc:spChg>
        <pc:spChg chg="add del">
          <ac:chgData name="Jonathan Mah" userId="5261b2f2f3e51194" providerId="LiveId" clId="{DB9BCF8B-E91B-491C-8171-92D39BBC1534}" dt="2025-11-20T19:47:17.092" v="2804" actId="478"/>
          <ac:spMkLst>
            <pc:docMk/>
            <pc:sldMk cId="3402187243" sldId="328"/>
            <ac:spMk id="11" creationId="{5C4015C3-0614-E220-9A5A-DCF83424416E}"/>
          </ac:spMkLst>
        </pc:spChg>
        <pc:spChg chg="add del mod">
          <ac:chgData name="Jonathan Mah" userId="5261b2f2f3e51194" providerId="LiveId" clId="{DB9BCF8B-E91B-491C-8171-92D39BBC1534}" dt="2025-11-20T19:50:29.328" v="3196" actId="478"/>
          <ac:spMkLst>
            <pc:docMk/>
            <pc:sldMk cId="3402187243" sldId="328"/>
            <ac:spMk id="12" creationId="{75CAA63D-9707-39F2-5320-4E5ED0D23100}"/>
          </ac:spMkLst>
        </pc:spChg>
        <pc:spChg chg="add del mod">
          <ac:chgData name="Jonathan Mah" userId="5261b2f2f3e51194" providerId="LiveId" clId="{DB9BCF8B-E91B-491C-8171-92D39BBC1534}" dt="2025-11-20T19:50:29.328" v="3196" actId="478"/>
          <ac:spMkLst>
            <pc:docMk/>
            <pc:sldMk cId="3402187243" sldId="328"/>
            <ac:spMk id="13" creationId="{1482F375-F6F5-74C6-6457-B03DF712C0F1}"/>
          </ac:spMkLst>
        </pc:spChg>
        <pc:spChg chg="add del mod">
          <ac:chgData name="Jonathan Mah" userId="5261b2f2f3e51194" providerId="LiveId" clId="{DB9BCF8B-E91B-491C-8171-92D39BBC1534}" dt="2025-11-20T19:50:29.328" v="3196" actId="478"/>
          <ac:spMkLst>
            <pc:docMk/>
            <pc:sldMk cId="3402187243" sldId="328"/>
            <ac:spMk id="14" creationId="{4D666B2F-6C92-2094-5635-8C5DA53947AE}"/>
          </ac:spMkLst>
        </pc:spChg>
        <pc:spChg chg="add del mod">
          <ac:chgData name="Jonathan Mah" userId="5261b2f2f3e51194" providerId="LiveId" clId="{DB9BCF8B-E91B-491C-8171-92D39BBC1534}" dt="2025-11-20T19:50:29.328" v="3196" actId="478"/>
          <ac:spMkLst>
            <pc:docMk/>
            <pc:sldMk cId="3402187243" sldId="328"/>
            <ac:spMk id="15" creationId="{840E09EE-8D56-16DC-614D-100E00C9E97E}"/>
          </ac:spMkLst>
        </pc:spChg>
        <pc:spChg chg="add mod">
          <ac:chgData name="Jonathan Mah" userId="5261b2f2f3e51194" providerId="LiveId" clId="{DB9BCF8B-E91B-491C-8171-92D39BBC1534}" dt="2025-11-20T19:49:05.979" v="2851" actId="1076"/>
          <ac:spMkLst>
            <pc:docMk/>
            <pc:sldMk cId="3402187243" sldId="328"/>
            <ac:spMk id="16" creationId="{14655CE9-0AF6-CB0D-17CC-7D54D1CF35C4}"/>
          </ac:spMkLst>
        </pc:spChg>
        <pc:spChg chg="add mod">
          <ac:chgData name="Jonathan Mah" userId="5261b2f2f3e51194" providerId="LiveId" clId="{DB9BCF8B-E91B-491C-8171-92D39BBC1534}" dt="2025-11-20T19:49:02.838" v="2850" actId="1076"/>
          <ac:spMkLst>
            <pc:docMk/>
            <pc:sldMk cId="3402187243" sldId="328"/>
            <ac:spMk id="17" creationId="{1080EF2B-0ACA-DA97-31CE-4D4DE61A70BB}"/>
          </ac:spMkLst>
        </pc:spChg>
        <pc:picChg chg="add mod">
          <ac:chgData name="Jonathan Mah" userId="5261b2f2f3e51194" providerId="LiveId" clId="{DB9BCF8B-E91B-491C-8171-92D39BBC1534}" dt="2025-11-20T18:19:58.380" v="2762" actId="1076"/>
          <ac:picMkLst>
            <pc:docMk/>
            <pc:sldMk cId="3402187243" sldId="328"/>
            <ac:picMk id="4" creationId="{9FEA3F8C-849E-AB53-D527-38F5EDE36858}"/>
          </ac:picMkLst>
        </pc:picChg>
        <pc:picChg chg="add mod">
          <ac:chgData name="Jonathan Mah" userId="5261b2f2f3e51194" providerId="LiveId" clId="{DB9BCF8B-E91B-491C-8171-92D39BBC1534}" dt="2025-11-20T19:48:34.505" v="2828" actId="1076"/>
          <ac:picMkLst>
            <pc:docMk/>
            <pc:sldMk cId="3402187243" sldId="328"/>
            <ac:picMk id="6" creationId="{86711506-A4B4-05B4-E8F7-D9FC3AC0DEAF}"/>
          </ac:picMkLst>
        </pc:picChg>
        <pc:picChg chg="add del mod">
          <ac:chgData name="Jonathan Mah" userId="5261b2f2f3e51194" providerId="LiveId" clId="{DB9BCF8B-E91B-491C-8171-92D39BBC1534}" dt="2025-11-20T19:50:29.328" v="3196" actId="478"/>
          <ac:picMkLst>
            <pc:docMk/>
            <pc:sldMk cId="3402187243" sldId="328"/>
            <ac:picMk id="10" creationId="{316AD365-3AE1-D669-DE15-F1A712399ED4}"/>
          </ac:picMkLst>
        </pc:picChg>
        <pc:picChg chg="mod">
          <ac:chgData name="Jonathan Mah" userId="5261b2f2f3e51194" providerId="LiveId" clId="{DB9BCF8B-E91B-491C-8171-92D39BBC1534}" dt="2025-11-20T18:19:36.710" v="2757" actId="732"/>
          <ac:picMkLst>
            <pc:docMk/>
            <pc:sldMk cId="3402187243" sldId="328"/>
            <ac:picMk id="12290" creationId="{FB465601-BADB-EFAF-40F8-9BD3B11E73CE}"/>
          </ac:picMkLst>
        </pc:picChg>
      </pc:sldChg>
      <pc:sldChg chg="add modNotesTx">
        <pc:chgData name="Jonathan Mah" userId="5261b2f2f3e51194" providerId="LiveId" clId="{DB9BCF8B-E91B-491C-8171-92D39BBC1534}" dt="2025-11-20T19:51:33.730" v="3539" actId="20577"/>
        <pc:sldMkLst>
          <pc:docMk/>
          <pc:sldMk cId="3556887441" sldId="3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ECB849DA-4571-48AE-B108-B012171980BD}" type="datetimeFigureOut">
              <a:rPr lang="en-US" smtClean="0"/>
              <a:t>11/20/2025</a:t>
            </a:fld>
            <a:endParaRPr lang="en-US"/>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599CC9A3-A707-4B34-82D4-E64BA4C5A8D1}" type="slidenum">
              <a:rPr lang="en-US" smtClean="0"/>
              <a:t>‹#›</a:t>
            </a:fld>
            <a:endParaRPr lang="en-US"/>
          </a:p>
        </p:txBody>
      </p:sp>
    </p:spTree>
    <p:extLst>
      <p:ext uri="{BB962C8B-B14F-4D97-AF65-F5344CB8AC3E}">
        <p14:creationId xmlns:p14="http://schemas.microsoft.com/office/powerpoint/2010/main" val="37604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all and thanks for taking some time out of your schedules for what should my last committee meeting. The title of my thesis that I’m tentatively going with is “Statistical methods for inference of demography and selection within and across species”.</a:t>
            </a:r>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dirty="0"/>
          </a:p>
        </p:txBody>
      </p:sp>
    </p:spTree>
    <p:extLst>
      <p:ext uri="{BB962C8B-B14F-4D97-AF65-F5344CB8AC3E}">
        <p14:creationId xmlns:p14="http://schemas.microsoft.com/office/powerpoint/2010/main" val="196592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start off with just a few quick check-ins and updates since I believe the last time we all met was quite a while ago.</a:t>
            </a:r>
          </a:p>
        </p:txBody>
      </p:sp>
      <p:sp>
        <p:nvSpPr>
          <p:cNvPr id="4" name="Slide Number Placeholder 3"/>
          <p:cNvSpPr>
            <a:spLocks noGrp="1"/>
          </p:cNvSpPr>
          <p:nvPr>
            <p:ph type="sldNum" sz="quarter" idx="5"/>
          </p:nvPr>
        </p:nvSpPr>
        <p:spPr/>
        <p:txBody>
          <a:bodyPr/>
          <a:lstStyle/>
          <a:p>
            <a:fld id="{599CC9A3-A707-4B34-82D4-E64BA4C5A8D1}" type="slidenum">
              <a:rPr lang="en-US" smtClean="0"/>
              <a:t>2</a:t>
            </a:fld>
            <a:endParaRPr lang="en-US"/>
          </a:p>
        </p:txBody>
      </p:sp>
    </p:spTree>
    <p:extLst>
      <p:ext uri="{BB962C8B-B14F-4D97-AF65-F5344CB8AC3E}">
        <p14:creationId xmlns:p14="http://schemas.microsoft.com/office/powerpoint/2010/main" val="2694451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funded by the DYA.</a:t>
            </a:r>
          </a:p>
          <a:p>
            <a:r>
              <a:rPr lang="en-US" dirty="0"/>
              <a:t>	My merit award, which covers the living stipend, is valid from July 1</a:t>
            </a:r>
            <a:r>
              <a:rPr lang="en-US" baseline="30000" dirty="0"/>
              <a:t>st</a:t>
            </a:r>
            <a:r>
              <a:rPr lang="en-US" dirty="0"/>
              <a:t> 2024 to March 31</a:t>
            </a:r>
            <a:r>
              <a:rPr lang="en-US" baseline="30000" dirty="0"/>
              <a:t>st</a:t>
            </a:r>
            <a:r>
              <a:rPr lang="en-US" dirty="0"/>
              <a:t> 2025</a:t>
            </a:r>
          </a:p>
          <a:p>
            <a:r>
              <a:rPr lang="en-US" dirty="0"/>
              <a:t>	My tuition and fee coverage is for the entirety of the academic school year</a:t>
            </a:r>
          </a:p>
          <a:p>
            <a:endParaRPr lang="en-US" dirty="0"/>
          </a:p>
        </p:txBody>
      </p:sp>
      <p:sp>
        <p:nvSpPr>
          <p:cNvPr id="4" name="Slide Number Placeholder 3"/>
          <p:cNvSpPr>
            <a:spLocks noGrp="1"/>
          </p:cNvSpPr>
          <p:nvPr>
            <p:ph type="sldNum" sz="quarter" idx="5"/>
          </p:nvPr>
        </p:nvSpPr>
        <p:spPr/>
        <p:txBody>
          <a:bodyPr/>
          <a:lstStyle/>
          <a:p>
            <a:fld id="{599CC9A3-A707-4B34-82D4-E64BA4C5A8D1}" type="slidenum">
              <a:rPr lang="en-US" smtClean="0"/>
              <a:t>3</a:t>
            </a:fld>
            <a:endParaRPr lang="en-US"/>
          </a:p>
        </p:txBody>
      </p:sp>
    </p:spTree>
    <p:extLst>
      <p:ext uri="{BB962C8B-B14F-4D97-AF65-F5344CB8AC3E}">
        <p14:creationId xmlns:p14="http://schemas.microsoft.com/office/powerpoint/2010/main" val="2950350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BD5FB-A5DE-6988-A5C5-6B2A4A25A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DD3BD-F693-85AC-2B8B-2F8246D00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21FBF-66A1-4523-0D9F-BD05C6E22ED7}"/>
              </a:ext>
            </a:extLst>
          </p:cNvPr>
          <p:cNvSpPr>
            <a:spLocks noGrp="1"/>
          </p:cNvSpPr>
          <p:nvPr>
            <p:ph type="body" idx="1"/>
          </p:nvPr>
        </p:nvSpPr>
        <p:spPr/>
        <p:txBody>
          <a:bodyPr/>
          <a:lstStyle/>
          <a:p>
            <a:r>
              <a:rPr lang="en-US" dirty="0"/>
              <a:t>Per the DYA timeline, I am required to file for my dissertation by the end of academic year, so I’ll be out of your hair sooner rather than soon</a:t>
            </a:r>
          </a:p>
        </p:txBody>
      </p:sp>
      <p:sp>
        <p:nvSpPr>
          <p:cNvPr id="4" name="Slide Number Placeholder 3">
            <a:extLst>
              <a:ext uri="{FF2B5EF4-FFF2-40B4-BE49-F238E27FC236}">
                <a16:creationId xmlns:a16="http://schemas.microsoft.com/office/drawing/2014/main" id="{4391B071-E730-ABEC-2395-E7115B4AD574}"/>
              </a:ext>
            </a:extLst>
          </p:cNvPr>
          <p:cNvSpPr>
            <a:spLocks noGrp="1"/>
          </p:cNvSpPr>
          <p:nvPr>
            <p:ph type="sldNum" sz="quarter" idx="5"/>
          </p:nvPr>
        </p:nvSpPr>
        <p:spPr/>
        <p:txBody>
          <a:bodyPr/>
          <a:lstStyle/>
          <a:p>
            <a:fld id="{599CC9A3-A707-4B34-82D4-E64BA4C5A8D1}" type="slidenum">
              <a:rPr lang="en-US" smtClean="0"/>
              <a:t>4</a:t>
            </a:fld>
            <a:endParaRPr lang="en-US"/>
          </a:p>
        </p:txBody>
      </p:sp>
    </p:spTree>
    <p:extLst>
      <p:ext uri="{BB962C8B-B14F-4D97-AF65-F5344CB8AC3E}">
        <p14:creationId xmlns:p14="http://schemas.microsoft.com/office/powerpoint/2010/main" val="653600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chapter has been published in Molecular Biology and Evolution. Quick rant: the reviewers asked us to basically do the whole thing but with more species and with more analysis and it was a huge pain</a:t>
            </a:r>
          </a:p>
        </p:txBody>
      </p:sp>
      <p:sp>
        <p:nvSpPr>
          <p:cNvPr id="4" name="Slide Number Placeholder 3"/>
          <p:cNvSpPr>
            <a:spLocks noGrp="1"/>
          </p:cNvSpPr>
          <p:nvPr>
            <p:ph type="sldNum" sz="quarter" idx="5"/>
          </p:nvPr>
        </p:nvSpPr>
        <p:spPr/>
        <p:txBody>
          <a:bodyPr/>
          <a:lstStyle/>
          <a:p>
            <a:fld id="{599CC9A3-A707-4B34-82D4-E64BA4C5A8D1}" type="slidenum">
              <a:rPr lang="en-US" smtClean="0"/>
              <a:t>6</a:t>
            </a:fld>
            <a:endParaRPr lang="en-US"/>
          </a:p>
        </p:txBody>
      </p:sp>
    </p:spTree>
    <p:extLst>
      <p:ext uri="{BB962C8B-B14F-4D97-AF65-F5344CB8AC3E}">
        <p14:creationId xmlns:p14="http://schemas.microsoft.com/office/powerpoint/2010/main" val="1350445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have been reading our work which is pretty neat-o</a:t>
            </a:r>
          </a:p>
        </p:txBody>
      </p:sp>
      <p:sp>
        <p:nvSpPr>
          <p:cNvPr id="4" name="Slide Number Placeholder 3"/>
          <p:cNvSpPr>
            <a:spLocks noGrp="1"/>
          </p:cNvSpPr>
          <p:nvPr>
            <p:ph type="sldNum" sz="quarter" idx="5"/>
          </p:nvPr>
        </p:nvSpPr>
        <p:spPr/>
        <p:txBody>
          <a:bodyPr/>
          <a:lstStyle/>
          <a:p>
            <a:fld id="{599CC9A3-A707-4B34-82D4-E64BA4C5A8D1}" type="slidenum">
              <a:rPr lang="en-US" smtClean="0"/>
              <a:t>7</a:t>
            </a:fld>
            <a:endParaRPr lang="en-US"/>
          </a:p>
        </p:txBody>
      </p:sp>
    </p:spTree>
    <p:extLst>
      <p:ext uri="{BB962C8B-B14F-4D97-AF65-F5344CB8AC3E}">
        <p14:creationId xmlns:p14="http://schemas.microsoft.com/office/powerpoint/2010/main" val="3963369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second chapter I have been investigating how the number of individuals in a data set can influence the evolutionary stories that we infer from population genetic data.</a:t>
            </a:r>
          </a:p>
          <a:p>
            <a:endParaRPr lang="en-US" dirty="0"/>
          </a:p>
          <a:p>
            <a:r>
              <a:rPr lang="en-US" dirty="0"/>
              <a:t>As a quick note, we do have a first draft of the manuscript, which Kirk and I have been passing back and forth. I’ve gotten a lot of helpful comments and questions that I’m working on addressing, and we’re wrapping up some final </a:t>
            </a:r>
            <a:r>
              <a:rPr lang="en-US" dirty="0" err="1"/>
              <a:t>final</a:t>
            </a:r>
            <a:r>
              <a:rPr lang="en-US" dirty="0"/>
              <a:t> analysis which I’ll get into greater detail later.</a:t>
            </a:r>
          </a:p>
        </p:txBody>
      </p:sp>
      <p:sp>
        <p:nvSpPr>
          <p:cNvPr id="4" name="Slide Number Placeholder 3"/>
          <p:cNvSpPr>
            <a:spLocks noGrp="1"/>
          </p:cNvSpPr>
          <p:nvPr>
            <p:ph type="sldNum" sz="quarter" idx="5"/>
          </p:nvPr>
        </p:nvSpPr>
        <p:spPr/>
        <p:txBody>
          <a:bodyPr/>
          <a:lstStyle/>
          <a:p>
            <a:fld id="{599CC9A3-A707-4B34-82D4-E64BA4C5A8D1}" type="slidenum">
              <a:rPr lang="en-US" smtClean="0"/>
              <a:t>8</a:t>
            </a:fld>
            <a:endParaRPr lang="en-US"/>
          </a:p>
        </p:txBody>
      </p:sp>
    </p:spTree>
    <p:extLst>
      <p:ext uri="{BB962C8B-B14F-4D97-AF65-F5344CB8AC3E}">
        <p14:creationId xmlns:p14="http://schemas.microsoft.com/office/powerpoint/2010/main" val="742791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question is of particular interest in the case of complex demographic histories, such as the story of modern human populations. Here on the top left I show the classic Tennessen demographic model for human population history, which consists of two bottleneck events and then a population demographic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9</a:t>
            </a:fld>
            <a:endParaRPr lang="en-US"/>
          </a:p>
        </p:txBody>
      </p:sp>
    </p:spTree>
    <p:extLst>
      <p:ext uri="{BB962C8B-B14F-4D97-AF65-F5344CB8AC3E}">
        <p14:creationId xmlns:p14="http://schemas.microsoft.com/office/powerpoint/2010/main" val="3311405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B680-8081-8E3A-9178-534380385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7311-F82B-29D3-DAC0-6201BAD65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25E-86A4-653D-6C15-2AB7D54F3C54}"/>
              </a:ext>
            </a:extLst>
          </p:cNvPr>
          <p:cNvSpPr>
            <a:spLocks noGrp="1"/>
          </p:cNvSpPr>
          <p:nvPr>
            <p:ph type="body" idx="1"/>
          </p:nvPr>
        </p:nvSpPr>
        <p:spPr/>
        <p:txBody>
          <a:bodyPr/>
          <a:lstStyle/>
          <a:p>
            <a:r>
              <a:rPr lang="en-US" dirty="0"/>
              <a:t>However, in part due to a need for computational feasibility, the standard approach in population genetics is to fit simpler demographic models which prioritize capture of the most important evolutionary signals. As an example, here on the top right I show a three-epoch model, which consists of two instantaneous size changes, and a two-epoch demographic model which consists of a single instantaneous size change. Neither of these models will ever fully capture the intricacies of true history; however as we like to say in statistics: all models are wrong, but some are useful.</a:t>
            </a:r>
          </a:p>
        </p:txBody>
      </p:sp>
      <p:sp>
        <p:nvSpPr>
          <p:cNvPr id="4" name="Slide Number Placeholder 3">
            <a:extLst>
              <a:ext uri="{FF2B5EF4-FFF2-40B4-BE49-F238E27FC236}">
                <a16:creationId xmlns:a16="http://schemas.microsoft.com/office/drawing/2014/main" id="{3251FD9A-3515-A69C-2F1C-970B12EF1B6B}"/>
              </a:ext>
            </a:extLst>
          </p:cNvPr>
          <p:cNvSpPr>
            <a:spLocks noGrp="1"/>
          </p:cNvSpPr>
          <p:nvPr>
            <p:ph type="sldNum" sz="quarter" idx="5"/>
          </p:nvPr>
        </p:nvSpPr>
        <p:spPr/>
        <p:txBody>
          <a:bodyPr/>
          <a:lstStyle/>
          <a:p>
            <a:fld id="{599CC9A3-A707-4B34-82D4-E64BA4C5A8D1}" type="slidenum">
              <a:rPr lang="en-US" smtClean="0"/>
              <a:t>10</a:t>
            </a:fld>
            <a:endParaRPr lang="en-US"/>
          </a:p>
        </p:txBody>
      </p:sp>
    </p:spTree>
    <p:extLst>
      <p:ext uri="{BB962C8B-B14F-4D97-AF65-F5344CB8AC3E}">
        <p14:creationId xmlns:p14="http://schemas.microsoft.com/office/powerpoint/2010/main" val="1808917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CF0-7F69-E145-869B-8F53CAC71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8D23-1E71-4B88-B00F-BC79F9F55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8D32-5665-4727-9A65-BC918FA58D63}"/>
              </a:ext>
            </a:extLst>
          </p:cNvPr>
          <p:cNvSpPr>
            <a:spLocks noGrp="1"/>
          </p:cNvSpPr>
          <p:nvPr>
            <p:ph type="body" idx="1"/>
          </p:nvPr>
        </p:nvSpPr>
        <p:spPr/>
        <p:txBody>
          <a:bodyPr/>
          <a:lstStyle/>
          <a:p>
            <a:r>
              <a:rPr lang="en-US" dirty="0"/>
              <a:t>The motivation for our study comes from work by Kryukov et al. 2008 and </a:t>
            </a:r>
            <a:r>
              <a:rPr lang="en-US" dirty="0" err="1"/>
              <a:t>Gazave</a:t>
            </a:r>
            <a:r>
              <a:rPr lang="en-US" dirty="0"/>
              <a:t> et al. 2014 in which these studies essentially found that when analyzing either empirical or simulated human data sets, different evolutionary signals are inferred from a two-epoch model depending on the number of individuals. We sought to investigate this further by more closely evaluating the outcomes of two-epoch demographic model inference while varying the number of individuals analyzed.</a:t>
            </a:r>
          </a:p>
          <a:p>
            <a:endParaRPr lang="en-US" dirty="0"/>
          </a:p>
          <a:p>
            <a:r>
              <a:rPr lang="en-US" dirty="0"/>
              <a:t>The underlying rationale to this approach is that most studies which infer demographic history do rely on these simplistic models. However, issues might arise in cases where scientists don’t necessarily have the luxury or the freedom to widely vary their sample size, e.g., working with rare mutation data, ancient data, or endangered species.</a:t>
            </a:r>
          </a:p>
        </p:txBody>
      </p:sp>
      <p:sp>
        <p:nvSpPr>
          <p:cNvPr id="4" name="Slide Number Placeholder 3">
            <a:extLst>
              <a:ext uri="{FF2B5EF4-FFF2-40B4-BE49-F238E27FC236}">
                <a16:creationId xmlns:a16="http://schemas.microsoft.com/office/drawing/2014/main" id="{46E09B6A-B9F8-C01A-BE8E-010E060AD915}"/>
              </a:ext>
            </a:extLst>
          </p:cNvPr>
          <p:cNvSpPr>
            <a:spLocks noGrp="1"/>
          </p:cNvSpPr>
          <p:nvPr>
            <p:ph type="sldNum" sz="quarter" idx="5"/>
          </p:nvPr>
        </p:nvSpPr>
        <p:spPr/>
        <p:txBody>
          <a:bodyPr/>
          <a:lstStyle/>
          <a:p>
            <a:fld id="{599CC9A3-A707-4B34-82D4-E64BA4C5A8D1}" type="slidenum">
              <a:rPr lang="en-US" smtClean="0"/>
              <a:t>11</a:t>
            </a:fld>
            <a:endParaRPr lang="en-US"/>
          </a:p>
        </p:txBody>
      </p:sp>
    </p:spTree>
    <p:extLst>
      <p:ext uri="{BB962C8B-B14F-4D97-AF65-F5344CB8AC3E}">
        <p14:creationId xmlns:p14="http://schemas.microsoft.com/office/powerpoint/2010/main" val="2848393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760-764A-91D8-CCFC-4CE14B4C2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28C04-B15F-0B4B-B1B4-7A79A5168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50263-0115-4749-9F7F-CCF23A8446B0}"/>
              </a:ext>
            </a:extLst>
          </p:cNvPr>
          <p:cNvSpPr>
            <a:spLocks noGrp="1"/>
          </p:cNvSpPr>
          <p:nvPr>
            <p:ph type="body" idx="1"/>
          </p:nvPr>
        </p:nvSpPr>
        <p:spPr/>
        <p:txBody>
          <a:bodyPr/>
          <a:lstStyle/>
          <a:p>
            <a:r>
              <a:rPr lang="en-US" dirty="0"/>
              <a:t>We started by simulating a three-epoch bottleneck scenario consisting of an ancient contraction and a recent expansion, generally matching the pattern of human demographic history. We simulated this scenario using </a:t>
            </a:r>
            <a:r>
              <a:rPr lang="en-US" dirty="0" err="1"/>
              <a:t>MSPrime</a:t>
            </a:r>
            <a:r>
              <a:rPr lang="en-US" dirty="0"/>
              <a:t>, which is a coalescent based simulation framework. As is standard in population genetics, we then fit a simple two-epoch model to determine whether the ancient contraction or the recent expansion was the dominant evolutionary signal.</a:t>
            </a:r>
          </a:p>
        </p:txBody>
      </p:sp>
      <p:sp>
        <p:nvSpPr>
          <p:cNvPr id="4" name="Slide Number Placeholder 3">
            <a:extLst>
              <a:ext uri="{FF2B5EF4-FFF2-40B4-BE49-F238E27FC236}">
                <a16:creationId xmlns:a16="http://schemas.microsoft.com/office/drawing/2014/main" id="{67A69D2D-EC3B-6A6A-738A-655E1D91CD6F}"/>
              </a:ext>
            </a:extLst>
          </p:cNvPr>
          <p:cNvSpPr>
            <a:spLocks noGrp="1"/>
          </p:cNvSpPr>
          <p:nvPr>
            <p:ph type="sldNum" sz="quarter" idx="5"/>
          </p:nvPr>
        </p:nvSpPr>
        <p:spPr/>
        <p:txBody>
          <a:bodyPr/>
          <a:lstStyle/>
          <a:p>
            <a:fld id="{599CC9A3-A707-4B34-82D4-E64BA4C5A8D1}" type="slidenum">
              <a:rPr lang="en-US" smtClean="0"/>
              <a:t>12</a:t>
            </a:fld>
            <a:endParaRPr lang="en-US"/>
          </a:p>
        </p:txBody>
      </p:sp>
    </p:spTree>
    <p:extLst>
      <p:ext uri="{BB962C8B-B14F-4D97-AF65-F5344CB8AC3E}">
        <p14:creationId xmlns:p14="http://schemas.microsoft.com/office/powerpoint/2010/main" val="4145390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98F4-DAD5-867F-5FCC-E61358EF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C04F8-3920-05A1-69D9-C2E1BAB76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E6328-D487-0785-DBAA-5B03A94C4A0D}"/>
              </a:ext>
            </a:extLst>
          </p:cNvPr>
          <p:cNvSpPr>
            <a:spLocks noGrp="1"/>
          </p:cNvSpPr>
          <p:nvPr>
            <p:ph type="body" idx="1"/>
          </p:nvPr>
        </p:nvSpPr>
        <p:spPr/>
        <p:txBody>
          <a:bodyPr/>
          <a:lstStyle/>
          <a:p>
            <a:r>
              <a:rPr lang="en-US" dirty="0"/>
              <a:t>Here I show on the x-axis the number of individuals analyzed in the dataset, while on the y-axis I respectively show Tajima’s D, the inferred ratio of current to ancestral effective population size, and the inferred time since the instantaneous size change.</a:t>
            </a:r>
          </a:p>
        </p:txBody>
      </p:sp>
      <p:sp>
        <p:nvSpPr>
          <p:cNvPr id="4" name="Slide Number Placeholder 3">
            <a:extLst>
              <a:ext uri="{FF2B5EF4-FFF2-40B4-BE49-F238E27FC236}">
                <a16:creationId xmlns:a16="http://schemas.microsoft.com/office/drawing/2014/main" id="{6A42A2B1-AA09-7405-71D3-D0EF98B16D23}"/>
              </a:ext>
            </a:extLst>
          </p:cNvPr>
          <p:cNvSpPr>
            <a:spLocks noGrp="1"/>
          </p:cNvSpPr>
          <p:nvPr>
            <p:ph type="sldNum" sz="quarter" idx="5"/>
          </p:nvPr>
        </p:nvSpPr>
        <p:spPr/>
        <p:txBody>
          <a:bodyPr/>
          <a:lstStyle/>
          <a:p>
            <a:fld id="{599CC9A3-A707-4B34-82D4-E64BA4C5A8D1}" type="slidenum">
              <a:rPr lang="en-US" smtClean="0"/>
              <a:t>13</a:t>
            </a:fld>
            <a:endParaRPr lang="en-US"/>
          </a:p>
        </p:txBody>
      </p:sp>
    </p:spTree>
    <p:extLst>
      <p:ext uri="{BB962C8B-B14F-4D97-AF65-F5344CB8AC3E}">
        <p14:creationId xmlns:p14="http://schemas.microsoft.com/office/powerpoint/2010/main" val="3397917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FB2-ACB8-AC80-7658-0D17996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A8D82-F26F-9C18-AAED-A1028D215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D8A16-D789-E413-AA94-F4575C0AC41F}"/>
              </a:ext>
            </a:extLst>
          </p:cNvPr>
          <p:cNvSpPr>
            <a:spLocks noGrp="1"/>
          </p:cNvSpPr>
          <p:nvPr>
            <p:ph type="body" idx="1"/>
          </p:nvPr>
        </p:nvSpPr>
        <p:spPr/>
        <p:txBody>
          <a:bodyPr/>
          <a:lstStyle/>
          <a:p>
            <a:r>
              <a:rPr lang="en-US" dirty="0"/>
              <a:t>First I want to draw your attention to this top left panel, which depicts Tajima’s D vs. sample size. </a:t>
            </a:r>
          </a:p>
          <a:p>
            <a:endParaRPr lang="en-US" dirty="0"/>
          </a:p>
          <a:p>
            <a:r>
              <a:rPr lang="en-US" dirty="0"/>
              <a:t>These simulations were performed under neutrality, as in no selection.</a:t>
            </a:r>
          </a:p>
          <a:p>
            <a:endParaRPr lang="en-US" dirty="0"/>
          </a:p>
          <a:p>
            <a:r>
              <a:rPr lang="en-US" dirty="0"/>
              <a:t>A positive Tajima’s D typically indicates an excess of intermediate frequency variants in the SFS, suggesting a population contraction. Conversely, a negative Tajima’s D indicates an excess of low frequency variants in the SFS, suggesting a population expansion. The dashed black line indicates a Tajima’s D of 0.</a:t>
            </a:r>
          </a:p>
          <a:p>
            <a:endParaRPr lang="en-US" dirty="0"/>
          </a:p>
          <a:p>
            <a:r>
              <a:rPr lang="en-US" dirty="0"/>
              <a:t>Of note, at small sample sizes we have a positive Tajima’s D and at large sample sizes we have a negative Tajima’s D</a:t>
            </a:r>
          </a:p>
        </p:txBody>
      </p:sp>
      <p:sp>
        <p:nvSpPr>
          <p:cNvPr id="4" name="Slide Number Placeholder 3">
            <a:extLst>
              <a:ext uri="{FF2B5EF4-FFF2-40B4-BE49-F238E27FC236}">
                <a16:creationId xmlns:a16="http://schemas.microsoft.com/office/drawing/2014/main" id="{A388C466-6120-6A8E-A3EA-FDBBC49F7766}"/>
              </a:ext>
            </a:extLst>
          </p:cNvPr>
          <p:cNvSpPr>
            <a:spLocks noGrp="1"/>
          </p:cNvSpPr>
          <p:nvPr>
            <p:ph type="sldNum" sz="quarter" idx="5"/>
          </p:nvPr>
        </p:nvSpPr>
        <p:spPr/>
        <p:txBody>
          <a:bodyPr/>
          <a:lstStyle/>
          <a:p>
            <a:fld id="{599CC9A3-A707-4B34-82D4-E64BA4C5A8D1}" type="slidenum">
              <a:rPr lang="en-US" smtClean="0"/>
              <a:t>14</a:t>
            </a:fld>
            <a:endParaRPr lang="en-US"/>
          </a:p>
        </p:txBody>
      </p:sp>
    </p:spTree>
    <p:extLst>
      <p:ext uri="{BB962C8B-B14F-4D97-AF65-F5344CB8AC3E}">
        <p14:creationId xmlns:p14="http://schemas.microsoft.com/office/powerpoint/2010/main" val="1453035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0401-1E54-256D-172B-D5062FB0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86242-C30D-01F8-1445-80EEECF8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F54D-9DC0-A7D6-C7F2-2411D4A95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this middle panel on the left depicts how the inferred ratio of current to ancestral population size changes with the number of individuals analyzed. The dashed black line indicates a ratio of 1; thus, data below the line indicates an inferred population contraction, while data above the line indicates an inferred population expansion. As with the story of Tajima’s D, we find that the evolutionary signal is sensitive to the number of individuals analyzed, shifting from a contraction to an expansion as the number of individuals increases.</a:t>
            </a:r>
          </a:p>
          <a:p>
            <a:endParaRPr lang="en-US" dirty="0"/>
          </a:p>
        </p:txBody>
      </p:sp>
      <p:sp>
        <p:nvSpPr>
          <p:cNvPr id="4" name="Slide Number Placeholder 3">
            <a:extLst>
              <a:ext uri="{FF2B5EF4-FFF2-40B4-BE49-F238E27FC236}">
                <a16:creationId xmlns:a16="http://schemas.microsoft.com/office/drawing/2014/main" id="{E37F0399-2B80-34D6-C954-93070835895E}"/>
              </a:ext>
            </a:extLst>
          </p:cNvPr>
          <p:cNvSpPr>
            <a:spLocks noGrp="1"/>
          </p:cNvSpPr>
          <p:nvPr>
            <p:ph type="sldNum" sz="quarter" idx="5"/>
          </p:nvPr>
        </p:nvSpPr>
        <p:spPr/>
        <p:txBody>
          <a:bodyPr/>
          <a:lstStyle/>
          <a:p>
            <a:fld id="{599CC9A3-A707-4B34-82D4-E64BA4C5A8D1}" type="slidenum">
              <a:rPr lang="en-US" smtClean="0"/>
              <a:t>15</a:t>
            </a:fld>
            <a:endParaRPr lang="en-US"/>
          </a:p>
        </p:txBody>
      </p:sp>
    </p:spTree>
    <p:extLst>
      <p:ext uri="{BB962C8B-B14F-4D97-AF65-F5344CB8AC3E}">
        <p14:creationId xmlns:p14="http://schemas.microsoft.com/office/powerpoint/2010/main" val="1351332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19F4-1497-AC44-3FFB-50FDA332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16701-49C0-E8D4-F159-88A4FE84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3CEE-0B0A-EEE6-1E92-2830E9B4AA8A}"/>
              </a:ext>
            </a:extLst>
          </p:cNvPr>
          <p:cNvSpPr>
            <a:spLocks noGrp="1"/>
          </p:cNvSpPr>
          <p:nvPr>
            <p:ph type="body" idx="1"/>
          </p:nvPr>
        </p:nvSpPr>
        <p:spPr/>
        <p:txBody>
          <a:bodyPr/>
          <a:lstStyle/>
          <a:p>
            <a:r>
              <a:rPr lang="en-US" dirty="0"/>
              <a:t>Lastly, this bottom left panel also tells a story about how the inferred timing of the inferred population size change is ancient for a lower number of individuals analyzed and more recent for a higher number of individuals analyzed</a:t>
            </a:r>
          </a:p>
          <a:p>
            <a:endParaRPr lang="en-US" dirty="0"/>
          </a:p>
        </p:txBody>
      </p:sp>
      <p:sp>
        <p:nvSpPr>
          <p:cNvPr id="4" name="Slide Number Placeholder 3">
            <a:extLst>
              <a:ext uri="{FF2B5EF4-FFF2-40B4-BE49-F238E27FC236}">
                <a16:creationId xmlns:a16="http://schemas.microsoft.com/office/drawing/2014/main" id="{8D47CAE4-1D96-D1E1-7FC6-42719E343EDC}"/>
              </a:ext>
            </a:extLst>
          </p:cNvPr>
          <p:cNvSpPr>
            <a:spLocks noGrp="1"/>
          </p:cNvSpPr>
          <p:nvPr>
            <p:ph type="sldNum" sz="quarter" idx="5"/>
          </p:nvPr>
        </p:nvSpPr>
        <p:spPr/>
        <p:txBody>
          <a:bodyPr/>
          <a:lstStyle/>
          <a:p>
            <a:fld id="{599CC9A3-A707-4B34-82D4-E64BA4C5A8D1}" type="slidenum">
              <a:rPr lang="en-US" smtClean="0"/>
              <a:t>16</a:t>
            </a:fld>
            <a:endParaRPr lang="en-US"/>
          </a:p>
        </p:txBody>
      </p:sp>
    </p:spTree>
    <p:extLst>
      <p:ext uri="{BB962C8B-B14F-4D97-AF65-F5344CB8AC3E}">
        <p14:creationId xmlns:p14="http://schemas.microsoft.com/office/powerpoint/2010/main" val="2995073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6828-B6AB-338B-4514-C595EB78B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30D9-16CD-8E1C-CC85-A26372A06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F766E-DE20-0F02-5CE8-6D818BE219E5}"/>
              </a:ext>
            </a:extLst>
          </p:cNvPr>
          <p:cNvSpPr>
            <a:spLocks noGrp="1"/>
          </p:cNvSpPr>
          <p:nvPr>
            <p:ph type="body" idx="1"/>
          </p:nvPr>
        </p:nvSpPr>
        <p:spPr/>
        <p:txBody>
          <a:bodyPr/>
          <a:lstStyle/>
          <a:p>
            <a:r>
              <a:rPr lang="en-US" dirty="0"/>
              <a:t>Taken together these points all indicate that when analyzing a small dataset, two-epoch inference of this scenario captures an ancient contraction, while when analyzing a large dataset, two-epoch inference instead captures a recent expansion.</a:t>
            </a:r>
          </a:p>
        </p:txBody>
      </p:sp>
      <p:sp>
        <p:nvSpPr>
          <p:cNvPr id="4" name="Slide Number Placeholder 3">
            <a:extLst>
              <a:ext uri="{FF2B5EF4-FFF2-40B4-BE49-F238E27FC236}">
                <a16:creationId xmlns:a16="http://schemas.microsoft.com/office/drawing/2014/main" id="{32E958DE-45D9-94A1-4DF8-9E4300A10B1E}"/>
              </a:ext>
            </a:extLst>
          </p:cNvPr>
          <p:cNvSpPr>
            <a:spLocks noGrp="1"/>
          </p:cNvSpPr>
          <p:nvPr>
            <p:ph type="sldNum" sz="quarter" idx="5"/>
          </p:nvPr>
        </p:nvSpPr>
        <p:spPr/>
        <p:txBody>
          <a:bodyPr/>
          <a:lstStyle/>
          <a:p>
            <a:fld id="{599CC9A3-A707-4B34-82D4-E64BA4C5A8D1}" type="slidenum">
              <a:rPr lang="en-US" smtClean="0"/>
              <a:t>17</a:t>
            </a:fld>
            <a:endParaRPr lang="en-US"/>
          </a:p>
        </p:txBody>
      </p:sp>
    </p:spTree>
    <p:extLst>
      <p:ext uri="{BB962C8B-B14F-4D97-AF65-F5344CB8AC3E}">
        <p14:creationId xmlns:p14="http://schemas.microsoft.com/office/powerpoint/2010/main" val="3247236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alternative way in which we can examine this phenomenon. On the top half of this figure I show the simulated SFS sampled at 20, 90, 100, and 700 individuals; all juxtaposed with the standard neutral model.</a:t>
            </a:r>
          </a:p>
        </p:txBody>
      </p:sp>
      <p:sp>
        <p:nvSpPr>
          <p:cNvPr id="4" name="Slide Number Placeholder 3"/>
          <p:cNvSpPr>
            <a:spLocks noGrp="1"/>
          </p:cNvSpPr>
          <p:nvPr>
            <p:ph type="sldNum" sz="quarter" idx="5"/>
          </p:nvPr>
        </p:nvSpPr>
        <p:spPr/>
        <p:txBody>
          <a:bodyPr/>
          <a:lstStyle/>
          <a:p>
            <a:fld id="{599CC9A3-A707-4B34-82D4-E64BA4C5A8D1}" type="slidenum">
              <a:rPr lang="en-US" smtClean="0"/>
              <a:t>18</a:t>
            </a:fld>
            <a:endParaRPr lang="en-US"/>
          </a:p>
        </p:txBody>
      </p:sp>
    </p:spTree>
    <p:extLst>
      <p:ext uri="{BB962C8B-B14F-4D97-AF65-F5344CB8AC3E}">
        <p14:creationId xmlns:p14="http://schemas.microsoft.com/office/powerpoint/2010/main" val="2737034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F8153-4E3D-4AF0-B835-6D091D6EE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CB4F7-1C08-DBDB-CF91-E53B20D27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0A14D-B157-D241-1100-0CF13F395C72}"/>
              </a:ext>
            </a:extLst>
          </p:cNvPr>
          <p:cNvSpPr>
            <a:spLocks noGrp="1"/>
          </p:cNvSpPr>
          <p:nvPr>
            <p:ph type="body" idx="1"/>
          </p:nvPr>
        </p:nvSpPr>
        <p:spPr/>
        <p:txBody>
          <a:bodyPr/>
          <a:lstStyle/>
          <a:p>
            <a:r>
              <a:rPr lang="en-US" dirty="0"/>
              <a:t>On the bottom half of the figure I show the MLE two-epoch demographic history inferred from these same simulated SFSs. The x-axis depicts the number of generations going backwards in time, meaning that the right hand of the figure is current time, while the y-axis depicts the effective population size at a given time.</a:t>
            </a:r>
          </a:p>
          <a:p>
            <a:endParaRPr lang="en-US" dirty="0"/>
          </a:p>
          <a:p>
            <a:r>
              <a:rPr lang="en-US" dirty="0"/>
              <a:t>The red demography plot shows the true simulated demographic history.</a:t>
            </a:r>
          </a:p>
        </p:txBody>
      </p:sp>
      <p:sp>
        <p:nvSpPr>
          <p:cNvPr id="4" name="Slide Number Placeholder 3">
            <a:extLst>
              <a:ext uri="{FF2B5EF4-FFF2-40B4-BE49-F238E27FC236}">
                <a16:creationId xmlns:a16="http://schemas.microsoft.com/office/drawing/2014/main" id="{C6CC4402-537C-865E-5472-ADD702C926EC}"/>
              </a:ext>
            </a:extLst>
          </p:cNvPr>
          <p:cNvSpPr>
            <a:spLocks noGrp="1"/>
          </p:cNvSpPr>
          <p:nvPr>
            <p:ph type="sldNum" sz="quarter" idx="5"/>
          </p:nvPr>
        </p:nvSpPr>
        <p:spPr/>
        <p:txBody>
          <a:bodyPr/>
          <a:lstStyle/>
          <a:p>
            <a:fld id="{599CC9A3-A707-4B34-82D4-E64BA4C5A8D1}" type="slidenum">
              <a:rPr lang="en-US" smtClean="0"/>
              <a:t>19</a:t>
            </a:fld>
            <a:endParaRPr lang="en-US"/>
          </a:p>
        </p:txBody>
      </p:sp>
    </p:spTree>
    <p:extLst>
      <p:ext uri="{BB962C8B-B14F-4D97-AF65-F5344CB8AC3E}">
        <p14:creationId xmlns:p14="http://schemas.microsoft.com/office/powerpoint/2010/main" val="480446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92DE-D71B-C60F-37CF-711D7A7AB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8D5B6-BDE9-2274-37F1-AF6889749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BD0A1-8AAC-A1D8-6A88-540572672DB8}"/>
              </a:ext>
            </a:extLst>
          </p:cNvPr>
          <p:cNvSpPr>
            <a:spLocks noGrp="1"/>
          </p:cNvSpPr>
          <p:nvPr>
            <p:ph type="body" idx="1"/>
          </p:nvPr>
        </p:nvSpPr>
        <p:spPr/>
        <p:txBody>
          <a:bodyPr/>
          <a:lstStyle/>
          <a:p>
            <a:r>
              <a:rPr lang="en-US" dirty="0"/>
              <a:t>To help guide your eye, I have color coded both figures, the contractions (at n=20, n=90) as purple and the expansions (n=100, n=700) as green. </a:t>
            </a:r>
          </a:p>
        </p:txBody>
      </p:sp>
      <p:sp>
        <p:nvSpPr>
          <p:cNvPr id="4" name="Slide Number Placeholder 3">
            <a:extLst>
              <a:ext uri="{FF2B5EF4-FFF2-40B4-BE49-F238E27FC236}">
                <a16:creationId xmlns:a16="http://schemas.microsoft.com/office/drawing/2014/main" id="{99D09D03-CE97-2B9D-A303-B39AB5A79166}"/>
              </a:ext>
            </a:extLst>
          </p:cNvPr>
          <p:cNvSpPr>
            <a:spLocks noGrp="1"/>
          </p:cNvSpPr>
          <p:nvPr>
            <p:ph type="sldNum" sz="quarter" idx="5"/>
          </p:nvPr>
        </p:nvSpPr>
        <p:spPr/>
        <p:txBody>
          <a:bodyPr/>
          <a:lstStyle/>
          <a:p>
            <a:fld id="{599CC9A3-A707-4B34-82D4-E64BA4C5A8D1}" type="slidenum">
              <a:rPr lang="en-US" smtClean="0"/>
              <a:t>20</a:t>
            </a:fld>
            <a:endParaRPr lang="en-US"/>
          </a:p>
        </p:txBody>
      </p:sp>
    </p:spTree>
    <p:extLst>
      <p:ext uri="{BB962C8B-B14F-4D97-AF65-F5344CB8AC3E}">
        <p14:creationId xmlns:p14="http://schemas.microsoft.com/office/powerpoint/2010/main" val="1691649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1BCA7-D879-E1AD-88D7-684E64C95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3ED2C3-A7F7-8F2C-8671-1D9C524D1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801D2-5F0E-27EA-0A57-9736F2EC34B9}"/>
              </a:ext>
            </a:extLst>
          </p:cNvPr>
          <p:cNvSpPr>
            <a:spLocks noGrp="1"/>
          </p:cNvSpPr>
          <p:nvPr>
            <p:ph type="body" idx="1"/>
          </p:nvPr>
        </p:nvSpPr>
        <p:spPr/>
        <p:txBody>
          <a:bodyPr/>
          <a:lstStyle/>
          <a:p>
            <a:r>
              <a:rPr lang="en-US" dirty="0"/>
              <a:t>As we saw before, at smaller sample sizes, we infer an ancient population contraction, consistent with the simulated ancient contraction</a:t>
            </a:r>
          </a:p>
        </p:txBody>
      </p:sp>
      <p:sp>
        <p:nvSpPr>
          <p:cNvPr id="4" name="Slide Number Placeholder 3">
            <a:extLst>
              <a:ext uri="{FF2B5EF4-FFF2-40B4-BE49-F238E27FC236}">
                <a16:creationId xmlns:a16="http://schemas.microsoft.com/office/drawing/2014/main" id="{3F1CD529-9827-082D-4885-DE80E40F4942}"/>
              </a:ext>
            </a:extLst>
          </p:cNvPr>
          <p:cNvSpPr>
            <a:spLocks noGrp="1"/>
          </p:cNvSpPr>
          <p:nvPr>
            <p:ph type="sldNum" sz="quarter" idx="5"/>
          </p:nvPr>
        </p:nvSpPr>
        <p:spPr/>
        <p:txBody>
          <a:bodyPr/>
          <a:lstStyle/>
          <a:p>
            <a:fld id="{599CC9A3-A707-4B34-82D4-E64BA4C5A8D1}" type="slidenum">
              <a:rPr lang="en-US" smtClean="0"/>
              <a:t>21</a:t>
            </a:fld>
            <a:endParaRPr lang="en-US"/>
          </a:p>
        </p:txBody>
      </p:sp>
    </p:spTree>
    <p:extLst>
      <p:ext uri="{BB962C8B-B14F-4D97-AF65-F5344CB8AC3E}">
        <p14:creationId xmlns:p14="http://schemas.microsoft.com/office/powerpoint/2010/main" val="40157934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4908F-8907-FC00-3B75-869771981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11DF8-0369-FB4E-B2A3-EB99FADA5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73BBC2-2813-1A17-EFCA-3CB598F8EC8B}"/>
              </a:ext>
            </a:extLst>
          </p:cNvPr>
          <p:cNvSpPr>
            <a:spLocks noGrp="1"/>
          </p:cNvSpPr>
          <p:nvPr>
            <p:ph type="body" idx="1"/>
          </p:nvPr>
        </p:nvSpPr>
        <p:spPr/>
        <p:txBody>
          <a:bodyPr/>
          <a:lstStyle/>
          <a:p>
            <a:r>
              <a:rPr lang="en-US" dirty="0"/>
              <a:t>while at larger sample sizes were instead infer a recent population expansion, consistent with the simulated recent expansion.</a:t>
            </a:r>
          </a:p>
        </p:txBody>
      </p:sp>
      <p:sp>
        <p:nvSpPr>
          <p:cNvPr id="4" name="Slide Number Placeholder 3">
            <a:extLst>
              <a:ext uri="{FF2B5EF4-FFF2-40B4-BE49-F238E27FC236}">
                <a16:creationId xmlns:a16="http://schemas.microsoft.com/office/drawing/2014/main" id="{C6F659A8-8FE6-0BAA-71D2-CF296B3CDAE0}"/>
              </a:ext>
            </a:extLst>
          </p:cNvPr>
          <p:cNvSpPr>
            <a:spLocks noGrp="1"/>
          </p:cNvSpPr>
          <p:nvPr>
            <p:ph type="sldNum" sz="quarter" idx="5"/>
          </p:nvPr>
        </p:nvSpPr>
        <p:spPr/>
        <p:txBody>
          <a:bodyPr/>
          <a:lstStyle/>
          <a:p>
            <a:fld id="{599CC9A3-A707-4B34-82D4-E64BA4C5A8D1}" type="slidenum">
              <a:rPr lang="en-US" smtClean="0"/>
              <a:t>22</a:t>
            </a:fld>
            <a:endParaRPr lang="en-US"/>
          </a:p>
        </p:txBody>
      </p:sp>
    </p:spTree>
    <p:extLst>
      <p:ext uri="{BB962C8B-B14F-4D97-AF65-F5344CB8AC3E}">
        <p14:creationId xmlns:p14="http://schemas.microsoft.com/office/powerpoint/2010/main" val="168985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B3D6C-62D2-1D03-8B9F-60816E9BB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0BA6E-701A-F0A1-B9D2-029556AD7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3EFA1-4456-EECF-6134-836E576E1A65}"/>
              </a:ext>
            </a:extLst>
          </p:cNvPr>
          <p:cNvSpPr>
            <a:spLocks noGrp="1"/>
          </p:cNvSpPr>
          <p:nvPr>
            <p:ph type="body" idx="1"/>
          </p:nvPr>
        </p:nvSpPr>
        <p:spPr/>
        <p:txBody>
          <a:bodyPr/>
          <a:lstStyle/>
          <a:p>
            <a:r>
              <a:rPr lang="en-US" dirty="0"/>
              <a:t>One thing of interest to me is that our simulation sampling scheme was in increments of 10 individuals; however the change in inferred evolutionary history from 90 individuals to 100 individuals is quite drastic, even though visually their SFSs aren’t that different.</a:t>
            </a:r>
          </a:p>
        </p:txBody>
      </p:sp>
      <p:sp>
        <p:nvSpPr>
          <p:cNvPr id="4" name="Slide Number Placeholder 3">
            <a:extLst>
              <a:ext uri="{FF2B5EF4-FFF2-40B4-BE49-F238E27FC236}">
                <a16:creationId xmlns:a16="http://schemas.microsoft.com/office/drawing/2014/main" id="{3FF17484-33C7-4A5A-899F-B0F7D3CCF1AD}"/>
              </a:ext>
            </a:extLst>
          </p:cNvPr>
          <p:cNvSpPr>
            <a:spLocks noGrp="1"/>
          </p:cNvSpPr>
          <p:nvPr>
            <p:ph type="sldNum" sz="quarter" idx="5"/>
          </p:nvPr>
        </p:nvSpPr>
        <p:spPr/>
        <p:txBody>
          <a:bodyPr/>
          <a:lstStyle/>
          <a:p>
            <a:fld id="{599CC9A3-A707-4B34-82D4-E64BA4C5A8D1}" type="slidenum">
              <a:rPr lang="en-US" smtClean="0"/>
              <a:t>23</a:t>
            </a:fld>
            <a:endParaRPr lang="en-US"/>
          </a:p>
        </p:txBody>
      </p:sp>
    </p:spTree>
    <p:extLst>
      <p:ext uri="{BB962C8B-B14F-4D97-AF65-F5344CB8AC3E}">
        <p14:creationId xmlns:p14="http://schemas.microsoft.com/office/powerpoint/2010/main" val="21332026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sought to investigate further as to how and why this phenomenon of changing evolutionary signal arose based on the number of individuals. To do so, we considered the coalescent tree and its properties.</a:t>
            </a:r>
          </a:p>
        </p:txBody>
      </p:sp>
      <p:sp>
        <p:nvSpPr>
          <p:cNvPr id="4" name="Slide Number Placeholder 3"/>
          <p:cNvSpPr>
            <a:spLocks noGrp="1"/>
          </p:cNvSpPr>
          <p:nvPr>
            <p:ph type="sldNum" sz="quarter" idx="5"/>
          </p:nvPr>
        </p:nvSpPr>
        <p:spPr/>
        <p:txBody>
          <a:bodyPr/>
          <a:lstStyle/>
          <a:p>
            <a:fld id="{599CC9A3-A707-4B34-82D4-E64BA4C5A8D1}" type="slidenum">
              <a:rPr lang="en-US" smtClean="0"/>
              <a:t>24</a:t>
            </a:fld>
            <a:endParaRPr lang="en-US"/>
          </a:p>
        </p:txBody>
      </p:sp>
    </p:spTree>
    <p:extLst>
      <p:ext uri="{BB962C8B-B14F-4D97-AF65-F5344CB8AC3E}">
        <p14:creationId xmlns:p14="http://schemas.microsoft.com/office/powerpoint/2010/main" val="1593064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E57D-8DB6-FCF1-B623-DCBE24442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62C-B171-95DA-66E8-7E3F551E6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EB49-09EB-88A7-19B6-55660A61C350}"/>
              </a:ext>
            </a:extLst>
          </p:cNvPr>
          <p:cNvSpPr>
            <a:spLocks noGrp="1"/>
          </p:cNvSpPr>
          <p:nvPr>
            <p:ph type="body" idx="1"/>
          </p:nvPr>
        </p:nvSpPr>
        <p:spPr/>
        <p:txBody>
          <a:bodyPr/>
          <a:lstStyle/>
          <a:p>
            <a:r>
              <a:rPr lang="en-US" dirty="0"/>
              <a:t>Quite nicely, because we used, </a:t>
            </a:r>
            <a:r>
              <a:rPr lang="en-US" dirty="0" err="1"/>
              <a:t>MSPrime</a:t>
            </a:r>
            <a:r>
              <a:rPr lang="en-US" dirty="0"/>
              <a:t>, which is a coalescent-based simulator, we knew the ground-truth of our simulated history and calculated the proportion of branch length per epoch. To help with interpretation, I’ve provided a schematic for the simulated three-epoch demographic scenario on the right, color coded and labeled by epoch. For now I’ll refer to them as Ancestral, Ancient, and Recent</a:t>
            </a:r>
          </a:p>
          <a:p>
            <a:endParaRPr lang="en-US" dirty="0"/>
          </a:p>
          <a:p>
            <a:endParaRPr lang="en-US" dirty="0"/>
          </a:p>
        </p:txBody>
      </p:sp>
      <p:sp>
        <p:nvSpPr>
          <p:cNvPr id="4" name="Slide Number Placeholder 3">
            <a:extLst>
              <a:ext uri="{FF2B5EF4-FFF2-40B4-BE49-F238E27FC236}">
                <a16:creationId xmlns:a16="http://schemas.microsoft.com/office/drawing/2014/main" id="{595D411A-9FA9-B413-552B-E0B055E78E77}"/>
              </a:ext>
            </a:extLst>
          </p:cNvPr>
          <p:cNvSpPr>
            <a:spLocks noGrp="1"/>
          </p:cNvSpPr>
          <p:nvPr>
            <p:ph type="sldNum" sz="quarter" idx="5"/>
          </p:nvPr>
        </p:nvSpPr>
        <p:spPr/>
        <p:txBody>
          <a:bodyPr/>
          <a:lstStyle/>
          <a:p>
            <a:fld id="{599CC9A3-A707-4B34-82D4-E64BA4C5A8D1}" type="slidenum">
              <a:rPr lang="en-US" smtClean="0"/>
              <a:t>25</a:t>
            </a:fld>
            <a:endParaRPr lang="en-US"/>
          </a:p>
        </p:txBody>
      </p:sp>
    </p:spTree>
    <p:extLst>
      <p:ext uri="{BB962C8B-B14F-4D97-AF65-F5344CB8AC3E}">
        <p14:creationId xmlns:p14="http://schemas.microsoft.com/office/powerpoint/2010/main" val="23664928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6EBEB-7868-B152-A7F0-755759215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E2054-EF4B-8556-3E84-0F3689AF2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425E7-A9E7-7445-603E-344F04DD1702}"/>
              </a:ext>
            </a:extLst>
          </p:cNvPr>
          <p:cNvSpPr>
            <a:spLocks noGrp="1"/>
          </p:cNvSpPr>
          <p:nvPr>
            <p:ph type="body" idx="1"/>
          </p:nvPr>
        </p:nvSpPr>
        <p:spPr/>
        <p:txBody>
          <a:bodyPr/>
          <a:lstStyle/>
          <a:p>
            <a:r>
              <a:rPr lang="en-US" dirty="0"/>
              <a:t>I’ll start with a cartoon to help illustrate the process that went into making the next figure. Here I’m juxtaposing the distribution of coalescent event times on the left, a coalescent tree in the middle, and the demographic history schematic on the right.</a:t>
            </a:r>
          </a:p>
        </p:txBody>
      </p:sp>
      <p:sp>
        <p:nvSpPr>
          <p:cNvPr id="4" name="Slide Number Placeholder 3">
            <a:extLst>
              <a:ext uri="{FF2B5EF4-FFF2-40B4-BE49-F238E27FC236}">
                <a16:creationId xmlns:a16="http://schemas.microsoft.com/office/drawing/2014/main" id="{4D9DCEF3-BFBA-78F0-0108-4160A1516926}"/>
              </a:ext>
            </a:extLst>
          </p:cNvPr>
          <p:cNvSpPr>
            <a:spLocks noGrp="1"/>
          </p:cNvSpPr>
          <p:nvPr>
            <p:ph type="sldNum" sz="quarter" idx="5"/>
          </p:nvPr>
        </p:nvSpPr>
        <p:spPr/>
        <p:txBody>
          <a:bodyPr/>
          <a:lstStyle/>
          <a:p>
            <a:fld id="{599CC9A3-A707-4B34-82D4-E64BA4C5A8D1}" type="slidenum">
              <a:rPr lang="en-US" smtClean="0"/>
              <a:t>26</a:t>
            </a:fld>
            <a:endParaRPr lang="en-US"/>
          </a:p>
        </p:txBody>
      </p:sp>
    </p:spTree>
    <p:extLst>
      <p:ext uri="{BB962C8B-B14F-4D97-AF65-F5344CB8AC3E}">
        <p14:creationId xmlns:p14="http://schemas.microsoft.com/office/powerpoint/2010/main" val="3819629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6D1D-7DE3-45A7-0DC7-EF2491BAD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F477F-8D5B-12EE-06B2-7F91AB330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CA824-667D-096B-D985-1603A47159D8}"/>
              </a:ext>
            </a:extLst>
          </p:cNvPr>
          <p:cNvSpPr>
            <a:spLocks noGrp="1"/>
          </p:cNvSpPr>
          <p:nvPr>
            <p:ph type="body" idx="1"/>
          </p:nvPr>
        </p:nvSpPr>
        <p:spPr/>
        <p:txBody>
          <a:bodyPr/>
          <a:lstStyle/>
          <a:p>
            <a:r>
              <a:rPr lang="en-US" dirty="0"/>
              <a:t>Again, because we know the ground truth, we can explicitly calculate the branch lengths and determine which epoch they fall into with respect to the coalescent tree, according to the schematic on the right and the coalescence times on the left.</a:t>
            </a:r>
          </a:p>
        </p:txBody>
      </p:sp>
      <p:sp>
        <p:nvSpPr>
          <p:cNvPr id="4" name="Slide Number Placeholder 3">
            <a:extLst>
              <a:ext uri="{FF2B5EF4-FFF2-40B4-BE49-F238E27FC236}">
                <a16:creationId xmlns:a16="http://schemas.microsoft.com/office/drawing/2014/main" id="{5D4A5FA5-F10A-A948-7CC1-1FFA781A3A49}"/>
              </a:ext>
            </a:extLst>
          </p:cNvPr>
          <p:cNvSpPr>
            <a:spLocks noGrp="1"/>
          </p:cNvSpPr>
          <p:nvPr>
            <p:ph type="sldNum" sz="quarter" idx="5"/>
          </p:nvPr>
        </p:nvSpPr>
        <p:spPr/>
        <p:txBody>
          <a:bodyPr/>
          <a:lstStyle/>
          <a:p>
            <a:fld id="{599CC9A3-A707-4B34-82D4-E64BA4C5A8D1}" type="slidenum">
              <a:rPr lang="en-US" smtClean="0"/>
              <a:t>27</a:t>
            </a:fld>
            <a:endParaRPr lang="en-US"/>
          </a:p>
        </p:txBody>
      </p:sp>
    </p:spTree>
    <p:extLst>
      <p:ext uri="{BB962C8B-B14F-4D97-AF65-F5344CB8AC3E}">
        <p14:creationId xmlns:p14="http://schemas.microsoft.com/office/powerpoint/2010/main" val="3307702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76E6-E6E1-7097-BB7A-4419E4C6B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34A51-AC21-B56D-C9A0-68A6C4963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17D6F-8E16-E34F-EAB1-FC735E8E801A}"/>
              </a:ext>
            </a:extLst>
          </p:cNvPr>
          <p:cNvSpPr>
            <a:spLocks noGrp="1"/>
          </p:cNvSpPr>
          <p:nvPr>
            <p:ph type="body" idx="1"/>
          </p:nvPr>
        </p:nvSpPr>
        <p:spPr/>
        <p:txBody>
          <a:bodyPr/>
          <a:lstStyle/>
          <a:p>
            <a:r>
              <a:rPr lang="en-US" dirty="0"/>
              <a:t>Using this process, here I show the distribution of branch length per epoch.</a:t>
            </a:r>
          </a:p>
        </p:txBody>
      </p:sp>
      <p:sp>
        <p:nvSpPr>
          <p:cNvPr id="4" name="Slide Number Placeholder 3">
            <a:extLst>
              <a:ext uri="{FF2B5EF4-FFF2-40B4-BE49-F238E27FC236}">
                <a16:creationId xmlns:a16="http://schemas.microsoft.com/office/drawing/2014/main" id="{AAF256BE-FBBD-49CA-435A-D0636082B2C3}"/>
              </a:ext>
            </a:extLst>
          </p:cNvPr>
          <p:cNvSpPr>
            <a:spLocks noGrp="1"/>
          </p:cNvSpPr>
          <p:nvPr>
            <p:ph type="sldNum" sz="quarter" idx="5"/>
          </p:nvPr>
        </p:nvSpPr>
        <p:spPr/>
        <p:txBody>
          <a:bodyPr/>
          <a:lstStyle/>
          <a:p>
            <a:fld id="{599CC9A3-A707-4B34-82D4-E64BA4C5A8D1}" type="slidenum">
              <a:rPr lang="en-US" smtClean="0"/>
              <a:t>28</a:t>
            </a:fld>
            <a:endParaRPr lang="en-US"/>
          </a:p>
        </p:txBody>
      </p:sp>
    </p:spTree>
    <p:extLst>
      <p:ext uri="{BB962C8B-B14F-4D97-AF65-F5344CB8AC3E}">
        <p14:creationId xmlns:p14="http://schemas.microsoft.com/office/powerpoint/2010/main" val="16205115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29171-AAE5-BED8-248D-3F5909743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C2D0-FBE0-23A5-1FCD-F60FCC8B99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B07DE-4D4A-175D-264A-DA0F66F56AE4}"/>
              </a:ext>
            </a:extLst>
          </p:cNvPr>
          <p:cNvSpPr>
            <a:spLocks noGrp="1"/>
          </p:cNvSpPr>
          <p:nvPr>
            <p:ph type="body" idx="1"/>
          </p:nvPr>
        </p:nvSpPr>
        <p:spPr/>
        <p:txBody>
          <a:bodyPr/>
          <a:lstStyle/>
          <a:p>
            <a:r>
              <a:rPr lang="en-US" dirty="0"/>
              <a:t>The notation system that I am using here indicates that the ancient contraction happened 2,000 generations ago and the recent growth happened 200 generations ago</a:t>
            </a:r>
          </a:p>
        </p:txBody>
      </p:sp>
      <p:sp>
        <p:nvSpPr>
          <p:cNvPr id="4" name="Slide Number Placeholder 3">
            <a:extLst>
              <a:ext uri="{FF2B5EF4-FFF2-40B4-BE49-F238E27FC236}">
                <a16:creationId xmlns:a16="http://schemas.microsoft.com/office/drawing/2014/main" id="{FF48F126-3900-0235-C806-CE0E565BBAF6}"/>
              </a:ext>
            </a:extLst>
          </p:cNvPr>
          <p:cNvSpPr>
            <a:spLocks noGrp="1"/>
          </p:cNvSpPr>
          <p:nvPr>
            <p:ph type="sldNum" sz="quarter" idx="5"/>
          </p:nvPr>
        </p:nvSpPr>
        <p:spPr/>
        <p:txBody>
          <a:bodyPr/>
          <a:lstStyle/>
          <a:p>
            <a:fld id="{599CC9A3-A707-4B34-82D4-E64BA4C5A8D1}" type="slidenum">
              <a:rPr lang="en-US" smtClean="0"/>
              <a:t>29</a:t>
            </a:fld>
            <a:endParaRPr lang="en-US"/>
          </a:p>
        </p:txBody>
      </p:sp>
    </p:spTree>
    <p:extLst>
      <p:ext uri="{BB962C8B-B14F-4D97-AF65-F5344CB8AC3E}">
        <p14:creationId xmlns:p14="http://schemas.microsoft.com/office/powerpoint/2010/main" val="2215144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2F71-2C46-8FC1-3522-DF626CA96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96B3-005E-6B68-F965-DB7CE05F4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F71F-301D-FD13-C2FA-6A0F9495CC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Data are color-coded by the ground truth epoch in which the branch proportion fell upon the coalescent tree</a:t>
            </a:r>
          </a:p>
        </p:txBody>
      </p:sp>
      <p:sp>
        <p:nvSpPr>
          <p:cNvPr id="4" name="Slide Number Placeholder 3">
            <a:extLst>
              <a:ext uri="{FF2B5EF4-FFF2-40B4-BE49-F238E27FC236}">
                <a16:creationId xmlns:a16="http://schemas.microsoft.com/office/drawing/2014/main" id="{BA1EADFA-4DF3-99FC-FC1D-7E780815D2AC}"/>
              </a:ext>
            </a:extLst>
          </p:cNvPr>
          <p:cNvSpPr>
            <a:spLocks noGrp="1"/>
          </p:cNvSpPr>
          <p:nvPr>
            <p:ph type="sldNum" sz="quarter" idx="5"/>
          </p:nvPr>
        </p:nvSpPr>
        <p:spPr/>
        <p:txBody>
          <a:bodyPr/>
          <a:lstStyle/>
          <a:p>
            <a:fld id="{599CC9A3-A707-4B34-82D4-E64BA4C5A8D1}" type="slidenum">
              <a:rPr lang="en-US" smtClean="0"/>
              <a:t>30</a:t>
            </a:fld>
            <a:endParaRPr lang="en-US"/>
          </a:p>
        </p:txBody>
      </p:sp>
    </p:spTree>
    <p:extLst>
      <p:ext uri="{BB962C8B-B14F-4D97-AF65-F5344CB8AC3E}">
        <p14:creationId xmlns:p14="http://schemas.microsoft.com/office/powerpoint/2010/main" val="20675741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BE5-3BD6-62E2-ACB4-3C2CCC26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DE14C-21B6-2E70-AFA8-D32DFA75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CC5F7-0575-8602-EFCB-3009C1A43061}"/>
              </a:ext>
            </a:extLst>
          </p:cNvPr>
          <p:cNvSpPr>
            <a:spLocks noGrp="1"/>
          </p:cNvSpPr>
          <p:nvPr>
            <p:ph type="body" idx="1"/>
          </p:nvPr>
        </p:nvSpPr>
        <p:spPr/>
        <p:txBody>
          <a:bodyPr/>
          <a:lstStyle/>
          <a:p>
            <a:r>
              <a:rPr lang="en-US" dirty="0"/>
              <a:t>Additionally, data points which are solid and filled in indicate the samples from which a two-epoch demographic model inferred a population contraction, while hollow points indicate an inferred population expansion.</a:t>
            </a:r>
          </a:p>
        </p:txBody>
      </p:sp>
      <p:sp>
        <p:nvSpPr>
          <p:cNvPr id="4" name="Slide Number Placeholder 3">
            <a:extLst>
              <a:ext uri="{FF2B5EF4-FFF2-40B4-BE49-F238E27FC236}">
                <a16:creationId xmlns:a16="http://schemas.microsoft.com/office/drawing/2014/main" id="{B5639E59-B44D-CC61-00FF-E9AF302A43C9}"/>
              </a:ext>
            </a:extLst>
          </p:cNvPr>
          <p:cNvSpPr>
            <a:spLocks noGrp="1"/>
          </p:cNvSpPr>
          <p:nvPr>
            <p:ph type="sldNum" sz="quarter" idx="5"/>
          </p:nvPr>
        </p:nvSpPr>
        <p:spPr/>
        <p:txBody>
          <a:bodyPr/>
          <a:lstStyle/>
          <a:p>
            <a:fld id="{599CC9A3-A707-4B34-82D4-E64BA4C5A8D1}" type="slidenum">
              <a:rPr lang="en-US" smtClean="0"/>
              <a:t>31</a:t>
            </a:fld>
            <a:endParaRPr lang="en-US"/>
          </a:p>
        </p:txBody>
      </p:sp>
    </p:spTree>
    <p:extLst>
      <p:ext uri="{BB962C8B-B14F-4D97-AF65-F5344CB8AC3E}">
        <p14:creationId xmlns:p14="http://schemas.microsoft.com/office/powerpoint/2010/main" val="36608365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ADB5-7F43-AFC8-2721-454845C29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8C0-F498-3A84-B9BA-C9CE0C23E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C642-4D61-C1E2-3D8E-493DF3F21498}"/>
              </a:ext>
            </a:extLst>
          </p:cNvPr>
          <p:cNvSpPr>
            <a:spLocks noGrp="1"/>
          </p:cNvSpPr>
          <p:nvPr>
            <p:ph type="body" idx="1"/>
          </p:nvPr>
        </p:nvSpPr>
        <p:spPr/>
        <p:txBody>
          <a:bodyPr/>
          <a:lstStyle/>
          <a:p>
            <a:r>
              <a:rPr lang="en-US" dirty="0"/>
              <a:t>Of extreme interest, we found that the </a:t>
            </a:r>
            <a:r>
              <a:rPr lang="en-US" sz="1200" b="0" i="0" u="none" strike="noStrike" kern="1200" dirty="0">
                <a:solidFill>
                  <a:schemeClr val="tx1"/>
                </a:solidFill>
                <a:effectLst/>
                <a:latin typeface="+mn-lt"/>
                <a:ea typeface="+mn-ea"/>
                <a:cs typeface="+mn-cs"/>
              </a:rPr>
              <a:t>highest mean proportion of branch lengths corresponded to the epoch whose evolutionary signal was captured by the two-epoch model. As an example, here when the teal data points (the recent expansion epoch) overtake the orange data points (the ancient contraction epoch) is when the inferred evolutionary signal changes from an ancient contraction to a recent expansion.</a:t>
            </a:r>
            <a:endParaRPr lang="en-US" dirty="0"/>
          </a:p>
        </p:txBody>
      </p:sp>
      <p:sp>
        <p:nvSpPr>
          <p:cNvPr id="4" name="Slide Number Placeholder 3">
            <a:extLst>
              <a:ext uri="{FF2B5EF4-FFF2-40B4-BE49-F238E27FC236}">
                <a16:creationId xmlns:a16="http://schemas.microsoft.com/office/drawing/2014/main" id="{4F1D98E3-6F80-0CEC-C3BD-85FF91A2AE01}"/>
              </a:ext>
            </a:extLst>
          </p:cNvPr>
          <p:cNvSpPr>
            <a:spLocks noGrp="1"/>
          </p:cNvSpPr>
          <p:nvPr>
            <p:ph type="sldNum" sz="quarter" idx="5"/>
          </p:nvPr>
        </p:nvSpPr>
        <p:spPr/>
        <p:txBody>
          <a:bodyPr/>
          <a:lstStyle/>
          <a:p>
            <a:fld id="{599CC9A3-A707-4B34-82D4-E64BA4C5A8D1}" type="slidenum">
              <a:rPr lang="en-US" smtClean="0"/>
              <a:t>32</a:t>
            </a:fld>
            <a:endParaRPr lang="en-US"/>
          </a:p>
        </p:txBody>
      </p:sp>
    </p:spTree>
    <p:extLst>
      <p:ext uri="{BB962C8B-B14F-4D97-AF65-F5344CB8AC3E}">
        <p14:creationId xmlns:p14="http://schemas.microsoft.com/office/powerpoint/2010/main" val="21329186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with what little time I have left, I just want to share that we did in fact also apply this analysis to empirical human data, shown here on the right in blue, finding similarly that data sets with fewer individuals infer an ancient contraction while data sets with more individuals infer a recent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33</a:t>
            </a:fld>
            <a:endParaRPr lang="en-US"/>
          </a:p>
        </p:txBody>
      </p:sp>
    </p:spTree>
    <p:extLst>
      <p:ext uri="{BB962C8B-B14F-4D97-AF65-F5344CB8AC3E}">
        <p14:creationId xmlns:p14="http://schemas.microsoft.com/office/powerpoint/2010/main" val="18901641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work, population genetics inference is sensitive to the number of individuals in the data set.</a:t>
            </a:r>
          </a:p>
          <a:p>
            <a:r>
              <a:rPr lang="en-US" dirty="0"/>
              <a:t>We suspect, and are testing, that the dominant evolutionary signal in a two-epoch model is determined by the epoch with the highest proportion of coalescent branch lengths</a:t>
            </a:r>
          </a:p>
          <a:p>
            <a:r>
              <a:rPr lang="en-US" dirty="0"/>
              <a:t>And lastly, this work has important implications for future population genetics studies which similarly infer demography – analyzing data sets of different sample sizes may yield complementary insights into evolutionary history.</a:t>
            </a:r>
          </a:p>
        </p:txBody>
      </p:sp>
      <p:sp>
        <p:nvSpPr>
          <p:cNvPr id="4" name="Slide Number Placeholder 3"/>
          <p:cNvSpPr>
            <a:spLocks noGrp="1"/>
          </p:cNvSpPr>
          <p:nvPr>
            <p:ph type="sldNum" sz="quarter" idx="5"/>
          </p:nvPr>
        </p:nvSpPr>
        <p:spPr/>
        <p:txBody>
          <a:bodyPr/>
          <a:lstStyle/>
          <a:p>
            <a:fld id="{599CC9A3-A707-4B34-82D4-E64BA4C5A8D1}" type="slidenum">
              <a:rPr lang="en-US" smtClean="0"/>
              <a:t>34</a:t>
            </a:fld>
            <a:endParaRPr lang="en-US"/>
          </a:p>
        </p:txBody>
      </p:sp>
    </p:spTree>
    <p:extLst>
      <p:ext uri="{BB962C8B-B14F-4D97-AF65-F5344CB8AC3E}">
        <p14:creationId xmlns:p14="http://schemas.microsoft.com/office/powerpoint/2010/main" val="788477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CD6B1-607D-6293-0592-C74213376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0F351-0649-D6D2-0A27-A8AF59BE7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87BAD-DC76-9D76-8D73-C452BA63F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D0F42-ABB4-1EC3-5F23-6308625B9FCF}"/>
              </a:ext>
            </a:extLst>
          </p:cNvPr>
          <p:cNvSpPr>
            <a:spLocks noGrp="1"/>
          </p:cNvSpPr>
          <p:nvPr>
            <p:ph type="sldNum" sz="quarter" idx="5"/>
          </p:nvPr>
        </p:nvSpPr>
        <p:spPr/>
        <p:txBody>
          <a:bodyPr/>
          <a:lstStyle/>
          <a:p>
            <a:fld id="{599CC9A3-A707-4B34-82D4-E64BA4C5A8D1}" type="slidenum">
              <a:rPr lang="en-US" smtClean="0"/>
              <a:t>35</a:t>
            </a:fld>
            <a:endParaRPr lang="en-US"/>
          </a:p>
        </p:txBody>
      </p:sp>
    </p:spTree>
    <p:extLst>
      <p:ext uri="{BB962C8B-B14F-4D97-AF65-F5344CB8AC3E}">
        <p14:creationId xmlns:p14="http://schemas.microsoft.com/office/powerpoint/2010/main" val="23201728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1F5A7-DD2B-D60D-8159-4EB1C8188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8D0F8-13A9-7A31-8AE0-BDCB10952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1ABA7-6771-A41D-AAEF-C1ACD6548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492BB2-0412-06E5-9E5A-99D5ED5A4A62}"/>
              </a:ext>
            </a:extLst>
          </p:cNvPr>
          <p:cNvSpPr>
            <a:spLocks noGrp="1"/>
          </p:cNvSpPr>
          <p:nvPr>
            <p:ph type="sldNum" sz="quarter" idx="5"/>
          </p:nvPr>
        </p:nvSpPr>
        <p:spPr/>
        <p:txBody>
          <a:bodyPr/>
          <a:lstStyle/>
          <a:p>
            <a:fld id="{599CC9A3-A707-4B34-82D4-E64BA4C5A8D1}" type="slidenum">
              <a:rPr lang="en-US" smtClean="0"/>
              <a:t>36</a:t>
            </a:fld>
            <a:endParaRPr lang="en-US"/>
          </a:p>
        </p:txBody>
      </p:sp>
    </p:spTree>
    <p:extLst>
      <p:ext uri="{BB962C8B-B14F-4D97-AF65-F5344CB8AC3E}">
        <p14:creationId xmlns:p14="http://schemas.microsoft.com/office/powerpoint/2010/main" val="4020965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0777-0AB4-C914-D562-FE424ABF9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FBEF0-8699-BFE1-F423-21739ED0C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65208-6178-4B5F-8AAD-7D0DEB5AA727}"/>
              </a:ext>
            </a:extLst>
          </p:cNvPr>
          <p:cNvSpPr>
            <a:spLocks noGrp="1"/>
          </p:cNvSpPr>
          <p:nvPr>
            <p:ph type="body" idx="1"/>
          </p:nvPr>
        </p:nvSpPr>
        <p:spPr/>
        <p:txBody>
          <a:bodyPr/>
          <a:lstStyle/>
          <a:p>
            <a:r>
              <a:rPr lang="en-US" dirty="0"/>
              <a:t>Toy example: increase mutation rate such that increased number of mutations can tighten up the confidence intervals, decreasing statistical fluctuation</a:t>
            </a:r>
          </a:p>
        </p:txBody>
      </p:sp>
      <p:sp>
        <p:nvSpPr>
          <p:cNvPr id="4" name="Slide Number Placeholder 3">
            <a:extLst>
              <a:ext uri="{FF2B5EF4-FFF2-40B4-BE49-F238E27FC236}">
                <a16:creationId xmlns:a16="http://schemas.microsoft.com/office/drawing/2014/main" id="{25918D0F-16BB-DCE6-B5F0-92264C0E6222}"/>
              </a:ext>
            </a:extLst>
          </p:cNvPr>
          <p:cNvSpPr>
            <a:spLocks noGrp="1"/>
          </p:cNvSpPr>
          <p:nvPr>
            <p:ph type="sldNum" sz="quarter" idx="5"/>
          </p:nvPr>
        </p:nvSpPr>
        <p:spPr/>
        <p:txBody>
          <a:bodyPr/>
          <a:lstStyle/>
          <a:p>
            <a:fld id="{599CC9A3-A707-4B34-82D4-E64BA4C5A8D1}" type="slidenum">
              <a:rPr lang="en-US" smtClean="0"/>
              <a:t>37</a:t>
            </a:fld>
            <a:endParaRPr lang="en-US"/>
          </a:p>
        </p:txBody>
      </p:sp>
    </p:spTree>
    <p:extLst>
      <p:ext uri="{BB962C8B-B14F-4D97-AF65-F5344CB8AC3E}">
        <p14:creationId xmlns:p14="http://schemas.microsoft.com/office/powerpoint/2010/main" val="1615565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705-2123-D97D-A625-222C8D055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D3BF4-8FD4-21E0-6153-E90062BC1D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7841E-7F19-6317-53C8-C73D668C0A50}"/>
              </a:ext>
            </a:extLst>
          </p:cNvPr>
          <p:cNvSpPr>
            <a:spLocks noGrp="1"/>
          </p:cNvSpPr>
          <p:nvPr>
            <p:ph type="body" idx="1"/>
          </p:nvPr>
        </p:nvSpPr>
        <p:spPr/>
        <p:txBody>
          <a:bodyPr/>
          <a:lstStyle/>
          <a:p>
            <a:r>
              <a:rPr lang="en-US" dirty="0"/>
              <a:t>In this case we’re not exactly sure what’s going on. The highest mean proportion of branch length corresponds to the Ancestral epoch, followed by the recent epoch, and then the bottleneck epoch. The only simulated contraction occurs going from the ancestral to the bottleneck epoch, yet the inferred demographic model is a contraction </a:t>
            </a:r>
          </a:p>
          <a:p>
            <a:endParaRPr lang="en-US" dirty="0"/>
          </a:p>
          <a:p>
            <a:endParaRPr lang="en-US" dirty="0"/>
          </a:p>
          <a:p>
            <a:r>
              <a:rPr lang="en-US" dirty="0"/>
              <a:t>At a given size change, how many lineages survive, distribution of lineages which survive</a:t>
            </a:r>
          </a:p>
        </p:txBody>
      </p:sp>
      <p:sp>
        <p:nvSpPr>
          <p:cNvPr id="4" name="Slide Number Placeholder 3">
            <a:extLst>
              <a:ext uri="{FF2B5EF4-FFF2-40B4-BE49-F238E27FC236}">
                <a16:creationId xmlns:a16="http://schemas.microsoft.com/office/drawing/2014/main" id="{FACA5DAF-473E-0CF1-0C81-4951D79B4A9E}"/>
              </a:ext>
            </a:extLst>
          </p:cNvPr>
          <p:cNvSpPr>
            <a:spLocks noGrp="1"/>
          </p:cNvSpPr>
          <p:nvPr>
            <p:ph type="sldNum" sz="quarter" idx="5"/>
          </p:nvPr>
        </p:nvSpPr>
        <p:spPr/>
        <p:txBody>
          <a:bodyPr/>
          <a:lstStyle/>
          <a:p>
            <a:fld id="{599CC9A3-A707-4B34-82D4-E64BA4C5A8D1}" type="slidenum">
              <a:rPr lang="en-US" smtClean="0"/>
              <a:t>38</a:t>
            </a:fld>
            <a:endParaRPr lang="en-US"/>
          </a:p>
        </p:txBody>
      </p:sp>
    </p:spTree>
    <p:extLst>
      <p:ext uri="{BB962C8B-B14F-4D97-AF65-F5344CB8AC3E}">
        <p14:creationId xmlns:p14="http://schemas.microsoft.com/office/powerpoint/2010/main" val="6547951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451A-5CEC-950C-AFC6-5E7236F46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040F6-B1C4-8F76-4BF8-97FA3930E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39F1A-700D-BA13-8648-DD29E06824CB}"/>
              </a:ext>
            </a:extLst>
          </p:cNvPr>
          <p:cNvSpPr>
            <a:spLocks noGrp="1"/>
          </p:cNvSpPr>
          <p:nvPr>
            <p:ph type="body" idx="1"/>
          </p:nvPr>
        </p:nvSpPr>
        <p:spPr/>
        <p:txBody>
          <a:bodyPr/>
          <a:lstStyle/>
          <a:p>
            <a:r>
              <a:rPr lang="en-US" dirty="0"/>
              <a:t>Here on the top I’m showing the model fits for a one-epoch model, which consists of no change in population size. It’s essentially the fit of data to a standard neutral model scaled to have the same underlying Theta</a:t>
            </a:r>
          </a:p>
        </p:txBody>
      </p:sp>
      <p:sp>
        <p:nvSpPr>
          <p:cNvPr id="4" name="Slide Number Placeholder 3">
            <a:extLst>
              <a:ext uri="{FF2B5EF4-FFF2-40B4-BE49-F238E27FC236}">
                <a16:creationId xmlns:a16="http://schemas.microsoft.com/office/drawing/2014/main" id="{7A855ADE-1E09-1CED-9752-8A3B92B7F4E1}"/>
              </a:ext>
            </a:extLst>
          </p:cNvPr>
          <p:cNvSpPr>
            <a:spLocks noGrp="1"/>
          </p:cNvSpPr>
          <p:nvPr>
            <p:ph type="sldNum" sz="quarter" idx="5"/>
          </p:nvPr>
        </p:nvSpPr>
        <p:spPr/>
        <p:txBody>
          <a:bodyPr/>
          <a:lstStyle/>
          <a:p>
            <a:fld id="{599CC9A3-A707-4B34-82D4-E64BA4C5A8D1}" type="slidenum">
              <a:rPr lang="en-US" smtClean="0"/>
              <a:t>39</a:t>
            </a:fld>
            <a:endParaRPr lang="en-US"/>
          </a:p>
        </p:txBody>
      </p:sp>
    </p:spTree>
    <p:extLst>
      <p:ext uri="{BB962C8B-B14F-4D97-AF65-F5344CB8AC3E}">
        <p14:creationId xmlns:p14="http://schemas.microsoft.com/office/powerpoint/2010/main" val="36814004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9364-BD48-8ACF-6BAB-1D7C9F784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6522B-7BCA-798E-68E8-6DD044947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5B95E-FBCB-AA7E-9E87-7DB725855EE2}"/>
              </a:ext>
            </a:extLst>
          </p:cNvPr>
          <p:cNvSpPr>
            <a:spLocks noGrp="1"/>
          </p:cNvSpPr>
          <p:nvPr>
            <p:ph type="body" idx="1"/>
          </p:nvPr>
        </p:nvSpPr>
        <p:spPr/>
        <p:txBody>
          <a:bodyPr/>
          <a:lstStyle/>
          <a:p>
            <a:r>
              <a:rPr lang="en-US" dirty="0"/>
              <a:t>We can compare this to the numerical outputs of the two-epoch model fit, which has a substantially higher log likelihood. The model parameters are Nu and Tau respectively, denoting the change in effective population size relative to the ancestral population, and the inferred timing of the contraction.</a:t>
            </a:r>
          </a:p>
        </p:txBody>
      </p:sp>
      <p:sp>
        <p:nvSpPr>
          <p:cNvPr id="4" name="Slide Number Placeholder 3">
            <a:extLst>
              <a:ext uri="{FF2B5EF4-FFF2-40B4-BE49-F238E27FC236}">
                <a16:creationId xmlns:a16="http://schemas.microsoft.com/office/drawing/2014/main" id="{041389B9-D932-AB06-5EE2-486699261A49}"/>
              </a:ext>
            </a:extLst>
          </p:cNvPr>
          <p:cNvSpPr>
            <a:spLocks noGrp="1"/>
          </p:cNvSpPr>
          <p:nvPr>
            <p:ph type="sldNum" sz="quarter" idx="5"/>
          </p:nvPr>
        </p:nvSpPr>
        <p:spPr/>
        <p:txBody>
          <a:bodyPr/>
          <a:lstStyle/>
          <a:p>
            <a:fld id="{599CC9A3-A707-4B34-82D4-E64BA4C5A8D1}" type="slidenum">
              <a:rPr lang="en-US" smtClean="0"/>
              <a:t>40</a:t>
            </a:fld>
            <a:endParaRPr lang="en-US"/>
          </a:p>
        </p:txBody>
      </p:sp>
    </p:spTree>
    <p:extLst>
      <p:ext uri="{BB962C8B-B14F-4D97-AF65-F5344CB8AC3E}">
        <p14:creationId xmlns:p14="http://schemas.microsoft.com/office/powerpoint/2010/main" val="26625269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A70C9-7C5E-9D96-BB00-C9BB91051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79986-2937-BB50-94C2-72F664D2D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4A910-F48B-6B5F-6D2C-7380B1CA6742}"/>
              </a:ext>
            </a:extLst>
          </p:cNvPr>
          <p:cNvSpPr>
            <a:spLocks noGrp="1"/>
          </p:cNvSpPr>
          <p:nvPr>
            <p:ph type="body" idx="1"/>
          </p:nvPr>
        </p:nvSpPr>
        <p:spPr/>
        <p:txBody>
          <a:bodyPr/>
          <a:lstStyle/>
          <a:p>
            <a:r>
              <a:rPr lang="en-US" dirty="0"/>
              <a:t>In my second chapter I’ll be investigating how the number of individuals in a data set can influence the evolutionary stories that we infer from population genetic data.</a:t>
            </a:r>
          </a:p>
          <a:p>
            <a:endParaRPr lang="en-US" dirty="0"/>
          </a:p>
          <a:p>
            <a:r>
              <a:rPr lang="en-US" dirty="0"/>
              <a:t>As a quick note, we do have a first draft of the manuscript, I’ve gotten comments from Kirk that I’m working on addressing, and we’re wrapping up some final </a:t>
            </a:r>
            <a:r>
              <a:rPr lang="en-US" dirty="0" err="1"/>
              <a:t>final</a:t>
            </a:r>
            <a:r>
              <a:rPr lang="en-US" dirty="0"/>
              <a:t> analysis which I’ll get into greater detail later.</a:t>
            </a:r>
          </a:p>
        </p:txBody>
      </p:sp>
      <p:sp>
        <p:nvSpPr>
          <p:cNvPr id="4" name="Slide Number Placeholder 3">
            <a:extLst>
              <a:ext uri="{FF2B5EF4-FFF2-40B4-BE49-F238E27FC236}">
                <a16:creationId xmlns:a16="http://schemas.microsoft.com/office/drawing/2014/main" id="{A939B7D9-BE4D-548C-F161-AA90F359AAEE}"/>
              </a:ext>
            </a:extLst>
          </p:cNvPr>
          <p:cNvSpPr>
            <a:spLocks noGrp="1"/>
          </p:cNvSpPr>
          <p:nvPr>
            <p:ph type="sldNum" sz="quarter" idx="5"/>
          </p:nvPr>
        </p:nvSpPr>
        <p:spPr/>
        <p:txBody>
          <a:bodyPr/>
          <a:lstStyle/>
          <a:p>
            <a:fld id="{599CC9A3-A707-4B34-82D4-E64BA4C5A8D1}" type="slidenum">
              <a:rPr lang="en-US" smtClean="0"/>
              <a:t>41</a:t>
            </a:fld>
            <a:endParaRPr lang="en-US"/>
          </a:p>
        </p:txBody>
      </p:sp>
    </p:spTree>
    <p:extLst>
      <p:ext uri="{BB962C8B-B14F-4D97-AF65-F5344CB8AC3E}">
        <p14:creationId xmlns:p14="http://schemas.microsoft.com/office/powerpoint/2010/main" val="16367927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Covered California Data Scientist, Anthropology Research. Reach out to Abby Bigham</a:t>
            </a:r>
          </a:p>
          <a:p>
            <a:endParaRPr lang="en-US" dirty="0"/>
          </a:p>
          <a:p>
            <a:r>
              <a:rPr lang="en-US" dirty="0"/>
              <a:t>Rachel, Bob Wayne, UC Santa Cruz</a:t>
            </a:r>
          </a:p>
          <a:p>
            <a:endParaRPr lang="en-US" dirty="0"/>
          </a:p>
          <a:p>
            <a:r>
              <a:rPr lang="en-US" dirty="0"/>
              <a:t>PI at UC Irvine</a:t>
            </a:r>
          </a:p>
          <a:p>
            <a:endParaRPr lang="en-US" dirty="0"/>
          </a:p>
          <a:p>
            <a:r>
              <a:rPr lang="en-US" dirty="0"/>
              <a:t>JGI</a:t>
            </a:r>
          </a:p>
          <a:p>
            <a:endParaRPr lang="en-US" dirty="0"/>
          </a:p>
          <a:p>
            <a:r>
              <a:rPr lang="en-US" dirty="0" err="1"/>
              <a:t>Sandio</a:t>
            </a:r>
            <a:r>
              <a:rPr lang="en-US"/>
              <a:t> Labs (San Francisco)</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99CC9A3-A707-4B34-82D4-E64BA4C5A8D1}" type="slidenum">
              <a:rPr lang="en-US" smtClean="0"/>
              <a:t>51</a:t>
            </a:fld>
            <a:endParaRPr lang="en-US"/>
          </a:p>
        </p:txBody>
      </p:sp>
    </p:spTree>
    <p:extLst>
      <p:ext uri="{BB962C8B-B14F-4D97-AF65-F5344CB8AC3E}">
        <p14:creationId xmlns:p14="http://schemas.microsoft.com/office/powerpoint/2010/main" val="2585788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43479" y="1981200"/>
            <a:ext cx="8117840" cy="467360"/>
          </a:xfrm>
          <a:prstGeom prst="rect">
            <a:avLst/>
          </a:prstGeom>
        </p:spPr>
        <p:txBody>
          <a:bodyPr wrap="square" lIns="0" tIns="0" rIns="0" bIns="0">
            <a:spAutoFit/>
          </a:bodyPr>
          <a:lstStyle>
            <a:lvl1pPr>
              <a:defRPr sz="2900" b="1"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63550" y="965200"/>
            <a:ext cx="12077700" cy="726439"/>
          </a:xfrm>
          <a:prstGeom prst="rect">
            <a:avLst/>
          </a:prstGeom>
        </p:spPr>
        <p:txBody>
          <a:bodyPr wrap="square" lIns="0" tIns="0" rIns="0" bIns="0">
            <a:spAutoFit/>
          </a:bodyPr>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a:xfrm>
            <a:off x="825500" y="2889468"/>
            <a:ext cx="11353800" cy="46977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20</a:t>
            </a:r>
            <a:r>
              <a:rPr lang="en-US" sz="3000" spc="-5" baseline="30000" dirty="0">
                <a:solidFill>
                  <a:srgbClr val="929292"/>
                </a:solidFill>
                <a:latin typeface="Yu Gothic" panose="020B0400000000000000" pitchFamily="34" charset="-128"/>
                <a:ea typeface="Yu Gothic" panose="020B0400000000000000" pitchFamily="34" charset="-128"/>
                <a:cs typeface="Arial"/>
              </a:rPr>
              <a:t>th</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AD6DB52D-17F9-4306-A1FC-B865C5238BD0}"/>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Statistical methods for inference of demography and selection within and across species</a:t>
            </a:r>
          </a:p>
        </p:txBody>
      </p:sp>
      <p:sp>
        <p:nvSpPr>
          <p:cNvPr id="11" name="TextBox 10">
            <a:extLst>
              <a:ext uri="{FF2B5EF4-FFF2-40B4-BE49-F238E27FC236}">
                <a16:creationId xmlns:a16="http://schemas.microsoft.com/office/drawing/2014/main" id="{B48B4FF3-A434-4072-B1FF-5978C4B2E3EE}"/>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FD5B8C46-7892-4332-A912-BB42DBE868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noFill/>
          </a:ln>
        </p:spPr>
      </p:pic>
      <p:pic>
        <p:nvPicPr>
          <p:cNvPr id="1026" name="Picture 2" descr="UCLA Script logo">
            <a:extLst>
              <a:ext uri="{FF2B5EF4-FFF2-40B4-BE49-F238E27FC236}">
                <a16:creationId xmlns:a16="http://schemas.microsoft.com/office/drawing/2014/main" id="{50AB20AC-74B1-4E05-A141-D9EEC5E65B6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B711CA-D11E-48FF-B2D9-E567242ECE59}"/>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1C74A550-D954-E2EA-D13E-E68BB8DCF71A}"/>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9">
            <a:extLst>
              <a:ext uri="{FF2B5EF4-FFF2-40B4-BE49-F238E27FC236}">
                <a16:creationId xmlns:a16="http://schemas.microsoft.com/office/drawing/2014/main" id="{2FD9DDC5-F19D-6D12-F708-19EAC3F85254}"/>
              </a:ext>
            </a:extLst>
          </p:cNvPr>
          <p:cNvSpPr txBox="1">
            <a:spLocks/>
          </p:cNvSpPr>
          <p:nvPr/>
        </p:nvSpPr>
        <p:spPr>
          <a:xfrm>
            <a:off x="463550" y="3962400"/>
            <a:ext cx="12077700" cy="707886"/>
          </a:xfrm>
          <a:prstGeom prst="rect">
            <a:avLst/>
          </a:prstGeom>
        </p:spPr>
        <p:txBody>
          <a:bodyPr wrap="square" lIns="0" tIns="0" rIns="0" bIns="0">
            <a:spAutoFit/>
          </a:bodyPr>
          <a:lstStyle>
            <a:lvl1pPr>
              <a:defRPr sz="2900" b="1" i="0">
                <a:solidFill>
                  <a:schemeClr val="tx1"/>
                </a:solidFill>
                <a:latin typeface="Arial"/>
                <a:ea typeface="+mj-ea"/>
                <a:cs typeface="Arial"/>
              </a:defRPr>
            </a:lvl1pPr>
          </a:lstStyle>
          <a:p>
            <a:pPr algn="ctr"/>
            <a:r>
              <a:rPr lang="en-US" sz="4600" kern="0" dirty="0">
                <a:latin typeface="Yu Gothic" panose="020B0400000000000000" pitchFamily="34" charset="-128"/>
                <a:ea typeface="Yu Gothic" panose="020B0400000000000000" pitchFamily="34" charset="-128"/>
                <a:cs typeface="Arial" panose="020B0604020202020204" pitchFamily="34" charset="0"/>
              </a:rPr>
              <a:t>General updates and logistics</a:t>
            </a:r>
          </a:p>
        </p:txBody>
      </p:sp>
    </p:spTree>
    <p:extLst>
      <p:ext uri="{BB962C8B-B14F-4D97-AF65-F5344CB8AC3E}">
        <p14:creationId xmlns:p14="http://schemas.microsoft.com/office/powerpoint/2010/main" val="4159860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6BAB4-57CF-B7EE-E47A-CABE1FD5A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52423-A638-F099-0452-61A94E55C1B1}"/>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I’m funded by the Dissertation Year Award</a:t>
            </a:r>
          </a:p>
        </p:txBody>
      </p:sp>
      <p:pic>
        <p:nvPicPr>
          <p:cNvPr id="5" name="Picture 4">
            <a:extLst>
              <a:ext uri="{FF2B5EF4-FFF2-40B4-BE49-F238E27FC236}">
                <a16:creationId xmlns:a16="http://schemas.microsoft.com/office/drawing/2014/main" id="{C55A5F19-DE63-EB2E-984D-49184B760E0E}"/>
              </a:ext>
            </a:extLst>
          </p:cNvPr>
          <p:cNvPicPr>
            <a:picLocks noChangeAspect="1"/>
          </p:cNvPicPr>
          <p:nvPr/>
        </p:nvPicPr>
        <p:blipFill>
          <a:blip r:embed="rId3"/>
          <a:stretch>
            <a:fillRect/>
          </a:stretch>
        </p:blipFill>
        <p:spPr>
          <a:xfrm>
            <a:off x="701675" y="2514600"/>
            <a:ext cx="11601450" cy="6468786"/>
          </a:xfrm>
          <a:prstGeom prst="rect">
            <a:avLst/>
          </a:prstGeom>
        </p:spPr>
      </p:pic>
      <p:sp>
        <p:nvSpPr>
          <p:cNvPr id="6" name="Rectangle 5">
            <a:extLst>
              <a:ext uri="{FF2B5EF4-FFF2-40B4-BE49-F238E27FC236}">
                <a16:creationId xmlns:a16="http://schemas.microsoft.com/office/drawing/2014/main" id="{9587FB5B-9CCA-C2F6-5321-D87B8BAD8409}"/>
              </a:ext>
            </a:extLst>
          </p:cNvPr>
          <p:cNvSpPr/>
          <p:nvPr/>
        </p:nvSpPr>
        <p:spPr>
          <a:xfrm>
            <a:off x="939800" y="3962400"/>
            <a:ext cx="11252200" cy="15430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1090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B184-84BF-F388-0258-D4485092B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6BA88-8763-EE97-1336-D599E67782B8}"/>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I’m funded by the Dissertation Year Award</a:t>
            </a:r>
          </a:p>
        </p:txBody>
      </p:sp>
      <p:pic>
        <p:nvPicPr>
          <p:cNvPr id="4" name="Picture 3">
            <a:extLst>
              <a:ext uri="{FF2B5EF4-FFF2-40B4-BE49-F238E27FC236}">
                <a16:creationId xmlns:a16="http://schemas.microsoft.com/office/drawing/2014/main" id="{C9774E57-81A2-3967-D4B2-9C5982579CF1}"/>
              </a:ext>
            </a:extLst>
          </p:cNvPr>
          <p:cNvPicPr>
            <a:picLocks noChangeAspect="1"/>
          </p:cNvPicPr>
          <p:nvPr/>
        </p:nvPicPr>
        <p:blipFill>
          <a:blip r:embed="rId3"/>
          <a:stretch>
            <a:fillRect/>
          </a:stretch>
        </p:blipFill>
        <p:spPr>
          <a:xfrm>
            <a:off x="269962" y="2286000"/>
            <a:ext cx="12464876" cy="7010400"/>
          </a:xfrm>
          <a:prstGeom prst="rect">
            <a:avLst/>
          </a:prstGeom>
        </p:spPr>
      </p:pic>
    </p:spTree>
    <p:extLst>
      <p:ext uri="{BB962C8B-B14F-4D97-AF65-F5344CB8AC3E}">
        <p14:creationId xmlns:p14="http://schemas.microsoft.com/office/powerpoint/2010/main" val="4062623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9602-264E-7255-923F-835588734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7B37C-52ED-873F-AFA5-5364C6DF8BD8}"/>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Thesis chapter overview</a:t>
            </a:r>
          </a:p>
        </p:txBody>
      </p:sp>
      <p:sp>
        <p:nvSpPr>
          <p:cNvPr id="3" name="Text Placeholder 2">
            <a:extLst>
              <a:ext uri="{FF2B5EF4-FFF2-40B4-BE49-F238E27FC236}">
                <a16:creationId xmlns:a16="http://schemas.microsoft.com/office/drawing/2014/main" id="{D3CF7DDC-0562-D736-4A2E-225A746C8434}"/>
              </a:ext>
            </a:extLst>
          </p:cNvPr>
          <p:cNvSpPr>
            <a:spLocks noGrp="1"/>
          </p:cNvSpPr>
          <p:nvPr>
            <p:ph type="body" idx="1"/>
          </p:nvPr>
        </p:nvSpPr>
        <p:spPr>
          <a:xfrm>
            <a:off x="825500" y="2889468"/>
            <a:ext cx="11353800" cy="5909310"/>
          </a:xfrm>
        </p:spPr>
        <p:txBody>
          <a:bodyPr/>
          <a:lstStyle/>
          <a:p>
            <a:pPr marL="514350" indent="-514350">
              <a:buFont typeface="+mj-lt"/>
              <a:buAutoNum type="arabicPeriod"/>
            </a:pPr>
            <a:r>
              <a:rPr lang="en-US" sz="3200" b="1" dirty="0">
                <a:latin typeface="Yu Gothic" panose="020B0400000000000000" pitchFamily="34" charset="-128"/>
                <a:ea typeface="Yu Gothic" panose="020B0400000000000000" pitchFamily="34" charset="-128"/>
              </a:rPr>
              <a:t>What is the population demographic history and distribution of fitness effects of human gut commensal bacteria?</a:t>
            </a:r>
            <a:br>
              <a:rPr lang="en-US" sz="3200" dirty="0">
                <a:latin typeface="Yu Gothic" panose="020B0400000000000000" pitchFamily="34" charset="-128"/>
                <a:ea typeface="Yu Gothic" panose="020B0400000000000000" pitchFamily="34" charset="-128"/>
              </a:rPr>
            </a:br>
            <a:br>
              <a:rPr lang="en-US" sz="3200" dirty="0">
                <a:latin typeface="Yu Gothic" panose="020B0400000000000000" pitchFamily="34" charset="-128"/>
                <a:ea typeface="Yu Gothic" panose="020B0400000000000000" pitchFamily="34" charset="-128"/>
              </a:rPr>
            </a:br>
            <a:endParaRPr lang="en-US" sz="3200" dirty="0">
              <a:latin typeface="Yu Gothic" panose="020B0400000000000000" pitchFamily="34" charset="-128"/>
              <a:ea typeface="Yu Gothic" panose="020B0400000000000000" pitchFamily="34" charset="-128"/>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br>
              <a:rPr lang="en-US" sz="3200" dirty="0">
                <a:latin typeface="Yu Gothic" panose="020B0400000000000000" pitchFamily="34" charset="-128"/>
                <a:ea typeface="Yu Gothic" panose="020B0400000000000000" pitchFamily="34" charset="-128"/>
                <a:cs typeface="Arial" panose="020B0604020202020204" pitchFamily="34" charset="0"/>
              </a:rPr>
            </a:br>
            <a:br>
              <a:rPr lang="en-US" sz="3200" dirty="0">
                <a:latin typeface="Yu Gothic" panose="020B0400000000000000" pitchFamily="34" charset="-128"/>
                <a:ea typeface="Yu Gothic" panose="020B0400000000000000" pitchFamily="34" charset="-128"/>
                <a:cs typeface="Arial" panose="020B0604020202020204" pitchFamily="34" charset="0"/>
              </a:rPr>
            </a:br>
            <a:endParaRPr lang="en-US" sz="3200" dirty="0">
              <a:latin typeface="Yu Gothic" panose="020B0400000000000000" pitchFamily="34" charset="-128"/>
              <a:ea typeface="Yu Gothic" panose="020B0400000000000000" pitchFamily="34" charset="-128"/>
              <a:cs typeface="Arial" panose="020B0604020202020204" pitchFamily="34" charset="0"/>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 differences between population genetic datasets affect their distribution of fitness effects?</a:t>
            </a:r>
            <a:endParaRPr lang="en-US" sz="3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951066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BC793-C33E-9EA8-F56C-9D458641E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211CE-FB5E-1069-5E40-0CAD909F5A89}"/>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Thesis chapter 1 is published in </a:t>
            </a:r>
            <a:r>
              <a:rPr lang="en-US" i="1" dirty="0">
                <a:latin typeface="Yu Gothic" panose="020B0400000000000000" pitchFamily="34" charset="-128"/>
                <a:ea typeface="Yu Gothic" panose="020B0400000000000000" pitchFamily="34" charset="-128"/>
              </a:rPr>
              <a:t>Molecular Biology and Evolution</a:t>
            </a:r>
            <a:endParaRPr lang="en-US" dirty="0">
              <a:latin typeface="Yu Gothic" panose="020B0400000000000000" pitchFamily="34" charset="-128"/>
              <a:ea typeface="Yu Gothic" panose="020B0400000000000000" pitchFamily="34" charset="-128"/>
            </a:endParaRPr>
          </a:p>
        </p:txBody>
      </p:sp>
      <p:pic>
        <p:nvPicPr>
          <p:cNvPr id="5" name="Picture 4">
            <a:extLst>
              <a:ext uri="{FF2B5EF4-FFF2-40B4-BE49-F238E27FC236}">
                <a16:creationId xmlns:a16="http://schemas.microsoft.com/office/drawing/2014/main" id="{0226EB26-88B1-B0EF-AA57-AECDBF45CA94}"/>
              </a:ext>
            </a:extLst>
          </p:cNvPr>
          <p:cNvPicPr>
            <a:picLocks noChangeAspect="1"/>
          </p:cNvPicPr>
          <p:nvPr/>
        </p:nvPicPr>
        <p:blipFill>
          <a:blip r:embed="rId3"/>
          <a:stretch>
            <a:fillRect/>
          </a:stretch>
        </p:blipFill>
        <p:spPr>
          <a:xfrm>
            <a:off x="854075" y="2380972"/>
            <a:ext cx="11296650" cy="4938157"/>
          </a:xfrm>
          <a:prstGeom prst="rect">
            <a:avLst/>
          </a:prstGeom>
        </p:spPr>
      </p:pic>
    </p:spTree>
    <p:extLst>
      <p:ext uri="{BB962C8B-B14F-4D97-AF65-F5344CB8AC3E}">
        <p14:creationId xmlns:p14="http://schemas.microsoft.com/office/powerpoint/2010/main" val="398749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7EC32-BFFC-CED5-D04D-CE9020599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4CC15-28B2-4B0A-8708-BAFDCEC4AEE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Thesis chapter 1 is published in </a:t>
            </a:r>
            <a:r>
              <a:rPr lang="en-US" i="1" dirty="0">
                <a:latin typeface="Yu Gothic" panose="020B0400000000000000" pitchFamily="34" charset="-128"/>
                <a:ea typeface="Yu Gothic" panose="020B0400000000000000" pitchFamily="34" charset="-128"/>
              </a:rPr>
              <a:t>Molecular Biology and Evolution</a:t>
            </a:r>
            <a:endParaRPr lang="en-US" dirty="0">
              <a:latin typeface="Yu Gothic" panose="020B0400000000000000" pitchFamily="34" charset="-128"/>
              <a:ea typeface="Yu Gothic" panose="020B0400000000000000" pitchFamily="34" charset="-128"/>
            </a:endParaRPr>
          </a:p>
        </p:txBody>
      </p:sp>
      <p:pic>
        <p:nvPicPr>
          <p:cNvPr id="5" name="Picture 4">
            <a:extLst>
              <a:ext uri="{FF2B5EF4-FFF2-40B4-BE49-F238E27FC236}">
                <a16:creationId xmlns:a16="http://schemas.microsoft.com/office/drawing/2014/main" id="{FF337685-11BD-17D3-DC6C-50506EED37D6}"/>
              </a:ext>
            </a:extLst>
          </p:cNvPr>
          <p:cNvPicPr>
            <a:picLocks noChangeAspect="1"/>
          </p:cNvPicPr>
          <p:nvPr/>
        </p:nvPicPr>
        <p:blipFill>
          <a:blip r:embed="rId3"/>
          <a:stretch>
            <a:fillRect/>
          </a:stretch>
        </p:blipFill>
        <p:spPr>
          <a:xfrm>
            <a:off x="854075" y="2380972"/>
            <a:ext cx="11296650" cy="4938157"/>
          </a:xfrm>
          <a:prstGeom prst="rect">
            <a:avLst/>
          </a:prstGeom>
        </p:spPr>
      </p:pic>
      <p:pic>
        <p:nvPicPr>
          <p:cNvPr id="4" name="Picture 3">
            <a:extLst>
              <a:ext uri="{FF2B5EF4-FFF2-40B4-BE49-F238E27FC236}">
                <a16:creationId xmlns:a16="http://schemas.microsoft.com/office/drawing/2014/main" id="{E3CEF92C-8956-0D6E-88F0-E354F2E408CD}"/>
              </a:ext>
            </a:extLst>
          </p:cNvPr>
          <p:cNvPicPr>
            <a:picLocks noChangeAspect="1"/>
          </p:cNvPicPr>
          <p:nvPr/>
        </p:nvPicPr>
        <p:blipFill>
          <a:blip r:embed="rId4"/>
          <a:stretch>
            <a:fillRect/>
          </a:stretch>
        </p:blipFill>
        <p:spPr>
          <a:xfrm>
            <a:off x="1447993" y="7408773"/>
            <a:ext cx="10108814" cy="2344827"/>
          </a:xfrm>
          <a:prstGeom prst="rect">
            <a:avLst/>
          </a:prstGeom>
        </p:spPr>
      </p:pic>
      <p:sp>
        <p:nvSpPr>
          <p:cNvPr id="3" name="Rectangle 2">
            <a:extLst>
              <a:ext uri="{FF2B5EF4-FFF2-40B4-BE49-F238E27FC236}">
                <a16:creationId xmlns:a16="http://schemas.microsoft.com/office/drawing/2014/main" id="{9AE27AC5-F502-9B4E-9726-714278951536}"/>
              </a:ext>
            </a:extLst>
          </p:cNvPr>
          <p:cNvSpPr/>
          <p:nvPr/>
        </p:nvSpPr>
        <p:spPr>
          <a:xfrm>
            <a:off x="3530600" y="9220201"/>
            <a:ext cx="1295400" cy="4953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6006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72BB0-E6CB-B209-3578-B9231446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8EB43-EC54-0C89-337A-4132004ED25D}"/>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Thesis chapter overview</a:t>
            </a:r>
          </a:p>
        </p:txBody>
      </p:sp>
      <p:sp>
        <p:nvSpPr>
          <p:cNvPr id="3" name="Text Placeholder 2">
            <a:extLst>
              <a:ext uri="{FF2B5EF4-FFF2-40B4-BE49-F238E27FC236}">
                <a16:creationId xmlns:a16="http://schemas.microsoft.com/office/drawing/2014/main" id="{A2339E6B-4AA7-8AE9-865C-DC799A4FF8F4}"/>
              </a:ext>
            </a:extLst>
          </p:cNvPr>
          <p:cNvSpPr>
            <a:spLocks noGrp="1"/>
          </p:cNvSpPr>
          <p:nvPr>
            <p:ph type="body" idx="1"/>
          </p:nvPr>
        </p:nvSpPr>
        <p:spPr>
          <a:xfrm>
            <a:off x="825500" y="2889468"/>
            <a:ext cx="11353800" cy="5909310"/>
          </a:xfrm>
        </p:spPr>
        <p:txBody>
          <a:bodyPr/>
          <a:lstStyle/>
          <a:p>
            <a:pPr marL="514350" indent="-514350">
              <a:buFont typeface="+mj-lt"/>
              <a:buAutoNum type="arabicPeriod"/>
            </a:pPr>
            <a:r>
              <a:rPr lang="en-US" sz="3200" dirty="0">
                <a:latin typeface="Yu Gothic" panose="020B0400000000000000" pitchFamily="34" charset="-128"/>
                <a:ea typeface="Yu Gothic" panose="020B0400000000000000" pitchFamily="34" charset="-128"/>
              </a:rPr>
              <a:t>What is the population demographic history and distribution of selective effects of human gut commensal bacteria?</a:t>
            </a:r>
            <a:br>
              <a:rPr lang="en-US" sz="3200" dirty="0">
                <a:latin typeface="Yu Gothic" panose="020B0400000000000000" pitchFamily="34" charset="-128"/>
                <a:ea typeface="Yu Gothic" panose="020B0400000000000000" pitchFamily="34" charset="-128"/>
              </a:rPr>
            </a:br>
            <a:br>
              <a:rPr lang="en-US" sz="3200" dirty="0">
                <a:latin typeface="Yu Gothic" panose="020B0400000000000000" pitchFamily="34" charset="-128"/>
                <a:ea typeface="Yu Gothic" panose="020B0400000000000000" pitchFamily="34" charset="-128"/>
              </a:rPr>
            </a:br>
            <a:endParaRPr lang="en-US" sz="3200" dirty="0">
              <a:latin typeface="Yu Gothic" panose="020B0400000000000000" pitchFamily="34" charset="-128"/>
              <a:ea typeface="Yu Gothic" panose="020B0400000000000000" pitchFamily="34" charset="-128"/>
            </a:endParaRPr>
          </a:p>
          <a:p>
            <a:pPr marL="514350" indent="-514350">
              <a:buFont typeface="+mj-lt"/>
              <a:buAutoNum type="arabicPeriod"/>
            </a:pPr>
            <a:r>
              <a:rPr lang="en-US" sz="3200" b="1"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br>
              <a:rPr lang="en-US" sz="3200" dirty="0">
                <a:latin typeface="Yu Gothic" panose="020B0400000000000000" pitchFamily="34" charset="-128"/>
                <a:ea typeface="Yu Gothic" panose="020B0400000000000000" pitchFamily="34" charset="-128"/>
                <a:cs typeface="Arial" panose="020B0604020202020204" pitchFamily="34" charset="0"/>
              </a:rPr>
            </a:br>
            <a:br>
              <a:rPr lang="en-US" sz="3200" dirty="0">
                <a:latin typeface="Yu Gothic" panose="020B0400000000000000" pitchFamily="34" charset="-128"/>
                <a:ea typeface="Yu Gothic" panose="020B0400000000000000" pitchFamily="34" charset="-128"/>
                <a:cs typeface="Arial" panose="020B0604020202020204" pitchFamily="34" charset="0"/>
              </a:rPr>
            </a:br>
            <a:endParaRPr lang="en-US" sz="3200" dirty="0">
              <a:latin typeface="Yu Gothic" panose="020B0400000000000000" pitchFamily="34" charset="-128"/>
              <a:ea typeface="Yu Gothic" panose="020B0400000000000000" pitchFamily="34" charset="-128"/>
              <a:cs typeface="Arial" panose="020B0604020202020204" pitchFamily="34" charset="0"/>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 differences between population genetic datasets affect their distribution of fitness effects?</a:t>
            </a:r>
            <a:endParaRPr lang="en-US" sz="3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428314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D1E6-21AE-5C5B-357B-8CDF78C269A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5" name="Picture 14">
            <a:extLst>
              <a:ext uri="{FF2B5EF4-FFF2-40B4-BE49-F238E27FC236}">
                <a16:creationId xmlns:a16="http://schemas.microsoft.com/office/drawing/2014/main" id="{6C63651E-ADAD-D7A6-E14E-B5CCD36234E2}"/>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27" name="TextBox 26">
            <a:extLst>
              <a:ext uri="{FF2B5EF4-FFF2-40B4-BE49-F238E27FC236}">
                <a16:creationId xmlns:a16="http://schemas.microsoft.com/office/drawing/2014/main" id="{8AE58726-3671-7029-C3AC-C46B99E729FC}"/>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0123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C025-9215-413D-4418-4DED7E79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43215-5809-96F6-A4B0-D9AC89AB33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4" name="Picture 13">
            <a:extLst>
              <a:ext uri="{FF2B5EF4-FFF2-40B4-BE49-F238E27FC236}">
                <a16:creationId xmlns:a16="http://schemas.microsoft.com/office/drawing/2014/main" id="{2B2ADDBB-C15C-13A0-EE04-FDE25C88EE45}"/>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3" name="TextBox 2">
            <a:extLst>
              <a:ext uri="{FF2B5EF4-FFF2-40B4-BE49-F238E27FC236}">
                <a16:creationId xmlns:a16="http://schemas.microsoft.com/office/drawing/2014/main" id="{7FE11778-2C55-C8E7-D3D0-86D712F67F33}"/>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DF0D1FC4-85A7-BA0F-BA0B-39C8253A9CB2}"/>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94B0DC8-A33A-6ED8-EF36-AAFC952EB8AA}"/>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26048C6-A6C1-E272-B252-DA3BDAE2E584}"/>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FBAA6B6D-AA13-0EB0-828A-BC95E0BA867C}"/>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853ADDF-DBA0-7F75-350B-D5C5F14A0F40}"/>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9" name="TextBox 8">
            <a:extLst>
              <a:ext uri="{FF2B5EF4-FFF2-40B4-BE49-F238E27FC236}">
                <a16:creationId xmlns:a16="http://schemas.microsoft.com/office/drawing/2014/main" id="{FE511508-2871-C572-464B-9A9B2AC56E98}"/>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0" name="TextBox 9">
            <a:extLst>
              <a:ext uri="{FF2B5EF4-FFF2-40B4-BE49-F238E27FC236}">
                <a16:creationId xmlns:a16="http://schemas.microsoft.com/office/drawing/2014/main" id="{5EE4B1C6-CC33-5EB5-A508-624319B57BAD}"/>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1" name="TextBox 10">
            <a:extLst>
              <a:ext uri="{FF2B5EF4-FFF2-40B4-BE49-F238E27FC236}">
                <a16:creationId xmlns:a16="http://schemas.microsoft.com/office/drawing/2014/main" id="{D77AF1D9-B9F2-E1D0-CCA8-C91AF1A8D972}"/>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2" name="Rectangle 11">
            <a:extLst>
              <a:ext uri="{FF2B5EF4-FFF2-40B4-BE49-F238E27FC236}">
                <a16:creationId xmlns:a16="http://schemas.microsoft.com/office/drawing/2014/main" id="{356CE52B-1E65-D667-0F9E-923F4FCF5BD5}"/>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E87FAC5-9BDB-C881-AC9F-213AC3B8207C}"/>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4A8F31F-7704-74B0-681D-C6D24F412E97}"/>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29644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2E42-8138-AC99-07FE-FABB7F9A8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4C0F5-EC8B-06EF-966B-45F017E9FFA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7" name="Picture 6">
            <a:extLst>
              <a:ext uri="{FF2B5EF4-FFF2-40B4-BE49-F238E27FC236}">
                <a16:creationId xmlns:a16="http://schemas.microsoft.com/office/drawing/2014/main" id="{EBF9FBF0-BFF6-1C17-0EB6-FD1998C84573}"/>
              </a:ext>
            </a:extLst>
          </p:cNvPr>
          <p:cNvPicPr>
            <a:picLocks noChangeAspect="1"/>
          </p:cNvPicPr>
          <p:nvPr/>
        </p:nvPicPr>
        <p:blipFill>
          <a:blip r:embed="rId3"/>
          <a:stretch>
            <a:fillRect/>
          </a:stretch>
        </p:blipFill>
        <p:spPr>
          <a:xfrm>
            <a:off x="463549" y="6800572"/>
            <a:ext cx="9260545" cy="1415772"/>
          </a:xfrm>
          <a:prstGeom prst="rect">
            <a:avLst/>
          </a:prstGeom>
        </p:spPr>
      </p:pic>
      <p:pic>
        <p:nvPicPr>
          <p:cNvPr id="4" name="Picture 3">
            <a:extLst>
              <a:ext uri="{FF2B5EF4-FFF2-40B4-BE49-F238E27FC236}">
                <a16:creationId xmlns:a16="http://schemas.microsoft.com/office/drawing/2014/main" id="{7667B9D2-7346-61D8-681C-402FC8769A64}"/>
              </a:ext>
            </a:extLst>
          </p:cNvPr>
          <p:cNvPicPr>
            <a:picLocks noChangeAspect="1"/>
          </p:cNvPicPr>
          <p:nvPr/>
        </p:nvPicPr>
        <p:blipFill>
          <a:blip r:embed="rId4"/>
          <a:stretch>
            <a:fillRect/>
          </a:stretch>
        </p:blipFill>
        <p:spPr>
          <a:xfrm>
            <a:off x="463549" y="8467546"/>
            <a:ext cx="8087854" cy="1286054"/>
          </a:xfrm>
          <a:prstGeom prst="rect">
            <a:avLst/>
          </a:prstGeom>
        </p:spPr>
      </p:pic>
      <p:sp>
        <p:nvSpPr>
          <p:cNvPr id="5" name="TextBox 4">
            <a:extLst>
              <a:ext uri="{FF2B5EF4-FFF2-40B4-BE49-F238E27FC236}">
                <a16:creationId xmlns:a16="http://schemas.microsoft.com/office/drawing/2014/main" id="{F39475E8-F527-141B-22C8-78CC4AE0A529}"/>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pic>
        <p:nvPicPr>
          <p:cNvPr id="6" name="Picture 5">
            <a:extLst>
              <a:ext uri="{FF2B5EF4-FFF2-40B4-BE49-F238E27FC236}">
                <a16:creationId xmlns:a16="http://schemas.microsoft.com/office/drawing/2014/main" id="{E1F68A8A-0027-D817-CEB7-6D3D85FC6019}"/>
              </a:ext>
            </a:extLst>
          </p:cNvPr>
          <p:cNvPicPr>
            <a:picLocks noChangeAspect="1"/>
          </p:cNvPicPr>
          <p:nvPr/>
        </p:nvPicPr>
        <p:blipFill>
          <a:blip r:embed="rId5"/>
          <a:stretch>
            <a:fillRect/>
          </a:stretch>
        </p:blipFill>
        <p:spPr>
          <a:xfrm>
            <a:off x="139739" y="2486844"/>
            <a:ext cx="8194506" cy="4220394"/>
          </a:xfrm>
          <a:prstGeom prst="rect">
            <a:avLst/>
          </a:prstGeom>
        </p:spPr>
      </p:pic>
      <p:sp>
        <p:nvSpPr>
          <p:cNvPr id="8" name="TextBox 7">
            <a:extLst>
              <a:ext uri="{FF2B5EF4-FFF2-40B4-BE49-F238E27FC236}">
                <a16:creationId xmlns:a16="http://schemas.microsoft.com/office/drawing/2014/main" id="{3BA49B86-FBBB-30D3-2A2C-F0E090E70599}"/>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9" name="Rectangle 8">
            <a:extLst>
              <a:ext uri="{FF2B5EF4-FFF2-40B4-BE49-F238E27FC236}">
                <a16:creationId xmlns:a16="http://schemas.microsoft.com/office/drawing/2014/main" id="{0AA982FD-B25A-7E4C-B506-721FDCD086B1}"/>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114B027-A007-1615-38F6-F423B57C6535}"/>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CE1E3C7-63A1-ACD3-700A-1E28707A1D41}"/>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A948A9D-6C6A-0874-C4B6-AFCA6D11DF82}"/>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407D9EF-EDC4-4BDE-A53F-49EE892CC9F6}"/>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5" name="TextBox 14">
            <a:extLst>
              <a:ext uri="{FF2B5EF4-FFF2-40B4-BE49-F238E27FC236}">
                <a16:creationId xmlns:a16="http://schemas.microsoft.com/office/drawing/2014/main" id="{CAC82466-0ECD-3301-6E44-611C920DBD8A}"/>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6" name="TextBox 15">
            <a:extLst>
              <a:ext uri="{FF2B5EF4-FFF2-40B4-BE49-F238E27FC236}">
                <a16:creationId xmlns:a16="http://schemas.microsoft.com/office/drawing/2014/main" id="{E34A8F2A-7BF8-4498-2753-6C334174E50B}"/>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7" name="TextBox 16">
            <a:extLst>
              <a:ext uri="{FF2B5EF4-FFF2-40B4-BE49-F238E27FC236}">
                <a16:creationId xmlns:a16="http://schemas.microsoft.com/office/drawing/2014/main" id="{86CD7915-4926-79AD-EC32-EE21EF6D321D}"/>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8" name="Rectangle 17">
            <a:extLst>
              <a:ext uri="{FF2B5EF4-FFF2-40B4-BE49-F238E27FC236}">
                <a16:creationId xmlns:a16="http://schemas.microsoft.com/office/drawing/2014/main" id="{04416EB3-C8EF-C960-48E8-18AC15DE1AB4}"/>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6214B19-91FA-F0E0-F4C2-A2CD6CC2F2DA}"/>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988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E0A6-77FF-A37E-E860-D07E4E7C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E664B-448C-34B5-0F5A-BD637E26742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33D7DD6-6282-6ACE-7DD8-05503B2166ED}"/>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5074DD06-9E22-B4F8-0053-FD7B85A3AEAC}"/>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648D608-B22A-0701-4A66-13859ED18DFB}"/>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D3F4BCA-5ECA-DC67-6D5B-C9830BBF79AD}"/>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12CDC3E-29B4-FCB2-84D2-879552A19387}"/>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2DF1E52-4DEB-CEAD-9C28-2C104E3C2EDA}"/>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F176FC13-5F59-C40E-72CE-FA0B0BA642A7}"/>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19FAF50-7ABE-37E8-2F2D-55352E9D6172}"/>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92167DB3-A572-46D7-6CFA-7EFA55A58846}"/>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71F8EBBC-0106-C6C5-ED8E-A420A536B044}"/>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8F7495A-0F96-D363-0ED1-DE7B30E9E567}"/>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D4D5E2-839B-8425-4DD0-8D9B8B89408A}"/>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00040B0-8724-CDF5-AAB7-979D6D469555}"/>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6CA14627-A2DA-3E38-52C7-202E859F9CF0}"/>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E73CF25-367A-F898-36F7-518E4B0E7BA0}"/>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573883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3076-4B1D-8A2B-5EB4-E71FD5C06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BB331-E26A-EEB4-FAF1-B9A0063C58B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1E35B37-795E-3799-6E93-288AA4A14CFC}"/>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89FC6E9D-2275-7612-DA3F-0DC2A3D6650F}"/>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6754B9D-D795-F60E-8E96-4A12ED3D83CA}"/>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434123-C0DC-ABA9-A7DD-DDAB5B4E247A}"/>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443251D-FEBD-65D1-C9C3-00056598FEEA}"/>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A85B04A-AE85-5233-721D-446554AC432F}"/>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671F2DFB-B415-9D7E-2889-19FD01DE7BDE}"/>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42F7899-07CD-272C-98AE-050C92200988}"/>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3D980BE5-DB01-D597-1AE8-4EA1A111D0A1}"/>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8D2B518C-97A9-E715-90F2-D0F16C16F163}"/>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C38BD50F-4195-C4C1-42FE-F7A902F67E74}"/>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FF88A39-3D02-415E-F332-19E3F5AE8FBC}"/>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9B8FE08-36F0-94FB-F99A-39ACFECE41DD}"/>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FA44A6E1-1F5E-6A49-E06A-337BAB46A8DC}"/>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75E87EE-9817-F767-2114-74C776B65904}"/>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839355AE-AC49-382A-8C09-A209B8969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Tree>
    <p:extLst>
      <p:ext uri="{BB962C8B-B14F-4D97-AF65-F5344CB8AC3E}">
        <p14:creationId xmlns:p14="http://schemas.microsoft.com/office/powerpoint/2010/main" val="452727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3298-E1AA-7FD9-B6B7-A9C498204175}"/>
            </a:ext>
          </a:extLst>
        </p:cNvPr>
        <p:cNvGrpSpPr/>
        <p:nvPr/>
      </p:nvGrpSpPr>
      <p:grpSpPr>
        <a:xfrm>
          <a:off x="0" y="0"/>
          <a:ext cx="0" cy="0"/>
          <a:chOff x="0" y="0"/>
          <a:chExt cx="0" cy="0"/>
        </a:xfrm>
      </p:grpSpPr>
      <p:pic>
        <p:nvPicPr>
          <p:cNvPr id="24" name="Picture 23" descr="A graph of different sizes and numbers&#10;&#10;AI-generated content may be incorrect.">
            <a:extLst>
              <a:ext uri="{FF2B5EF4-FFF2-40B4-BE49-F238E27FC236}">
                <a16:creationId xmlns:a16="http://schemas.microsoft.com/office/drawing/2014/main" id="{0D2FB44E-E98B-4564-66D3-95ACFDC83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 name="Title 1">
            <a:extLst>
              <a:ext uri="{FF2B5EF4-FFF2-40B4-BE49-F238E27FC236}">
                <a16:creationId xmlns:a16="http://schemas.microsoft.com/office/drawing/2014/main" id="{CAF755F9-3266-B0CA-7024-F49DD2AF9B1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Rectangle 2">
            <a:extLst>
              <a:ext uri="{FF2B5EF4-FFF2-40B4-BE49-F238E27FC236}">
                <a16:creationId xmlns:a16="http://schemas.microsoft.com/office/drawing/2014/main" id="{44673768-C344-456F-C605-8F84D413E299}"/>
              </a:ext>
            </a:extLst>
          </p:cNvPr>
          <p:cNvSpPr/>
          <p:nvPr/>
        </p:nvSpPr>
        <p:spPr>
          <a:xfrm>
            <a:off x="1300385" y="2567402"/>
            <a:ext cx="53068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685991-2E4B-7C41-CECF-014CF76A9458}"/>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C6FB1BCF-3C64-2885-A1D2-8FE3B6C0FD30}"/>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70BA36-846C-EE04-FD6F-49068AAB800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2693CE-2B2F-E865-FF4F-64DD6F713CF7}"/>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4E9FEA35-6B57-A8D4-DC44-51E71673DC2D}"/>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B802047-7246-F52A-9AA3-49F8D1BF3699}"/>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2E553E69-BC2D-297F-CF67-89BD1F3562D5}"/>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B4E5D356-ECEE-9DD3-882D-F1C7AB4E01A9}"/>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4F598E28-0EF9-DF29-F76C-042C60AB75AA}"/>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CA0D6575-2E19-EF0B-1ED4-B6538038DCD8}"/>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3C17504-7B04-5EB9-C41F-FEC905DE4E2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B0169C-2BBD-A1E3-FC4E-A92A272E7A2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0471B80-EB77-EE79-A67A-BD8425A45741}"/>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E95334A5-2773-D46D-A617-DAED91CD2AC6}"/>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72AEB83-3B0B-EE9C-67D9-163C2E0048C8}"/>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63723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E58F-C185-F7C0-0075-5C52EAD8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781AB-6D24-ECF5-53A8-876425BCFB14}"/>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21418D5-2F82-B622-0C2F-EBACA279A4E9}"/>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6EAD5C32-8148-953C-CE3B-888EEFF586D9}"/>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979CD41-E06D-F431-9A16-70717D97B69B}"/>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3731E59-477B-09FB-6FCB-650163AE71C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32EE343D-CD19-6B8C-203D-C532C01B036E}"/>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51D42FB-ED5F-5599-1DC6-085F5D1ECF88}"/>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E47E0CD9-76DD-1D29-46F3-A7E2124E97F6}"/>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949435D5-C6B3-FF8D-F9D6-9A178F344DFE}"/>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561BD5B3-458B-E4DB-63F2-ABC84DAEDB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39B604D-940A-4E0D-FBA9-56DEC7193F27}"/>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E18273-76AB-03D6-3023-0AED28BF353A}"/>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318D5F-98B9-5244-6149-F94158AE6DE6}"/>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9237949-DB75-A534-B648-581CAC8F41D6}"/>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119FBB12-B387-440A-7BCF-05FD62DD7D9A}"/>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2639AECB-AFAC-EC51-21CD-AAC70374E64C}"/>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02666F9B-B588-A6A7-259C-30DE47851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D9CD594-2D81-69BB-C8B5-33A4094C8897}"/>
              </a:ext>
            </a:extLst>
          </p:cNvPr>
          <p:cNvSpPr/>
          <p:nvPr/>
        </p:nvSpPr>
        <p:spPr>
          <a:xfrm>
            <a:off x="1300385" y="4876800"/>
            <a:ext cx="5306873" cy="22743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752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3AE3-C0F1-DD76-C585-10A7EEA0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A6C8A-EFFC-18D4-658D-09745BF8D47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8D0A52F3-023E-CA9F-6166-2CC51DC6D2CE}"/>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3603E434-A010-A64C-4F96-403169D7CEB5}"/>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84D49EC-244E-A863-0ED3-01A7628735B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02785CA-89BB-1F74-3300-4FBAED07B48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DA0A26D3-5C18-54EB-BD9E-88ED9342700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3E9B4A-3C4E-70F5-FE41-103FD73E2CD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FD28BC4F-E698-6277-B8D6-C84EE66E8264}"/>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238575A9-CAD1-19DA-51E6-7A03078918FC}"/>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C9935C80-5EF0-1387-C97B-6DF1170B30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7F02A55-09C4-7A4F-2C4C-D7006A6CB260}"/>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AA7218-3204-0C69-538C-CE9E2F6D9BE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BD91A7-DA37-8FBF-ED84-D73F08AE4A01}"/>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E854AED-A3BE-2B47-B22F-68E5CB65AD99}"/>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37338D96-8A17-FCF2-0FBD-309D3C329210}"/>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7C51CE0-70E0-FF16-97DC-E75B7D39365E}"/>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FEAAACEB-F48A-609A-C1E7-A7835776D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3DD02E8-C266-059D-E1A5-E1B1FE40B992}"/>
              </a:ext>
            </a:extLst>
          </p:cNvPr>
          <p:cNvSpPr/>
          <p:nvPr/>
        </p:nvSpPr>
        <p:spPr>
          <a:xfrm>
            <a:off x="1300385" y="7162800"/>
            <a:ext cx="5306873" cy="2514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5525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DE1-4432-354D-187A-66C5B34AD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6E05-899A-436D-D6B0-BAB5F34301C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4EA74EC-297A-2448-D3A0-2CDF6F55F087}"/>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B4B09915-9B5D-43C0-E9BA-D0463E39C49D}"/>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F7F2E53C-1185-1DEE-E29B-370C59344CDF}"/>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E962C81-24D6-D8A6-E1A5-D878EC2BCCEC}"/>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B45453E2-5B8D-325C-FC4E-60B72385601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65E320A-2D07-8DDB-7AF9-320322A81B1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88C8083F-F0C2-B714-AEF5-8049A80EB37E}"/>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A9D3D8C2-05E4-3962-143B-2380F411F9E0}"/>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BFE26096-B314-6895-6164-C02AF2B19BB7}"/>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F77CD5CE-40BC-9E98-D4E9-885DB2DAFA79}"/>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2FDDD02-2C1D-1039-4A01-EDFBA85DA709}"/>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9A5829B-32F1-1404-A248-DF7295DA03E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C9C9791-3E2C-0391-9DA2-779E48E4BC94}"/>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512B9368-C3DF-D96A-631D-6B92366FB135}"/>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10E3D10-4759-0D45-823C-5BA302A79891}"/>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931E3665-B02B-AA97-2D03-FFFF7DE68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F32BA21D-6620-5935-AC6A-9A8A6F541DB9}"/>
              </a:ext>
            </a:extLst>
          </p:cNvPr>
          <p:cNvSpPr/>
          <p:nvPr/>
        </p:nvSpPr>
        <p:spPr>
          <a:xfrm>
            <a:off x="1300385" y="2622146"/>
            <a:ext cx="5306873" cy="70768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1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1B24-4EA4-4C1E-B865-4D1838A0881E}"/>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52B3925F-8ED8-759E-5CA3-AA31E108D1ED}"/>
              </a:ext>
            </a:extLst>
          </p:cNvPr>
          <p:cNvPicPr>
            <a:picLocks noChangeAspect="1"/>
          </p:cNvPicPr>
          <p:nvPr/>
        </p:nvPicPr>
        <p:blipFill>
          <a:blip r:embed="rId3">
            <a:alphaModFix amt="35000"/>
          </a:blip>
          <a:stretch>
            <a:fillRect/>
          </a:stretch>
        </p:blipFill>
        <p:spPr>
          <a:xfrm>
            <a:off x="0" y="2971800"/>
            <a:ext cx="13004800" cy="7092662"/>
          </a:xfrm>
          <a:prstGeom prst="rect">
            <a:avLst/>
          </a:prstGeom>
        </p:spPr>
      </p:pic>
      <p:pic>
        <p:nvPicPr>
          <p:cNvPr id="10" name="Picture 9">
            <a:extLst>
              <a:ext uri="{FF2B5EF4-FFF2-40B4-BE49-F238E27FC236}">
                <a16:creationId xmlns:a16="http://schemas.microsoft.com/office/drawing/2014/main" id="{2223C934-0884-4E69-45CD-066871300DC5}"/>
              </a:ext>
            </a:extLst>
          </p:cNvPr>
          <p:cNvPicPr>
            <a:picLocks noChangeAspect="1"/>
          </p:cNvPicPr>
          <p:nvPr/>
        </p:nvPicPr>
        <p:blipFill>
          <a:blip r:embed="rId3"/>
          <a:srcRect b="49506"/>
          <a:stretch>
            <a:fillRect/>
          </a:stretch>
        </p:blipFill>
        <p:spPr>
          <a:xfrm>
            <a:off x="25400" y="2971800"/>
            <a:ext cx="13004800" cy="3581400"/>
          </a:xfrm>
          <a:prstGeom prst="rect">
            <a:avLst/>
          </a:prstGeom>
        </p:spPr>
      </p:pic>
    </p:spTree>
    <p:extLst>
      <p:ext uri="{BB962C8B-B14F-4D97-AF65-F5344CB8AC3E}">
        <p14:creationId xmlns:p14="http://schemas.microsoft.com/office/powerpoint/2010/main" val="2526190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3338-FCD1-BBA5-8436-14DD5926C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A73A-9F59-BD45-D283-B7F7DE30FBC1}"/>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49C3E2BE-13EB-1F49-6858-3DF6C51E886B}"/>
              </a:ext>
            </a:extLst>
          </p:cNvPr>
          <p:cNvPicPr>
            <a:picLocks noChangeAspect="1"/>
          </p:cNvPicPr>
          <p:nvPr/>
        </p:nvPicPr>
        <p:blipFill>
          <a:blip r:embed="rId3">
            <a:alphaModFix amt="35000"/>
          </a:blip>
          <a:stretch>
            <a:fillRect/>
          </a:stretch>
        </p:blipFill>
        <p:spPr>
          <a:xfrm>
            <a:off x="0" y="2971800"/>
            <a:ext cx="13004800" cy="7092662"/>
          </a:xfrm>
          <a:prstGeom prst="rect">
            <a:avLst/>
          </a:prstGeom>
        </p:spPr>
      </p:pic>
      <p:pic>
        <p:nvPicPr>
          <p:cNvPr id="3" name="Picture 2">
            <a:extLst>
              <a:ext uri="{FF2B5EF4-FFF2-40B4-BE49-F238E27FC236}">
                <a16:creationId xmlns:a16="http://schemas.microsoft.com/office/drawing/2014/main" id="{7DE5EF4A-1C0E-DA33-B907-E34B3A885FB1}"/>
              </a:ext>
            </a:extLst>
          </p:cNvPr>
          <p:cNvPicPr>
            <a:picLocks noChangeAspect="1"/>
          </p:cNvPicPr>
          <p:nvPr/>
        </p:nvPicPr>
        <p:blipFill>
          <a:blip r:embed="rId3"/>
          <a:srcRect t="50495"/>
          <a:stretch>
            <a:fillRect/>
          </a:stretch>
        </p:blipFill>
        <p:spPr>
          <a:xfrm>
            <a:off x="0" y="6553200"/>
            <a:ext cx="13004800" cy="3511262"/>
          </a:xfrm>
          <a:prstGeom prst="rect">
            <a:avLst/>
          </a:prstGeom>
        </p:spPr>
      </p:pic>
    </p:spTree>
    <p:extLst>
      <p:ext uri="{BB962C8B-B14F-4D97-AF65-F5344CB8AC3E}">
        <p14:creationId xmlns:p14="http://schemas.microsoft.com/office/powerpoint/2010/main" val="699070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6DAE-BE7F-37C6-4241-582D8BABA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30BA2-A9C0-C990-1B9C-A1738F43278C}"/>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65EF3D08-790A-9AE9-8B52-1CE4938ABC0A}"/>
              </a:ext>
            </a:extLst>
          </p:cNvPr>
          <p:cNvPicPr>
            <a:picLocks noChangeAspect="1"/>
          </p:cNvPicPr>
          <p:nvPr/>
        </p:nvPicPr>
        <p:blipFill>
          <a:blip r:embed="rId3"/>
          <a:stretch>
            <a:fillRect/>
          </a:stretch>
        </p:blipFill>
        <p:spPr>
          <a:xfrm>
            <a:off x="0" y="2971800"/>
            <a:ext cx="13004800" cy="7092662"/>
          </a:xfrm>
          <a:prstGeom prst="rect">
            <a:avLst/>
          </a:prstGeom>
        </p:spPr>
      </p:pic>
      <p:sp>
        <p:nvSpPr>
          <p:cNvPr id="3" name="Rectangle 2">
            <a:extLst>
              <a:ext uri="{FF2B5EF4-FFF2-40B4-BE49-F238E27FC236}">
                <a16:creationId xmlns:a16="http://schemas.microsoft.com/office/drawing/2014/main" id="{5FDDD5AB-6AFB-02F2-F6E5-ED28797BCF66}"/>
              </a:ext>
            </a:extLst>
          </p:cNvPr>
          <p:cNvSpPr/>
          <p:nvPr/>
        </p:nvSpPr>
        <p:spPr>
          <a:xfrm>
            <a:off x="11912600" y="7315200"/>
            <a:ext cx="914400" cy="17526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1931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26BB4-31E7-A52D-4798-0B58E26B5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C3449-4E39-057F-869D-BEA78258EAE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538DBD6D-BE28-EBC7-0084-8F35301B3229}"/>
              </a:ext>
            </a:extLst>
          </p:cNvPr>
          <p:cNvPicPr>
            <a:picLocks noChangeAspect="1"/>
          </p:cNvPicPr>
          <p:nvPr/>
        </p:nvPicPr>
        <p:blipFill>
          <a:blip r:embed="rId3"/>
          <a:stretch>
            <a:fillRect/>
          </a:stretch>
        </p:blipFill>
        <p:spPr>
          <a:xfrm>
            <a:off x="0" y="2971800"/>
            <a:ext cx="13004800" cy="7092662"/>
          </a:xfrm>
          <a:prstGeom prst="rect">
            <a:avLst/>
          </a:prstGeom>
        </p:spPr>
      </p:pic>
      <p:sp>
        <p:nvSpPr>
          <p:cNvPr id="3" name="Rectangle 2">
            <a:extLst>
              <a:ext uri="{FF2B5EF4-FFF2-40B4-BE49-F238E27FC236}">
                <a16:creationId xmlns:a16="http://schemas.microsoft.com/office/drawing/2014/main" id="{D629003F-CB14-1E81-3DC8-EB00BEA447F3}"/>
              </a:ext>
            </a:extLst>
          </p:cNvPr>
          <p:cNvSpPr/>
          <p:nvPr/>
        </p:nvSpPr>
        <p:spPr>
          <a:xfrm>
            <a:off x="2988" y="2779849"/>
            <a:ext cx="6042212" cy="3733800"/>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E29924E-3926-8279-CAA1-7B0240C9A741}"/>
              </a:ext>
            </a:extLst>
          </p:cNvPr>
          <p:cNvSpPr/>
          <p:nvPr/>
        </p:nvSpPr>
        <p:spPr>
          <a:xfrm>
            <a:off x="863600" y="8534400"/>
            <a:ext cx="2514600" cy="1371600"/>
          </a:xfrm>
          <a:prstGeom prst="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2190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9C4F0-3702-7FA6-DE2C-ABC01D130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CD0AC-D0EA-0FF6-D5F0-C7669BAFC96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0B938493-7A17-B801-8DC5-300606C49EFD}"/>
              </a:ext>
            </a:extLst>
          </p:cNvPr>
          <p:cNvPicPr>
            <a:picLocks noChangeAspect="1"/>
          </p:cNvPicPr>
          <p:nvPr/>
        </p:nvPicPr>
        <p:blipFill>
          <a:blip r:embed="rId3"/>
          <a:stretch>
            <a:fillRect/>
          </a:stretch>
        </p:blipFill>
        <p:spPr>
          <a:xfrm>
            <a:off x="0" y="2971800"/>
            <a:ext cx="13004800" cy="7092662"/>
          </a:xfrm>
          <a:prstGeom prst="rect">
            <a:avLst/>
          </a:prstGeom>
        </p:spPr>
      </p:pic>
      <p:sp>
        <p:nvSpPr>
          <p:cNvPr id="3" name="Rectangle 2">
            <a:extLst>
              <a:ext uri="{FF2B5EF4-FFF2-40B4-BE49-F238E27FC236}">
                <a16:creationId xmlns:a16="http://schemas.microsoft.com/office/drawing/2014/main" id="{7680A695-1F50-B571-C2FA-ADD4040E8524}"/>
              </a:ext>
            </a:extLst>
          </p:cNvPr>
          <p:cNvSpPr/>
          <p:nvPr/>
        </p:nvSpPr>
        <p:spPr>
          <a:xfrm>
            <a:off x="6045200" y="2784331"/>
            <a:ext cx="5867400" cy="3733800"/>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06EFCE-C0D2-BCA0-B8F5-E3708449719E}"/>
              </a:ext>
            </a:extLst>
          </p:cNvPr>
          <p:cNvSpPr/>
          <p:nvPr/>
        </p:nvSpPr>
        <p:spPr>
          <a:xfrm>
            <a:off x="4292600" y="6781800"/>
            <a:ext cx="1371600" cy="2514600"/>
          </a:xfrm>
          <a:prstGeom prst="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649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36009-94D3-618C-B0E5-666894F7E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24DE0-BEFB-F38C-FD06-203A30AA663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two-epoch demographic history is sensitive to the number of individuals</a:t>
            </a:r>
          </a:p>
        </p:txBody>
      </p:sp>
      <p:pic>
        <p:nvPicPr>
          <p:cNvPr id="9" name="Picture 8">
            <a:extLst>
              <a:ext uri="{FF2B5EF4-FFF2-40B4-BE49-F238E27FC236}">
                <a16:creationId xmlns:a16="http://schemas.microsoft.com/office/drawing/2014/main" id="{732027B3-9C07-41FD-2CED-E63A81349C98}"/>
              </a:ext>
            </a:extLst>
          </p:cNvPr>
          <p:cNvPicPr>
            <a:picLocks noChangeAspect="1"/>
          </p:cNvPicPr>
          <p:nvPr/>
        </p:nvPicPr>
        <p:blipFill>
          <a:blip r:embed="rId3"/>
          <a:stretch>
            <a:fillRect/>
          </a:stretch>
        </p:blipFill>
        <p:spPr>
          <a:xfrm>
            <a:off x="0" y="2971800"/>
            <a:ext cx="13004800" cy="7092662"/>
          </a:xfrm>
          <a:prstGeom prst="rect">
            <a:avLst/>
          </a:prstGeom>
        </p:spPr>
      </p:pic>
      <p:sp>
        <p:nvSpPr>
          <p:cNvPr id="3" name="Rectangle 2">
            <a:extLst>
              <a:ext uri="{FF2B5EF4-FFF2-40B4-BE49-F238E27FC236}">
                <a16:creationId xmlns:a16="http://schemas.microsoft.com/office/drawing/2014/main" id="{2BC3AB03-2006-CF11-8170-A663238C9423}"/>
              </a:ext>
            </a:extLst>
          </p:cNvPr>
          <p:cNvSpPr/>
          <p:nvPr/>
        </p:nvSpPr>
        <p:spPr>
          <a:xfrm>
            <a:off x="3149600" y="2819400"/>
            <a:ext cx="5867400" cy="37338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8255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E6BB-58FE-A4D3-A46F-D958F01C11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Tree>
    <p:extLst>
      <p:ext uri="{BB962C8B-B14F-4D97-AF65-F5344CB8AC3E}">
        <p14:creationId xmlns:p14="http://schemas.microsoft.com/office/powerpoint/2010/main" val="2642475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248-CC57-2F7D-5FB0-2DA48E918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3ABF-80F0-4F28-1580-A959AADCFAF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088684A2-3A76-BC2A-7CF5-49143AC9DDAA}"/>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BDF4481-EA7C-B668-DB14-A5E05EE08744}"/>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FC0001A-C08B-8E4C-0689-AF18228140FC}"/>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8C4190-D4D4-85EF-478E-EF255727E0C7}"/>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281DE32-05B3-1E49-40B7-AB4442E592FF}"/>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3BD41D0E-C5F6-AFD5-E824-84FCCDB77FF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Tree>
    <p:extLst>
      <p:ext uri="{BB962C8B-B14F-4D97-AF65-F5344CB8AC3E}">
        <p14:creationId xmlns:p14="http://schemas.microsoft.com/office/powerpoint/2010/main" val="2013949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D77D4-6AD5-BF9E-AAE6-84C26FF29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9DA24-D3FB-0ED9-EABA-72343B1AD031}"/>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081728AB-36B3-4C75-F053-B25D276351D0}"/>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4179955-3982-0D34-1D18-037FF9A8DC7B}"/>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1F431765-63AC-20EC-52FA-223BF4795ED2}"/>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390CF93-5151-4F36-2C40-7105F5056EA5}"/>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992F0FC8-1F3E-183B-932B-E63B4EABB38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32C09599-26FC-932D-13FA-7F0785907A8C}"/>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pic>
        <p:nvPicPr>
          <p:cNvPr id="3" name="Picture 2" descr="A screenshot of a computer&#10;&#10;AI-generated content may be incorrect.">
            <a:extLst>
              <a:ext uri="{FF2B5EF4-FFF2-40B4-BE49-F238E27FC236}">
                <a16:creationId xmlns:a16="http://schemas.microsoft.com/office/drawing/2014/main" id="{BB8811AB-4E36-9DAD-C458-BC08BBB7E3C3}"/>
              </a:ext>
            </a:extLst>
          </p:cNvPr>
          <p:cNvPicPr>
            <a:picLocks noChangeAspect="1"/>
          </p:cNvPicPr>
          <p:nvPr/>
        </p:nvPicPr>
        <p:blipFill>
          <a:blip r:embed="rId3" cstate="print">
            <a:extLst>
              <a:ext uri="{28A0092B-C50C-407E-A947-70E740481C1C}">
                <a14:useLocalDpi xmlns:a14="http://schemas.microsoft.com/office/drawing/2010/main" val="0"/>
              </a:ext>
            </a:extLst>
          </a:blip>
          <a:srcRect l="61410" t="51046"/>
          <a:stretch>
            <a:fillRect/>
          </a:stretch>
        </p:blipFill>
        <p:spPr>
          <a:xfrm>
            <a:off x="5358370" y="3890683"/>
            <a:ext cx="3359431" cy="3881717"/>
          </a:xfrm>
          <a:prstGeom prst="rect">
            <a:avLst/>
          </a:prstGeom>
        </p:spPr>
      </p:pic>
    </p:spTree>
    <p:extLst>
      <p:ext uri="{BB962C8B-B14F-4D97-AF65-F5344CB8AC3E}">
        <p14:creationId xmlns:p14="http://schemas.microsoft.com/office/powerpoint/2010/main" val="1448368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3A58-AE69-CABA-443E-2F6DB04A1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F37C6-2039-5029-A93B-362A05C3BEA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88493270-94D8-291D-55FC-9A350280FA8A}"/>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15301101-A206-9ED7-DA40-BB8785705AF3}"/>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5D86E098-487B-7E45-0BEF-C4EDCF00E367}"/>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385F0AF-9C06-5E21-7457-CED5D3330D4F}"/>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BB774C98-4612-0E3F-FB3A-A7C21676D989}"/>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148FE6C6-38A6-6BD9-4ECE-364492E2900E}"/>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pic>
        <p:nvPicPr>
          <p:cNvPr id="3" name="Picture 2" descr="A screenshot of a computer&#10;&#10;AI-generated content may be incorrect.">
            <a:extLst>
              <a:ext uri="{FF2B5EF4-FFF2-40B4-BE49-F238E27FC236}">
                <a16:creationId xmlns:a16="http://schemas.microsoft.com/office/drawing/2014/main" id="{9AEC0B33-D164-DBF8-B090-DA027BFB7245}"/>
              </a:ext>
            </a:extLst>
          </p:cNvPr>
          <p:cNvPicPr>
            <a:picLocks noChangeAspect="1"/>
          </p:cNvPicPr>
          <p:nvPr/>
        </p:nvPicPr>
        <p:blipFill>
          <a:blip r:embed="rId3" cstate="print">
            <a:extLst>
              <a:ext uri="{28A0092B-C50C-407E-A947-70E740481C1C}">
                <a14:useLocalDpi xmlns:a14="http://schemas.microsoft.com/office/drawing/2010/main" val="0"/>
              </a:ext>
            </a:extLst>
          </a:blip>
          <a:srcRect l="61410" t="51046"/>
          <a:stretch>
            <a:fillRect/>
          </a:stretch>
        </p:blipFill>
        <p:spPr>
          <a:xfrm>
            <a:off x="5358370" y="3890683"/>
            <a:ext cx="3359431" cy="3881717"/>
          </a:xfrm>
          <a:prstGeom prst="rect">
            <a:avLst/>
          </a:prstGeom>
        </p:spPr>
      </p:pic>
      <p:sp>
        <p:nvSpPr>
          <p:cNvPr id="4" name="Rectangle 3">
            <a:extLst>
              <a:ext uri="{FF2B5EF4-FFF2-40B4-BE49-F238E27FC236}">
                <a16:creationId xmlns:a16="http://schemas.microsoft.com/office/drawing/2014/main" id="{9E875F4A-C518-0CA4-AC6D-38EDED53453C}"/>
              </a:ext>
            </a:extLst>
          </p:cNvPr>
          <p:cNvSpPr/>
          <p:nvPr/>
        </p:nvSpPr>
        <p:spPr>
          <a:xfrm>
            <a:off x="6502400" y="6998947"/>
            <a:ext cx="2797151" cy="435596"/>
          </a:xfrm>
          <a:prstGeom prst="rect">
            <a:avLst/>
          </a:prstGeom>
          <a:noFill/>
          <a:ln w="57150">
            <a:solidFill>
              <a:srgbClr val="1F9F79"/>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DB17A54-1539-5A93-38F2-E09069F75B64}"/>
              </a:ext>
            </a:extLst>
          </p:cNvPr>
          <p:cNvSpPr/>
          <p:nvPr/>
        </p:nvSpPr>
        <p:spPr>
          <a:xfrm>
            <a:off x="6502400" y="5414256"/>
            <a:ext cx="2797151" cy="1569451"/>
          </a:xfrm>
          <a:prstGeom prst="rect">
            <a:avLst/>
          </a:prstGeom>
          <a:noFill/>
          <a:ln w="57150">
            <a:solidFill>
              <a:srgbClr val="D75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F7330B9-3B57-02A3-DAF6-3699E6A6D1A4}"/>
              </a:ext>
            </a:extLst>
          </p:cNvPr>
          <p:cNvSpPr/>
          <p:nvPr/>
        </p:nvSpPr>
        <p:spPr>
          <a:xfrm>
            <a:off x="6502399" y="4199027"/>
            <a:ext cx="2797151" cy="1222849"/>
          </a:xfrm>
          <a:prstGeom prst="rect">
            <a:avLst/>
          </a:prstGeom>
          <a:noFill/>
          <a:ln w="57150">
            <a:solidFill>
              <a:srgbClr val="716BB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5460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0699-2392-26F3-F3F5-DE38FDDF6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AC092-B6CD-0629-8329-52A0C243697E}"/>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28852A3F-DB70-71E8-4409-1E675E0018A9}"/>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8197856A-1481-A34B-B283-C47439AF5CA4}"/>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56B730DE-20E0-D4B8-896A-B7A71F956E22}"/>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E9DC5D1-F6A9-21C5-588C-0B7EAE2CDF27}"/>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676A7D55-DFA9-C5CB-F342-43B8A764EEA8}"/>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FBCD4505-78A9-EAAF-3538-7EF28F101A7A}"/>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pic>
        <p:nvPicPr>
          <p:cNvPr id="3" name="Picture 2">
            <a:extLst>
              <a:ext uri="{FF2B5EF4-FFF2-40B4-BE49-F238E27FC236}">
                <a16:creationId xmlns:a16="http://schemas.microsoft.com/office/drawing/2014/main" id="{385F8E6B-FE80-371A-29A5-76E21A0327C9}"/>
              </a:ext>
            </a:extLst>
          </p:cNvPr>
          <p:cNvPicPr>
            <a:picLocks noChangeAspect="1"/>
          </p:cNvPicPr>
          <p:nvPr/>
        </p:nvPicPr>
        <p:blipFill>
          <a:blip r:embed="rId3"/>
          <a:stretch>
            <a:fillRect/>
          </a:stretch>
        </p:blipFill>
        <p:spPr>
          <a:xfrm>
            <a:off x="646387" y="2728500"/>
            <a:ext cx="8267700" cy="6343650"/>
          </a:xfrm>
          <a:prstGeom prst="rect">
            <a:avLst/>
          </a:prstGeom>
        </p:spPr>
      </p:pic>
    </p:spTree>
    <p:extLst>
      <p:ext uri="{BB962C8B-B14F-4D97-AF65-F5344CB8AC3E}">
        <p14:creationId xmlns:p14="http://schemas.microsoft.com/office/powerpoint/2010/main" val="3430087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4C1A-9A68-3F37-187B-2E687E6175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6804022-49D0-19C2-3639-A843786FA25D}"/>
              </a:ext>
            </a:extLst>
          </p:cNvPr>
          <p:cNvPicPr>
            <a:picLocks noChangeAspect="1"/>
          </p:cNvPicPr>
          <p:nvPr/>
        </p:nvPicPr>
        <p:blipFill>
          <a:blip r:embed="rId3"/>
          <a:stretch>
            <a:fillRect/>
          </a:stretch>
        </p:blipFill>
        <p:spPr>
          <a:xfrm>
            <a:off x="646387" y="2728500"/>
            <a:ext cx="8267700" cy="6343650"/>
          </a:xfrm>
          <a:prstGeom prst="rect">
            <a:avLst/>
          </a:prstGeom>
        </p:spPr>
      </p:pic>
      <p:sp>
        <p:nvSpPr>
          <p:cNvPr id="2" name="Title 1">
            <a:extLst>
              <a:ext uri="{FF2B5EF4-FFF2-40B4-BE49-F238E27FC236}">
                <a16:creationId xmlns:a16="http://schemas.microsoft.com/office/drawing/2014/main" id="{DD90B043-2D06-7CE6-590F-DB8CCF67F03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4EE8BF37-CCF2-9306-C30E-252F09C43F86}"/>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B1FBC0B-B92A-5A4C-F343-86F30FFAF9AA}"/>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E8061AF8-CD7A-2D4E-4233-76077A682B0A}"/>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72A8DDC1-51BE-3D21-297F-C0E579FA7C98}"/>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0ED35CF-4168-BC2C-ED5B-9E53D1F411E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9218E3FA-83F3-8E05-4FB7-F5CA97639678}"/>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6" name="Rectangle 5">
            <a:extLst>
              <a:ext uri="{FF2B5EF4-FFF2-40B4-BE49-F238E27FC236}">
                <a16:creationId xmlns:a16="http://schemas.microsoft.com/office/drawing/2014/main" id="{987EC07D-1409-FD49-B8AB-595C21E616CA}"/>
              </a:ext>
            </a:extLst>
          </p:cNvPr>
          <p:cNvSpPr/>
          <p:nvPr/>
        </p:nvSpPr>
        <p:spPr>
          <a:xfrm>
            <a:off x="4064000" y="2728500"/>
            <a:ext cx="2057400" cy="3379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847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679-9A07-FCD5-2709-C69F6BF386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EE0607B-6025-4EA4-7474-7230F848E2D5}"/>
              </a:ext>
            </a:extLst>
          </p:cNvPr>
          <p:cNvPicPr>
            <a:picLocks noChangeAspect="1"/>
          </p:cNvPicPr>
          <p:nvPr/>
        </p:nvPicPr>
        <p:blipFill>
          <a:blip r:embed="rId3"/>
          <a:stretch>
            <a:fillRect/>
          </a:stretch>
        </p:blipFill>
        <p:spPr>
          <a:xfrm>
            <a:off x="646387" y="2728500"/>
            <a:ext cx="8267700" cy="6343650"/>
          </a:xfrm>
          <a:prstGeom prst="rect">
            <a:avLst/>
          </a:prstGeom>
        </p:spPr>
      </p:pic>
      <p:sp>
        <p:nvSpPr>
          <p:cNvPr id="2" name="Title 1">
            <a:extLst>
              <a:ext uri="{FF2B5EF4-FFF2-40B4-BE49-F238E27FC236}">
                <a16:creationId xmlns:a16="http://schemas.microsoft.com/office/drawing/2014/main" id="{69C40722-2106-129B-DE22-52EED731F59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60F1E1D8-3096-6234-C065-5B7876D4AD52}"/>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8225B8A-2BB5-5DB2-E497-E890A241A610}"/>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7FD2496-C5F8-0EBC-2842-D42B8B0B0BF6}"/>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1A4616-85CF-A2AB-1299-BDC5303E8700}"/>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C701D8D-4943-3B6D-7114-F4C3E44EB5D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1F82A94E-A265-07CB-CEA8-E66717DFA2A4}"/>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252FE87C-DA2B-A89E-E6CE-3E5DE01239DD}"/>
              </a:ext>
            </a:extLst>
          </p:cNvPr>
          <p:cNvSpPr/>
          <p:nvPr/>
        </p:nvSpPr>
        <p:spPr>
          <a:xfrm>
            <a:off x="7125226" y="4876799"/>
            <a:ext cx="1788861" cy="10235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5811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2519-7C8C-3B37-5D03-31E5528D60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823CF14-49B3-91CA-DEA7-3E72A0921E97}"/>
              </a:ext>
            </a:extLst>
          </p:cNvPr>
          <p:cNvPicPr>
            <a:picLocks noChangeAspect="1"/>
          </p:cNvPicPr>
          <p:nvPr/>
        </p:nvPicPr>
        <p:blipFill>
          <a:blip r:embed="rId3"/>
          <a:stretch>
            <a:fillRect/>
          </a:stretch>
        </p:blipFill>
        <p:spPr>
          <a:xfrm>
            <a:off x="646387" y="2728500"/>
            <a:ext cx="8267700" cy="6343650"/>
          </a:xfrm>
          <a:prstGeom prst="rect">
            <a:avLst/>
          </a:prstGeom>
        </p:spPr>
      </p:pic>
      <p:sp>
        <p:nvSpPr>
          <p:cNvPr id="2" name="Title 1">
            <a:extLst>
              <a:ext uri="{FF2B5EF4-FFF2-40B4-BE49-F238E27FC236}">
                <a16:creationId xmlns:a16="http://schemas.microsoft.com/office/drawing/2014/main" id="{E579A76E-8A32-835E-FA57-C662886ED67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BB51FDFB-755F-C24D-921C-6F535B8FB66C}"/>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834A376-D87E-12B3-0F0C-8553E9427E05}"/>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ADC4C22-EDB9-C5F6-799D-D3E7B3630589}"/>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FC8CAE9-C6D0-69E3-973B-AA220895D9C1}"/>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4B4C5F8-3203-166C-9E7C-26E9469C1B22}"/>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062E8146-7C10-6681-5A36-D71C666B4E56}"/>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12A808E6-B05C-8895-95BD-6580B0F8789D}"/>
              </a:ext>
            </a:extLst>
          </p:cNvPr>
          <p:cNvSpPr/>
          <p:nvPr/>
        </p:nvSpPr>
        <p:spPr>
          <a:xfrm>
            <a:off x="7112374" y="5963631"/>
            <a:ext cx="1801713" cy="8245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994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5C4-5025-BA11-2F9B-A96A469591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E1175D9-7C7C-1A9C-512A-8640F70A53AD}"/>
              </a:ext>
            </a:extLst>
          </p:cNvPr>
          <p:cNvPicPr>
            <a:picLocks noChangeAspect="1"/>
          </p:cNvPicPr>
          <p:nvPr/>
        </p:nvPicPr>
        <p:blipFill>
          <a:blip r:embed="rId3"/>
          <a:stretch>
            <a:fillRect/>
          </a:stretch>
        </p:blipFill>
        <p:spPr>
          <a:xfrm>
            <a:off x="646387" y="2728500"/>
            <a:ext cx="8267700" cy="6343650"/>
          </a:xfrm>
          <a:prstGeom prst="rect">
            <a:avLst/>
          </a:prstGeom>
        </p:spPr>
      </p:pic>
      <p:sp>
        <p:nvSpPr>
          <p:cNvPr id="2" name="Title 1">
            <a:extLst>
              <a:ext uri="{FF2B5EF4-FFF2-40B4-BE49-F238E27FC236}">
                <a16:creationId xmlns:a16="http://schemas.microsoft.com/office/drawing/2014/main" id="{8C8E8B85-0505-F360-03C0-4331D57F73F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3C798A7E-862C-6CF0-AD65-1535BA56A59B}"/>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153A8D8-90BC-FF7A-E2B8-D4DEB6975F88}"/>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941B5A6-508F-D78F-F773-2E398A2FD734}"/>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ECD99AA-492C-B378-7F4E-479B3CE57FC9}"/>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ECAF11FC-EAE5-8643-C1D3-3574C18699EE}"/>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A57A5040-F570-FDC2-8A88-9905F9FCD42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5ED55A9F-0648-D163-874C-F7223FAB5107}"/>
              </a:ext>
            </a:extLst>
          </p:cNvPr>
          <p:cNvSpPr/>
          <p:nvPr/>
        </p:nvSpPr>
        <p:spPr>
          <a:xfrm>
            <a:off x="1826531" y="2971800"/>
            <a:ext cx="365125" cy="571549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CD2233-92F6-8D7D-BBAB-CCF2DB0DFCC2}"/>
              </a:ext>
            </a:extLst>
          </p:cNvPr>
          <p:cNvSpPr/>
          <p:nvPr/>
        </p:nvSpPr>
        <p:spPr>
          <a:xfrm>
            <a:off x="9321801" y="5257800"/>
            <a:ext cx="3411246"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462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E197-DDC8-BDA6-3380-EE82CBB68E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sp>
        <p:nvSpPr>
          <p:cNvPr id="7" name="TextBox 6">
            <a:extLst>
              <a:ext uri="{FF2B5EF4-FFF2-40B4-BE49-F238E27FC236}">
                <a16:creationId xmlns:a16="http://schemas.microsoft.com/office/drawing/2014/main" id="{D5EF7D0C-BE7F-9298-0047-1A7B1E8A8D65}"/>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F1CA0E8-652D-54C9-2F60-6535D9804687}"/>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pic>
        <p:nvPicPr>
          <p:cNvPr id="3" name="Picture 2" descr="A graph of different sizes and numbers&#10;&#10;AI-generated content may be incorrect.">
            <a:extLst>
              <a:ext uri="{FF2B5EF4-FFF2-40B4-BE49-F238E27FC236}">
                <a16:creationId xmlns:a16="http://schemas.microsoft.com/office/drawing/2014/main" id="{B61A08DD-1268-2A4B-E65E-EE3FE77AF135}"/>
              </a:ext>
            </a:extLst>
          </p:cNvPr>
          <p:cNvPicPr>
            <a:picLocks noChangeAspect="1"/>
          </p:cNvPicPr>
          <p:nvPr/>
        </p:nvPicPr>
        <p:blipFill>
          <a:blip r:embed="rId3">
            <a:extLst>
              <a:ext uri="{28A0092B-C50C-407E-A947-70E740481C1C}">
                <a14:useLocalDpi xmlns:a14="http://schemas.microsoft.com/office/drawing/2010/main" val="0"/>
              </a:ext>
            </a:extLst>
          </a:blip>
          <a:srcRect t="31860"/>
          <a:stretch>
            <a:fillRect/>
          </a:stretch>
        </p:blipFill>
        <p:spPr>
          <a:xfrm>
            <a:off x="345522" y="3353004"/>
            <a:ext cx="5425656" cy="4929416"/>
          </a:xfrm>
          <a:prstGeom prst="rect">
            <a:avLst/>
          </a:prstGeom>
        </p:spPr>
      </p:pic>
      <p:pic>
        <p:nvPicPr>
          <p:cNvPr id="11" name="Picture 10" descr="A graph of a number of people&#10;&#10;AI-generated content may be incorrect.">
            <a:extLst>
              <a:ext uri="{FF2B5EF4-FFF2-40B4-BE49-F238E27FC236}">
                <a16:creationId xmlns:a16="http://schemas.microsoft.com/office/drawing/2014/main" id="{F667711A-01FC-1C85-F487-8C3208DCF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06" y="3254200"/>
            <a:ext cx="5167928" cy="5167928"/>
          </a:xfrm>
          <a:prstGeom prst="rect">
            <a:avLst/>
          </a:prstGeom>
        </p:spPr>
      </p:pic>
    </p:spTree>
    <p:extLst>
      <p:ext uri="{BB962C8B-B14F-4D97-AF65-F5344CB8AC3E}">
        <p14:creationId xmlns:p14="http://schemas.microsoft.com/office/powerpoint/2010/main" val="484017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1D7E532B-C587-79E9-2BB4-2E08A2C7C890}"/>
              </a:ext>
            </a:extLst>
          </p:cNvPr>
          <p:cNvSpPr txBox="1">
            <a:spLocks/>
          </p:cNvSpPr>
          <p:nvPr/>
        </p:nvSpPr>
        <p:spPr>
          <a:xfrm>
            <a:off x="724620" y="2098696"/>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Population demographic inference is sensitive to the number of individuals.</a:t>
            </a:r>
          </a:p>
          <a:p>
            <a:r>
              <a:rPr lang="en-US" sz="2400" dirty="0">
                <a:latin typeface="Yu Gothic" panose="020B0400000000000000" pitchFamily="34" charset="-128"/>
                <a:ea typeface="Yu Gothic" panose="020B0400000000000000" pitchFamily="34" charset="-128"/>
              </a:rPr>
              <a:t>Dominant evolutionary signals may reflect the distribution of coalescent branch lengths across time</a:t>
            </a:r>
          </a:p>
          <a:p>
            <a:r>
              <a:rPr lang="en-US" sz="2400" dirty="0">
                <a:latin typeface="Yu Gothic" panose="020B0400000000000000" pitchFamily="34" charset="-128"/>
                <a:ea typeface="Yu Gothic" panose="020B0400000000000000" pitchFamily="34" charset="-128"/>
              </a:rPr>
              <a:t>Analyzing data sets consisting of differing numbers of individuals may reveal complementary facets of evolutionary history.</a:t>
            </a:r>
          </a:p>
        </p:txBody>
      </p:sp>
      <p:sp>
        <p:nvSpPr>
          <p:cNvPr id="21" name="Title 1">
            <a:extLst>
              <a:ext uri="{FF2B5EF4-FFF2-40B4-BE49-F238E27FC236}">
                <a16:creationId xmlns:a16="http://schemas.microsoft.com/office/drawing/2014/main" id="{0FC6429E-CE99-196A-3487-0389812D521F}"/>
              </a:ext>
            </a:extLst>
          </p:cNvPr>
          <p:cNvSpPr txBox="1">
            <a:spLocks/>
          </p:cNvSpPr>
          <p:nvPr/>
        </p:nvSpPr>
        <p:spPr>
          <a:xfrm>
            <a:off x="463550" y="9652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Current Takeaways</a:t>
            </a:r>
          </a:p>
        </p:txBody>
      </p:sp>
      <p:sp>
        <p:nvSpPr>
          <p:cNvPr id="3" name="Title 1">
            <a:extLst>
              <a:ext uri="{FF2B5EF4-FFF2-40B4-BE49-F238E27FC236}">
                <a16:creationId xmlns:a16="http://schemas.microsoft.com/office/drawing/2014/main" id="{CE124C3B-11DA-6CD2-7BC4-EDE686697EAF}"/>
              </a:ext>
            </a:extLst>
          </p:cNvPr>
          <p:cNvSpPr txBox="1">
            <a:spLocks/>
          </p:cNvSpPr>
          <p:nvPr/>
        </p:nvSpPr>
        <p:spPr>
          <a:xfrm>
            <a:off x="463550" y="39624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Further Analysis</a:t>
            </a:r>
          </a:p>
        </p:txBody>
      </p:sp>
      <p:sp>
        <p:nvSpPr>
          <p:cNvPr id="4" name="Content Placeholder 2">
            <a:extLst>
              <a:ext uri="{FF2B5EF4-FFF2-40B4-BE49-F238E27FC236}">
                <a16:creationId xmlns:a16="http://schemas.microsoft.com/office/drawing/2014/main" id="{CA08201A-4F35-DC80-76CD-33C074353AE4}"/>
              </a:ext>
            </a:extLst>
          </p:cNvPr>
          <p:cNvSpPr txBox="1">
            <a:spLocks/>
          </p:cNvSpPr>
          <p:nvPr/>
        </p:nvSpPr>
        <p:spPr>
          <a:xfrm>
            <a:off x="724620" y="5454484"/>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Testing our hypothesis that the distribution of coalescent branch lengths is the primary determining factor for the dominant signal of two-epoch inference from a more complex demographic history</a:t>
            </a:r>
          </a:p>
        </p:txBody>
      </p:sp>
    </p:spTree>
    <p:extLst>
      <p:ext uri="{BB962C8B-B14F-4D97-AF65-F5344CB8AC3E}">
        <p14:creationId xmlns:p14="http://schemas.microsoft.com/office/powerpoint/2010/main" val="1521993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81D50-9A03-CC9D-15DD-9C3BD96AF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A7D47-60AB-ACF4-B53B-77E7CF9ED50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6" name="Picture 5">
            <a:extLst>
              <a:ext uri="{FF2B5EF4-FFF2-40B4-BE49-F238E27FC236}">
                <a16:creationId xmlns:a16="http://schemas.microsoft.com/office/drawing/2014/main" id="{25994D67-68F2-04D5-8EF5-951FEB1DB04B}"/>
              </a:ext>
            </a:extLst>
          </p:cNvPr>
          <p:cNvPicPr>
            <a:picLocks noChangeAspect="1"/>
          </p:cNvPicPr>
          <p:nvPr/>
        </p:nvPicPr>
        <p:blipFill>
          <a:blip r:embed="rId3"/>
          <a:stretch>
            <a:fillRect/>
          </a:stretch>
        </p:blipFill>
        <p:spPr>
          <a:xfrm>
            <a:off x="0" y="2660938"/>
            <a:ext cx="13004800" cy="7092662"/>
          </a:xfrm>
          <a:prstGeom prst="rect">
            <a:avLst/>
          </a:prstGeom>
        </p:spPr>
      </p:pic>
      <p:sp>
        <p:nvSpPr>
          <p:cNvPr id="7" name="Rectangle 6">
            <a:extLst>
              <a:ext uri="{FF2B5EF4-FFF2-40B4-BE49-F238E27FC236}">
                <a16:creationId xmlns:a16="http://schemas.microsoft.com/office/drawing/2014/main" id="{014DFEF0-B518-7BC0-FEB6-EFAAA14C9CE9}"/>
              </a:ext>
            </a:extLst>
          </p:cNvPr>
          <p:cNvSpPr/>
          <p:nvPr/>
        </p:nvSpPr>
        <p:spPr>
          <a:xfrm>
            <a:off x="1854200" y="6477000"/>
            <a:ext cx="5334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542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905A-7071-FE96-7E1D-94115E5BB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F00E4-AC15-D32C-B4F9-00658F22F9B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4338" name="Picture 2">
            <a:extLst>
              <a:ext uri="{FF2B5EF4-FFF2-40B4-BE49-F238E27FC236}">
                <a16:creationId xmlns:a16="http://schemas.microsoft.com/office/drawing/2014/main" id="{2ACDC222-F645-19FA-A32B-D3508CCCA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2660650"/>
            <a:ext cx="13004800" cy="7092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A1A1D45-BE7F-2F28-76BE-5F17CC77DD27}"/>
              </a:ext>
            </a:extLst>
          </p:cNvPr>
          <p:cNvSpPr/>
          <p:nvPr/>
        </p:nvSpPr>
        <p:spPr>
          <a:xfrm>
            <a:off x="2311400" y="6477000"/>
            <a:ext cx="10668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1192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C88E-B885-CA7A-31B4-68361C7F3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DE761-4632-7830-8726-09CF0FBDFF19}"/>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5362" name="Picture 2">
            <a:extLst>
              <a:ext uri="{FF2B5EF4-FFF2-40B4-BE49-F238E27FC236}">
                <a16:creationId xmlns:a16="http://schemas.microsoft.com/office/drawing/2014/main" id="{85141CC9-85BF-2491-E36A-789C4BB85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79700"/>
            <a:ext cx="13004800" cy="70929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B0F0ACE-19D3-386C-3502-D4F98AE03CC9}"/>
              </a:ext>
            </a:extLst>
          </p:cNvPr>
          <p:cNvSpPr/>
          <p:nvPr/>
        </p:nvSpPr>
        <p:spPr>
          <a:xfrm>
            <a:off x="3378200" y="6477000"/>
            <a:ext cx="533400" cy="2819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6476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970E7-A9F3-5FE8-3E81-321FC2691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249D2-3704-858E-BAC8-82A7114CFEBE}"/>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2290" name="Picture 2">
            <a:extLst>
              <a:ext uri="{FF2B5EF4-FFF2-40B4-BE49-F238E27FC236}">
                <a16:creationId xmlns:a16="http://schemas.microsoft.com/office/drawing/2014/main" id="{F92AA19A-E87C-F410-8158-06693B698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 y="2660650"/>
            <a:ext cx="13004800" cy="7092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CAEE833-8C6D-365B-05E8-E2225F232927}"/>
              </a:ext>
            </a:extLst>
          </p:cNvPr>
          <p:cNvSpPr/>
          <p:nvPr/>
        </p:nvSpPr>
        <p:spPr>
          <a:xfrm>
            <a:off x="787400" y="6477000"/>
            <a:ext cx="1143000" cy="2819400"/>
          </a:xfrm>
          <a:prstGeom prst="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01063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504D-B626-2F44-C157-DA2F15884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96954-5F75-3061-57C8-8C39CF5F3F32}"/>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2290" name="Picture 2">
            <a:extLst>
              <a:ext uri="{FF2B5EF4-FFF2-40B4-BE49-F238E27FC236}">
                <a16:creationId xmlns:a16="http://schemas.microsoft.com/office/drawing/2014/main" id="{FB465601-BADB-EFAF-40F8-9BD3B11E73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08"/>
          <a:stretch>
            <a:fillRect/>
          </a:stretch>
        </p:blipFill>
        <p:spPr bwMode="auto">
          <a:xfrm>
            <a:off x="6350" y="6172200"/>
            <a:ext cx="13004800" cy="3581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479AFC2-4FE8-B782-07A8-9EECE7FED482}"/>
              </a:ext>
            </a:extLst>
          </p:cNvPr>
          <p:cNvSpPr/>
          <p:nvPr/>
        </p:nvSpPr>
        <p:spPr>
          <a:xfrm>
            <a:off x="787400" y="6477000"/>
            <a:ext cx="1143000" cy="2819400"/>
          </a:xfrm>
          <a:prstGeom prst="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a:extLst>
              <a:ext uri="{FF2B5EF4-FFF2-40B4-BE49-F238E27FC236}">
                <a16:creationId xmlns:a16="http://schemas.microsoft.com/office/drawing/2014/main" id="{9FEA3F8C-849E-AB53-D527-38F5EDE368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547" t="10832" b="60162"/>
          <a:stretch>
            <a:fillRect/>
          </a:stretch>
        </p:blipFill>
        <p:spPr bwMode="auto">
          <a:xfrm>
            <a:off x="11131550" y="6692622"/>
            <a:ext cx="18796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6711506-A4B4-05B4-E8F7-D9FC3AC0DEAF}"/>
              </a:ext>
            </a:extLst>
          </p:cNvPr>
          <p:cNvPicPr>
            <a:picLocks noChangeAspect="1"/>
          </p:cNvPicPr>
          <p:nvPr/>
        </p:nvPicPr>
        <p:blipFill>
          <a:blip r:embed="rId4"/>
          <a:stretch>
            <a:fillRect/>
          </a:stretch>
        </p:blipFill>
        <p:spPr>
          <a:xfrm>
            <a:off x="647705" y="2944929"/>
            <a:ext cx="11410945" cy="685800"/>
          </a:xfrm>
          <a:prstGeom prst="rect">
            <a:avLst/>
          </a:prstGeom>
        </p:spPr>
      </p:pic>
      <p:sp>
        <p:nvSpPr>
          <p:cNvPr id="7" name="TextBox 6">
            <a:extLst>
              <a:ext uri="{FF2B5EF4-FFF2-40B4-BE49-F238E27FC236}">
                <a16:creationId xmlns:a16="http://schemas.microsoft.com/office/drawing/2014/main" id="{291FD428-5256-2C5D-550B-BDA86C335924}"/>
              </a:ext>
            </a:extLst>
          </p:cNvPr>
          <p:cNvSpPr txBox="1"/>
          <p:nvPr/>
        </p:nvSpPr>
        <p:spPr>
          <a:xfrm>
            <a:off x="196181" y="2385427"/>
            <a:ext cx="3581430" cy="523220"/>
          </a:xfrm>
          <a:prstGeom prst="rect">
            <a:avLst/>
          </a:prstGeom>
          <a:noFill/>
        </p:spPr>
        <p:txBody>
          <a:bodyPr wrap="none" rtlCol="0">
            <a:spAutoFit/>
          </a:bodyPr>
          <a:lstStyle/>
          <a:p>
            <a:r>
              <a:rPr lang="en-US" sz="2800" dirty="0">
                <a:latin typeface="Yu Gothic" panose="020B0400000000000000" pitchFamily="34" charset="-128"/>
                <a:ea typeface="Yu Gothic" panose="020B0400000000000000" pitchFamily="34" charset="-128"/>
              </a:rPr>
              <a:t>One-epoch model fit</a:t>
            </a:r>
          </a:p>
        </p:txBody>
      </p:sp>
      <p:sp>
        <p:nvSpPr>
          <p:cNvPr id="16" name="TextBox 15">
            <a:extLst>
              <a:ext uri="{FF2B5EF4-FFF2-40B4-BE49-F238E27FC236}">
                <a16:creationId xmlns:a16="http://schemas.microsoft.com/office/drawing/2014/main" id="{14655CE9-0AF6-CB0D-17CC-7D54D1CF35C4}"/>
              </a:ext>
            </a:extLst>
          </p:cNvPr>
          <p:cNvSpPr txBox="1"/>
          <p:nvPr/>
        </p:nvSpPr>
        <p:spPr>
          <a:xfrm>
            <a:off x="4373229" y="2232165"/>
            <a:ext cx="2135521" cy="400110"/>
          </a:xfrm>
          <a:prstGeom prst="rect">
            <a:avLst/>
          </a:prstGeom>
          <a:noFill/>
        </p:spPr>
        <p:txBody>
          <a:bodyPr wrap="none" rtlCol="0">
            <a:spAutoFit/>
          </a:bodyPr>
          <a:lstStyle/>
          <a:p>
            <a:r>
              <a:rPr lang="en-US" sz="2000" dirty="0">
                <a:latin typeface="Yu Gothic" panose="020B0400000000000000" pitchFamily="34" charset="-128"/>
                <a:ea typeface="Yu Gothic" panose="020B0400000000000000" pitchFamily="34" charset="-128"/>
              </a:rPr>
              <a:t>Dummy-variable</a:t>
            </a:r>
          </a:p>
        </p:txBody>
      </p:sp>
      <p:sp>
        <p:nvSpPr>
          <p:cNvPr id="17" name="Left Brace 16">
            <a:extLst>
              <a:ext uri="{FF2B5EF4-FFF2-40B4-BE49-F238E27FC236}">
                <a16:creationId xmlns:a16="http://schemas.microsoft.com/office/drawing/2014/main" id="{1080EF2B-0ACA-DA97-31CE-4D4DE61A70BB}"/>
              </a:ext>
            </a:extLst>
          </p:cNvPr>
          <p:cNvSpPr/>
          <p:nvPr/>
        </p:nvSpPr>
        <p:spPr>
          <a:xfrm rot="5400000">
            <a:off x="5218986" y="1795608"/>
            <a:ext cx="166876" cy="17526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402187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A216A-58C1-C07C-E2B9-57C28463B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886B5-D6CB-35FD-7DB1-4744779CBF1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Additional coalescent tree analysis (I’m curious about your opinions!)</a:t>
            </a:r>
          </a:p>
        </p:txBody>
      </p:sp>
      <p:pic>
        <p:nvPicPr>
          <p:cNvPr id="12290" name="Picture 2">
            <a:extLst>
              <a:ext uri="{FF2B5EF4-FFF2-40B4-BE49-F238E27FC236}">
                <a16:creationId xmlns:a16="http://schemas.microsoft.com/office/drawing/2014/main" id="{C17C50CC-7668-7CED-59F4-6C99A99DE1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08"/>
          <a:stretch>
            <a:fillRect/>
          </a:stretch>
        </p:blipFill>
        <p:spPr bwMode="auto">
          <a:xfrm>
            <a:off x="6350" y="6172200"/>
            <a:ext cx="13004800" cy="3581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2C62DF6-AB7D-0770-29C6-090E10DC1B90}"/>
              </a:ext>
            </a:extLst>
          </p:cNvPr>
          <p:cNvSpPr/>
          <p:nvPr/>
        </p:nvSpPr>
        <p:spPr>
          <a:xfrm>
            <a:off x="787400" y="6477000"/>
            <a:ext cx="1143000" cy="2819400"/>
          </a:xfrm>
          <a:prstGeom prst="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a:extLst>
              <a:ext uri="{FF2B5EF4-FFF2-40B4-BE49-F238E27FC236}">
                <a16:creationId xmlns:a16="http://schemas.microsoft.com/office/drawing/2014/main" id="{ADEAC90D-FEC2-CE36-4645-384E6502F8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547" t="10832" b="60162"/>
          <a:stretch>
            <a:fillRect/>
          </a:stretch>
        </p:blipFill>
        <p:spPr bwMode="auto">
          <a:xfrm>
            <a:off x="11131550" y="6692622"/>
            <a:ext cx="18796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2DB671F-917C-1EFC-1A40-FEBA2211BBE3}"/>
              </a:ext>
            </a:extLst>
          </p:cNvPr>
          <p:cNvPicPr>
            <a:picLocks noChangeAspect="1"/>
          </p:cNvPicPr>
          <p:nvPr/>
        </p:nvPicPr>
        <p:blipFill>
          <a:blip r:embed="rId4"/>
          <a:stretch>
            <a:fillRect/>
          </a:stretch>
        </p:blipFill>
        <p:spPr>
          <a:xfrm>
            <a:off x="647705" y="2944929"/>
            <a:ext cx="11410945" cy="685800"/>
          </a:xfrm>
          <a:prstGeom prst="rect">
            <a:avLst/>
          </a:prstGeom>
        </p:spPr>
      </p:pic>
      <p:sp>
        <p:nvSpPr>
          <p:cNvPr id="7" name="TextBox 6">
            <a:extLst>
              <a:ext uri="{FF2B5EF4-FFF2-40B4-BE49-F238E27FC236}">
                <a16:creationId xmlns:a16="http://schemas.microsoft.com/office/drawing/2014/main" id="{38BAC220-8421-84B1-71B6-0B168E31FC49}"/>
              </a:ext>
            </a:extLst>
          </p:cNvPr>
          <p:cNvSpPr txBox="1"/>
          <p:nvPr/>
        </p:nvSpPr>
        <p:spPr>
          <a:xfrm>
            <a:off x="196181" y="2385427"/>
            <a:ext cx="3581430" cy="523220"/>
          </a:xfrm>
          <a:prstGeom prst="rect">
            <a:avLst/>
          </a:prstGeom>
          <a:noFill/>
        </p:spPr>
        <p:txBody>
          <a:bodyPr wrap="none" rtlCol="0">
            <a:spAutoFit/>
          </a:bodyPr>
          <a:lstStyle/>
          <a:p>
            <a:r>
              <a:rPr lang="en-US" sz="2800" dirty="0">
                <a:latin typeface="Yu Gothic" panose="020B0400000000000000" pitchFamily="34" charset="-128"/>
                <a:ea typeface="Yu Gothic" panose="020B0400000000000000" pitchFamily="34" charset="-128"/>
              </a:rPr>
              <a:t>One-epoch model fit</a:t>
            </a:r>
          </a:p>
        </p:txBody>
      </p:sp>
      <p:sp>
        <p:nvSpPr>
          <p:cNvPr id="8" name="TextBox 7">
            <a:extLst>
              <a:ext uri="{FF2B5EF4-FFF2-40B4-BE49-F238E27FC236}">
                <a16:creationId xmlns:a16="http://schemas.microsoft.com/office/drawing/2014/main" id="{6498D329-7E0A-D1D3-3B8D-63676DE5CB70}"/>
              </a:ext>
            </a:extLst>
          </p:cNvPr>
          <p:cNvSpPr txBox="1"/>
          <p:nvPr/>
        </p:nvSpPr>
        <p:spPr>
          <a:xfrm>
            <a:off x="160915" y="4487607"/>
            <a:ext cx="3616696" cy="523220"/>
          </a:xfrm>
          <a:prstGeom prst="rect">
            <a:avLst/>
          </a:prstGeom>
          <a:noFill/>
        </p:spPr>
        <p:txBody>
          <a:bodyPr wrap="none" rtlCol="0">
            <a:spAutoFit/>
          </a:bodyPr>
          <a:lstStyle/>
          <a:p>
            <a:r>
              <a:rPr lang="en-US" sz="2800" dirty="0">
                <a:latin typeface="Yu Gothic" panose="020B0400000000000000" pitchFamily="34" charset="-128"/>
                <a:ea typeface="Yu Gothic" panose="020B0400000000000000" pitchFamily="34" charset="-128"/>
              </a:rPr>
              <a:t>Two-epoch model fit</a:t>
            </a:r>
          </a:p>
        </p:txBody>
      </p:sp>
      <p:pic>
        <p:nvPicPr>
          <p:cNvPr id="10" name="Picture 9">
            <a:extLst>
              <a:ext uri="{FF2B5EF4-FFF2-40B4-BE49-F238E27FC236}">
                <a16:creationId xmlns:a16="http://schemas.microsoft.com/office/drawing/2014/main" id="{4C61A42A-7C08-0EBC-8947-701E360FFDE4}"/>
              </a:ext>
            </a:extLst>
          </p:cNvPr>
          <p:cNvPicPr>
            <a:picLocks noChangeAspect="1"/>
          </p:cNvPicPr>
          <p:nvPr/>
        </p:nvPicPr>
        <p:blipFill>
          <a:blip r:embed="rId5"/>
          <a:stretch>
            <a:fillRect/>
          </a:stretch>
        </p:blipFill>
        <p:spPr>
          <a:xfrm>
            <a:off x="469900" y="5183443"/>
            <a:ext cx="11417649" cy="685800"/>
          </a:xfrm>
          <a:prstGeom prst="rect">
            <a:avLst/>
          </a:prstGeom>
        </p:spPr>
      </p:pic>
      <p:sp>
        <p:nvSpPr>
          <p:cNvPr id="12" name="Left Brace 11">
            <a:extLst>
              <a:ext uri="{FF2B5EF4-FFF2-40B4-BE49-F238E27FC236}">
                <a16:creationId xmlns:a16="http://schemas.microsoft.com/office/drawing/2014/main" id="{E1435F03-19D5-BC7D-3B2E-135EBFA966C2}"/>
              </a:ext>
            </a:extLst>
          </p:cNvPr>
          <p:cNvSpPr/>
          <p:nvPr/>
        </p:nvSpPr>
        <p:spPr>
          <a:xfrm rot="5400000">
            <a:off x="4939412" y="4140267"/>
            <a:ext cx="166876" cy="17526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3" name="Left Brace 12">
            <a:extLst>
              <a:ext uri="{FF2B5EF4-FFF2-40B4-BE49-F238E27FC236}">
                <a16:creationId xmlns:a16="http://schemas.microsoft.com/office/drawing/2014/main" id="{16B2C58C-81B8-1C54-A1AB-3CA3874B7873}"/>
              </a:ext>
            </a:extLst>
          </p:cNvPr>
          <p:cNvSpPr/>
          <p:nvPr/>
        </p:nvSpPr>
        <p:spPr>
          <a:xfrm rot="5400000">
            <a:off x="6844412" y="4140267"/>
            <a:ext cx="166876" cy="17526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1A5626D7-A0DB-C5B3-FDE3-B571F8B26D95}"/>
              </a:ext>
            </a:extLst>
          </p:cNvPr>
          <p:cNvSpPr txBox="1"/>
          <p:nvPr/>
        </p:nvSpPr>
        <p:spPr>
          <a:xfrm>
            <a:off x="4759797" y="4622800"/>
            <a:ext cx="526106" cy="400110"/>
          </a:xfrm>
          <a:prstGeom prst="rect">
            <a:avLst/>
          </a:prstGeom>
          <a:noFill/>
        </p:spPr>
        <p:txBody>
          <a:bodyPr wrap="none" rtlCol="0">
            <a:spAutoFit/>
          </a:bodyPr>
          <a:lstStyle/>
          <a:p>
            <a:r>
              <a:rPr lang="en-US" sz="2000" dirty="0">
                <a:latin typeface="Yu Gothic" panose="020B0400000000000000" pitchFamily="34" charset="-128"/>
                <a:ea typeface="Yu Gothic" panose="020B0400000000000000" pitchFamily="34" charset="-128"/>
              </a:rPr>
              <a:t>Nu</a:t>
            </a:r>
          </a:p>
        </p:txBody>
      </p:sp>
      <p:sp>
        <p:nvSpPr>
          <p:cNvPr id="15" name="TextBox 14">
            <a:extLst>
              <a:ext uri="{FF2B5EF4-FFF2-40B4-BE49-F238E27FC236}">
                <a16:creationId xmlns:a16="http://schemas.microsoft.com/office/drawing/2014/main" id="{7386D48A-3C7B-E58A-D594-F2ACF80F22C6}"/>
              </a:ext>
            </a:extLst>
          </p:cNvPr>
          <p:cNvSpPr txBox="1"/>
          <p:nvPr/>
        </p:nvSpPr>
        <p:spPr>
          <a:xfrm>
            <a:off x="6608692" y="4629090"/>
            <a:ext cx="638316" cy="400110"/>
          </a:xfrm>
          <a:prstGeom prst="rect">
            <a:avLst/>
          </a:prstGeom>
          <a:noFill/>
        </p:spPr>
        <p:txBody>
          <a:bodyPr wrap="none" rtlCol="0">
            <a:spAutoFit/>
          </a:bodyPr>
          <a:lstStyle/>
          <a:p>
            <a:r>
              <a:rPr lang="en-US" sz="2000" dirty="0">
                <a:latin typeface="Yu Gothic" panose="020B0400000000000000" pitchFamily="34" charset="-128"/>
                <a:ea typeface="Yu Gothic" panose="020B0400000000000000" pitchFamily="34" charset="-128"/>
              </a:rPr>
              <a:t>Tau</a:t>
            </a:r>
          </a:p>
        </p:txBody>
      </p:sp>
      <p:sp>
        <p:nvSpPr>
          <p:cNvPr id="16" name="TextBox 15">
            <a:extLst>
              <a:ext uri="{FF2B5EF4-FFF2-40B4-BE49-F238E27FC236}">
                <a16:creationId xmlns:a16="http://schemas.microsoft.com/office/drawing/2014/main" id="{5B92CF35-ADB3-A255-EBC3-58FBD2BEDA9C}"/>
              </a:ext>
            </a:extLst>
          </p:cNvPr>
          <p:cNvSpPr txBox="1"/>
          <p:nvPr/>
        </p:nvSpPr>
        <p:spPr>
          <a:xfrm>
            <a:off x="4373229" y="2232165"/>
            <a:ext cx="2135521" cy="400110"/>
          </a:xfrm>
          <a:prstGeom prst="rect">
            <a:avLst/>
          </a:prstGeom>
          <a:noFill/>
        </p:spPr>
        <p:txBody>
          <a:bodyPr wrap="none" rtlCol="0">
            <a:spAutoFit/>
          </a:bodyPr>
          <a:lstStyle/>
          <a:p>
            <a:r>
              <a:rPr lang="en-US" sz="2000" dirty="0">
                <a:latin typeface="Yu Gothic" panose="020B0400000000000000" pitchFamily="34" charset="-128"/>
                <a:ea typeface="Yu Gothic" panose="020B0400000000000000" pitchFamily="34" charset="-128"/>
              </a:rPr>
              <a:t>Dummy-variable</a:t>
            </a:r>
          </a:p>
        </p:txBody>
      </p:sp>
      <p:sp>
        <p:nvSpPr>
          <p:cNvPr id="17" name="Left Brace 16">
            <a:extLst>
              <a:ext uri="{FF2B5EF4-FFF2-40B4-BE49-F238E27FC236}">
                <a16:creationId xmlns:a16="http://schemas.microsoft.com/office/drawing/2014/main" id="{314C75B1-57DA-59D1-2FD6-8DF2A5BB3261}"/>
              </a:ext>
            </a:extLst>
          </p:cNvPr>
          <p:cNvSpPr/>
          <p:nvPr/>
        </p:nvSpPr>
        <p:spPr>
          <a:xfrm rot="5400000">
            <a:off x="5218986" y="1795608"/>
            <a:ext cx="166876" cy="175260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556887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7A16-7188-C210-0373-3BAB351E2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8BB6F-0A06-7CF9-1369-868B07AA38B6}"/>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Thesis chapter overview</a:t>
            </a:r>
          </a:p>
        </p:txBody>
      </p:sp>
      <p:sp>
        <p:nvSpPr>
          <p:cNvPr id="3" name="Text Placeholder 2">
            <a:extLst>
              <a:ext uri="{FF2B5EF4-FFF2-40B4-BE49-F238E27FC236}">
                <a16:creationId xmlns:a16="http://schemas.microsoft.com/office/drawing/2014/main" id="{AE5F2952-4796-0651-5A8B-61C44A57B993}"/>
              </a:ext>
            </a:extLst>
          </p:cNvPr>
          <p:cNvSpPr>
            <a:spLocks noGrp="1"/>
          </p:cNvSpPr>
          <p:nvPr>
            <p:ph type="body" idx="1"/>
          </p:nvPr>
        </p:nvSpPr>
        <p:spPr>
          <a:xfrm>
            <a:off x="825500" y="2889468"/>
            <a:ext cx="11353800" cy="5909310"/>
          </a:xfrm>
        </p:spPr>
        <p:txBody>
          <a:bodyPr/>
          <a:lstStyle/>
          <a:p>
            <a:pPr marL="514350" indent="-514350">
              <a:buFont typeface="+mj-lt"/>
              <a:buAutoNum type="arabicPeriod"/>
            </a:pPr>
            <a:r>
              <a:rPr lang="en-US" sz="3200" dirty="0">
                <a:latin typeface="Yu Gothic" panose="020B0400000000000000" pitchFamily="34" charset="-128"/>
                <a:ea typeface="Yu Gothic" panose="020B0400000000000000" pitchFamily="34" charset="-128"/>
              </a:rPr>
              <a:t>What is the population demographic history and distribution of selective effects of human gut commensal bacteria?</a:t>
            </a:r>
            <a:br>
              <a:rPr lang="en-US" sz="3200" dirty="0">
                <a:latin typeface="Yu Gothic" panose="020B0400000000000000" pitchFamily="34" charset="-128"/>
                <a:ea typeface="Yu Gothic" panose="020B0400000000000000" pitchFamily="34" charset="-128"/>
              </a:rPr>
            </a:br>
            <a:br>
              <a:rPr lang="en-US" sz="3200" dirty="0">
                <a:latin typeface="Yu Gothic" panose="020B0400000000000000" pitchFamily="34" charset="-128"/>
                <a:ea typeface="Yu Gothic" panose="020B0400000000000000" pitchFamily="34" charset="-128"/>
              </a:rPr>
            </a:br>
            <a:endParaRPr lang="en-US" sz="3200" dirty="0">
              <a:latin typeface="Yu Gothic" panose="020B0400000000000000" pitchFamily="34" charset="-128"/>
              <a:ea typeface="Yu Gothic" panose="020B0400000000000000" pitchFamily="34" charset="-128"/>
            </a:endParaRPr>
          </a:p>
          <a:p>
            <a:pPr marL="514350" indent="-514350">
              <a:buFont typeface="+mj-lt"/>
              <a:buAutoNum type="arabicPeriod"/>
            </a:pPr>
            <a:r>
              <a:rPr lang="en-US" sz="3200"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br>
              <a:rPr lang="en-US" sz="3200" dirty="0">
                <a:latin typeface="Yu Gothic" panose="020B0400000000000000" pitchFamily="34" charset="-128"/>
                <a:ea typeface="Yu Gothic" panose="020B0400000000000000" pitchFamily="34" charset="-128"/>
                <a:cs typeface="Arial" panose="020B0604020202020204" pitchFamily="34" charset="0"/>
              </a:rPr>
            </a:br>
            <a:br>
              <a:rPr lang="en-US" sz="3200" dirty="0">
                <a:latin typeface="Yu Gothic" panose="020B0400000000000000" pitchFamily="34" charset="-128"/>
                <a:ea typeface="Yu Gothic" panose="020B0400000000000000" pitchFamily="34" charset="-128"/>
                <a:cs typeface="Arial" panose="020B0604020202020204" pitchFamily="34" charset="0"/>
              </a:rPr>
            </a:br>
            <a:endParaRPr lang="en-US" sz="3200" dirty="0">
              <a:latin typeface="Yu Gothic" panose="020B0400000000000000" pitchFamily="34" charset="-128"/>
              <a:ea typeface="Yu Gothic" panose="020B0400000000000000" pitchFamily="34" charset="-128"/>
              <a:cs typeface="Arial" panose="020B0604020202020204" pitchFamily="34" charset="0"/>
            </a:endParaRPr>
          </a:p>
          <a:p>
            <a:pPr marL="514350" indent="-514350">
              <a:buFont typeface="+mj-lt"/>
              <a:buAutoNum type="arabicPeriod"/>
            </a:pPr>
            <a:r>
              <a:rPr lang="en-US" sz="3200" b="1" dirty="0">
                <a:latin typeface="Yu Gothic" panose="020B0400000000000000" pitchFamily="34" charset="-128"/>
                <a:ea typeface="Yu Gothic" panose="020B0400000000000000" pitchFamily="34" charset="-128"/>
                <a:cs typeface="Arial" panose="020B0604020202020204" pitchFamily="34" charset="0"/>
              </a:rPr>
              <a:t>How do differences between population genetic datasets affect their distribution of fitness effects?</a:t>
            </a:r>
            <a:endParaRPr lang="en-US" sz="3200" b="1"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2694593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C2BE5-B639-E6E8-0016-87DCB6DB52A1}"/>
              </a:ext>
            </a:extLst>
          </p:cNvPr>
          <p:cNvSpPr>
            <a:spLocks noGrp="1"/>
          </p:cNvSpPr>
          <p:nvPr>
            <p:ph type="title"/>
          </p:nvPr>
        </p:nvSpPr>
        <p:spPr>
          <a:xfrm>
            <a:off x="463550" y="965200"/>
            <a:ext cx="12077700" cy="2123658"/>
          </a:xfrm>
        </p:spPr>
        <p:txBody>
          <a:bodyPr/>
          <a:lstStyle/>
          <a:p>
            <a:r>
              <a:rPr lang="en-US" dirty="0">
                <a:latin typeface="Yu Gothic" panose="020B0400000000000000" pitchFamily="34" charset="-128"/>
                <a:ea typeface="Yu Gothic" panose="020B0400000000000000" pitchFamily="34" charset="-128"/>
              </a:rPr>
              <a:t>Human genomes are well-studied in terms of their genetic variation, yielding multiple huge datasets</a:t>
            </a:r>
          </a:p>
        </p:txBody>
      </p:sp>
      <p:pic>
        <p:nvPicPr>
          <p:cNvPr id="5" name="Picture 4">
            <a:extLst>
              <a:ext uri="{FF2B5EF4-FFF2-40B4-BE49-F238E27FC236}">
                <a16:creationId xmlns:a16="http://schemas.microsoft.com/office/drawing/2014/main" id="{CF169580-787F-7A5C-2CB2-9FCEC3C289E5}"/>
              </a:ext>
            </a:extLst>
          </p:cNvPr>
          <p:cNvPicPr>
            <a:picLocks noChangeAspect="1"/>
          </p:cNvPicPr>
          <p:nvPr/>
        </p:nvPicPr>
        <p:blipFill>
          <a:blip r:embed="rId2"/>
          <a:stretch>
            <a:fillRect/>
          </a:stretch>
        </p:blipFill>
        <p:spPr>
          <a:xfrm>
            <a:off x="2616200" y="3276386"/>
            <a:ext cx="6668431" cy="3067478"/>
          </a:xfrm>
          <a:prstGeom prst="rect">
            <a:avLst/>
          </a:prstGeom>
        </p:spPr>
      </p:pic>
      <p:pic>
        <p:nvPicPr>
          <p:cNvPr id="7" name="Picture 6">
            <a:extLst>
              <a:ext uri="{FF2B5EF4-FFF2-40B4-BE49-F238E27FC236}">
                <a16:creationId xmlns:a16="http://schemas.microsoft.com/office/drawing/2014/main" id="{92F7421B-4C1F-0CD4-DA67-247220091ED2}"/>
              </a:ext>
            </a:extLst>
          </p:cNvPr>
          <p:cNvPicPr>
            <a:picLocks noChangeAspect="1"/>
          </p:cNvPicPr>
          <p:nvPr/>
        </p:nvPicPr>
        <p:blipFill>
          <a:blip r:embed="rId3"/>
          <a:srcRect r="3523"/>
          <a:stretch>
            <a:fillRect/>
          </a:stretch>
        </p:blipFill>
        <p:spPr>
          <a:xfrm>
            <a:off x="6707870" y="5635406"/>
            <a:ext cx="6258830" cy="3105583"/>
          </a:xfrm>
          <a:prstGeom prst="rect">
            <a:avLst/>
          </a:prstGeom>
        </p:spPr>
      </p:pic>
      <p:pic>
        <p:nvPicPr>
          <p:cNvPr id="9" name="Picture 8">
            <a:extLst>
              <a:ext uri="{FF2B5EF4-FFF2-40B4-BE49-F238E27FC236}">
                <a16:creationId xmlns:a16="http://schemas.microsoft.com/office/drawing/2014/main" id="{F64CCF08-1BFC-2F92-36E1-A38CD56D56F5}"/>
              </a:ext>
            </a:extLst>
          </p:cNvPr>
          <p:cNvPicPr>
            <a:picLocks noChangeAspect="1"/>
          </p:cNvPicPr>
          <p:nvPr/>
        </p:nvPicPr>
        <p:blipFill>
          <a:blip r:embed="rId4"/>
          <a:stretch>
            <a:fillRect/>
          </a:stretch>
        </p:blipFill>
        <p:spPr>
          <a:xfrm>
            <a:off x="25400" y="6645692"/>
            <a:ext cx="6582694" cy="2657846"/>
          </a:xfrm>
          <a:prstGeom prst="rect">
            <a:avLst/>
          </a:prstGeom>
        </p:spPr>
      </p:pic>
    </p:spTree>
    <p:extLst>
      <p:ext uri="{BB962C8B-B14F-4D97-AF65-F5344CB8AC3E}">
        <p14:creationId xmlns:p14="http://schemas.microsoft.com/office/powerpoint/2010/main" val="1046608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68408-7A0A-D07C-A62D-F4949CC2F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F7B7B-1161-9DEE-2D47-E5447F94EC0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I’m investigating two of these datasets (1KG sampled at two different times)</a:t>
            </a:r>
          </a:p>
        </p:txBody>
      </p:sp>
      <p:pic>
        <p:nvPicPr>
          <p:cNvPr id="5" name="Picture 4">
            <a:extLst>
              <a:ext uri="{FF2B5EF4-FFF2-40B4-BE49-F238E27FC236}">
                <a16:creationId xmlns:a16="http://schemas.microsoft.com/office/drawing/2014/main" id="{5FAA9731-E343-FB01-F0EF-764800DA1F76}"/>
              </a:ext>
            </a:extLst>
          </p:cNvPr>
          <p:cNvPicPr>
            <a:picLocks noChangeAspect="1"/>
          </p:cNvPicPr>
          <p:nvPr/>
        </p:nvPicPr>
        <p:blipFill>
          <a:blip r:embed="rId2"/>
          <a:stretch>
            <a:fillRect/>
          </a:stretch>
        </p:blipFill>
        <p:spPr>
          <a:xfrm>
            <a:off x="2616200" y="3276386"/>
            <a:ext cx="6668431" cy="3067478"/>
          </a:xfrm>
          <a:prstGeom prst="rect">
            <a:avLst/>
          </a:prstGeom>
          <a:ln w="76200">
            <a:solidFill>
              <a:srgbClr val="FF0000"/>
            </a:solidFill>
          </a:ln>
        </p:spPr>
      </p:pic>
      <p:pic>
        <p:nvPicPr>
          <p:cNvPr id="7" name="Picture 6">
            <a:extLst>
              <a:ext uri="{FF2B5EF4-FFF2-40B4-BE49-F238E27FC236}">
                <a16:creationId xmlns:a16="http://schemas.microsoft.com/office/drawing/2014/main" id="{BCB916BB-4092-9E49-B29C-503AF69E63DB}"/>
              </a:ext>
            </a:extLst>
          </p:cNvPr>
          <p:cNvPicPr>
            <a:picLocks noChangeAspect="1"/>
          </p:cNvPicPr>
          <p:nvPr/>
        </p:nvPicPr>
        <p:blipFill>
          <a:blip r:embed="rId3"/>
          <a:srcRect r="3523"/>
          <a:stretch>
            <a:fillRect/>
          </a:stretch>
        </p:blipFill>
        <p:spPr>
          <a:xfrm>
            <a:off x="6707870" y="5635406"/>
            <a:ext cx="6258830" cy="3105583"/>
          </a:xfrm>
          <a:prstGeom prst="rect">
            <a:avLst/>
          </a:prstGeom>
          <a:ln w="76200">
            <a:solidFill>
              <a:srgbClr val="FF0000"/>
            </a:solidFill>
          </a:ln>
        </p:spPr>
      </p:pic>
      <p:pic>
        <p:nvPicPr>
          <p:cNvPr id="9" name="Picture 8">
            <a:extLst>
              <a:ext uri="{FF2B5EF4-FFF2-40B4-BE49-F238E27FC236}">
                <a16:creationId xmlns:a16="http://schemas.microsoft.com/office/drawing/2014/main" id="{3A4A3857-386A-E625-B669-B3F560BF34FF}"/>
              </a:ext>
            </a:extLst>
          </p:cNvPr>
          <p:cNvPicPr>
            <a:picLocks noChangeAspect="1"/>
          </p:cNvPicPr>
          <p:nvPr/>
        </p:nvPicPr>
        <p:blipFill>
          <a:blip r:embed="rId4"/>
          <a:stretch>
            <a:fillRect/>
          </a:stretch>
        </p:blipFill>
        <p:spPr>
          <a:xfrm>
            <a:off x="25400" y="6645692"/>
            <a:ext cx="6582694" cy="2657846"/>
          </a:xfrm>
          <a:prstGeom prst="rect">
            <a:avLst/>
          </a:prstGeom>
        </p:spPr>
      </p:pic>
    </p:spTree>
    <p:extLst>
      <p:ext uri="{BB962C8B-B14F-4D97-AF65-F5344CB8AC3E}">
        <p14:creationId xmlns:p14="http://schemas.microsoft.com/office/powerpoint/2010/main" val="3614546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9CB05-E0D1-3E16-E1C5-5AEBE7CBD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A2688-59BA-97E1-7C5B-738AD29AC5A1}"/>
              </a:ext>
            </a:extLst>
          </p:cNvPr>
          <p:cNvSpPr>
            <a:spLocks noGrp="1"/>
          </p:cNvSpPr>
          <p:nvPr>
            <p:ph type="title"/>
          </p:nvPr>
        </p:nvSpPr>
        <p:spPr>
          <a:xfrm>
            <a:off x="463550" y="609600"/>
            <a:ext cx="12077700" cy="1771372"/>
          </a:xfrm>
        </p:spPr>
        <p:txBody>
          <a:bodyPr/>
          <a:lstStyle/>
          <a:p>
            <a:r>
              <a:rPr lang="en-US" dirty="0">
                <a:latin typeface="Yu Gothic" panose="020B0400000000000000" pitchFamily="34" charset="-128"/>
                <a:ea typeface="Yu Gothic" panose="020B0400000000000000" pitchFamily="34" charset="-128"/>
              </a:rPr>
              <a:t>I got help from Josh </a:t>
            </a:r>
            <a:r>
              <a:rPr lang="en-US" dirty="0" err="1">
                <a:latin typeface="Yu Gothic" panose="020B0400000000000000" pitchFamily="34" charset="-128"/>
                <a:ea typeface="Yu Gothic" panose="020B0400000000000000" pitchFamily="34" charset="-128"/>
              </a:rPr>
              <a:t>Schraiber</a:t>
            </a:r>
            <a:r>
              <a:rPr lang="en-US" dirty="0">
                <a:latin typeface="Yu Gothic" panose="020B0400000000000000" pitchFamily="34" charset="-128"/>
                <a:ea typeface="Yu Gothic" panose="020B0400000000000000" pitchFamily="34" charset="-128"/>
              </a:rPr>
              <a:t> using DR EVIL to parse through the </a:t>
            </a:r>
            <a:r>
              <a:rPr lang="en-US" dirty="0" err="1">
                <a:latin typeface="Yu Gothic" panose="020B0400000000000000" pitchFamily="34" charset="-128"/>
                <a:ea typeface="Yu Gothic" panose="020B0400000000000000" pitchFamily="34" charset="-128"/>
              </a:rPr>
              <a:t>gnomAD</a:t>
            </a:r>
            <a:r>
              <a:rPr lang="en-US" dirty="0">
                <a:latin typeface="Yu Gothic" panose="020B0400000000000000" pitchFamily="34" charset="-128"/>
                <a:ea typeface="Yu Gothic" panose="020B0400000000000000" pitchFamily="34" charset="-128"/>
              </a:rPr>
              <a:t> data</a:t>
            </a:r>
          </a:p>
        </p:txBody>
      </p:sp>
      <p:pic>
        <p:nvPicPr>
          <p:cNvPr id="4" name="Picture 3">
            <a:extLst>
              <a:ext uri="{FF2B5EF4-FFF2-40B4-BE49-F238E27FC236}">
                <a16:creationId xmlns:a16="http://schemas.microsoft.com/office/drawing/2014/main" id="{AA912C2A-8589-A802-0FE5-3D55AAB96DDA}"/>
              </a:ext>
            </a:extLst>
          </p:cNvPr>
          <p:cNvPicPr>
            <a:picLocks noChangeAspect="1"/>
          </p:cNvPicPr>
          <p:nvPr/>
        </p:nvPicPr>
        <p:blipFill>
          <a:blip r:embed="rId2"/>
          <a:stretch>
            <a:fillRect/>
          </a:stretch>
        </p:blipFill>
        <p:spPr>
          <a:xfrm>
            <a:off x="25400" y="1905000"/>
            <a:ext cx="8871942" cy="2209800"/>
          </a:xfrm>
          <a:prstGeom prst="rect">
            <a:avLst/>
          </a:prstGeom>
        </p:spPr>
      </p:pic>
      <p:pic>
        <p:nvPicPr>
          <p:cNvPr id="9218" name="Picture 2">
            <a:extLst>
              <a:ext uri="{FF2B5EF4-FFF2-40B4-BE49-F238E27FC236}">
                <a16:creationId xmlns:a16="http://schemas.microsoft.com/office/drawing/2014/main" id="{ECF356F5-7602-C2D0-BE8C-4911882BCD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8265"/>
          <a:stretch>
            <a:fillRect/>
          </a:stretch>
        </p:blipFill>
        <p:spPr bwMode="auto">
          <a:xfrm>
            <a:off x="25400" y="6872798"/>
            <a:ext cx="12979400" cy="2233102"/>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0F996848-01ED-12EF-5F15-124C63FD2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550" y="4114800"/>
            <a:ext cx="10528300" cy="2702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3949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D7A5-AFF5-B013-9D89-FC2DA938538E}"/>
              </a:ext>
            </a:extLst>
          </p:cNvPr>
          <p:cNvSpPr>
            <a:spLocks noGrp="1"/>
          </p:cNvSpPr>
          <p:nvPr>
            <p:ph type="title"/>
          </p:nvPr>
        </p:nvSpPr>
        <p:spPr>
          <a:xfrm>
            <a:off x="463550" y="28074"/>
            <a:ext cx="12077700" cy="2123658"/>
          </a:xfrm>
        </p:spPr>
        <p:txBody>
          <a:bodyPr/>
          <a:lstStyle/>
          <a:p>
            <a:r>
              <a:rPr lang="en-US" dirty="0">
                <a:latin typeface="Yu Gothic" panose="020B0400000000000000" pitchFamily="34" charset="-128"/>
                <a:ea typeface="Yu Gothic" panose="020B0400000000000000" pitchFamily="34" charset="-128"/>
              </a:rPr>
              <a:t>I am isolating “dataset-specific” factors by controlling for sample size and population structure (EUR)</a:t>
            </a:r>
          </a:p>
        </p:txBody>
      </p:sp>
      <p:pic>
        <p:nvPicPr>
          <p:cNvPr id="6" name="Picture 5">
            <a:extLst>
              <a:ext uri="{FF2B5EF4-FFF2-40B4-BE49-F238E27FC236}">
                <a16:creationId xmlns:a16="http://schemas.microsoft.com/office/drawing/2014/main" id="{FF8797F8-CF56-0D05-73F4-2026B041FAC7}"/>
              </a:ext>
            </a:extLst>
          </p:cNvPr>
          <p:cNvPicPr>
            <a:picLocks noChangeAspect="1"/>
          </p:cNvPicPr>
          <p:nvPr/>
        </p:nvPicPr>
        <p:blipFill>
          <a:blip r:embed="rId2"/>
          <a:stretch>
            <a:fillRect/>
          </a:stretch>
        </p:blipFill>
        <p:spPr>
          <a:xfrm>
            <a:off x="0" y="2613814"/>
            <a:ext cx="13004800" cy="7092662"/>
          </a:xfrm>
          <a:prstGeom prst="rect">
            <a:avLst/>
          </a:prstGeom>
        </p:spPr>
      </p:pic>
    </p:spTree>
    <p:extLst>
      <p:ext uri="{BB962C8B-B14F-4D97-AF65-F5344CB8AC3E}">
        <p14:creationId xmlns:p14="http://schemas.microsoft.com/office/powerpoint/2010/main" val="1552516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FADFA-23F7-9616-AE25-9A19E1621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2846A-7DB8-372C-350A-E34B185D8BA2}"/>
              </a:ext>
            </a:extLst>
          </p:cNvPr>
          <p:cNvSpPr>
            <a:spLocks noGrp="1"/>
          </p:cNvSpPr>
          <p:nvPr>
            <p:ph type="title"/>
          </p:nvPr>
        </p:nvSpPr>
        <p:spPr>
          <a:xfrm>
            <a:off x="463550" y="28074"/>
            <a:ext cx="12077700" cy="2123658"/>
          </a:xfrm>
        </p:spPr>
        <p:txBody>
          <a:bodyPr/>
          <a:lstStyle/>
          <a:p>
            <a:r>
              <a:rPr lang="en-US" dirty="0">
                <a:latin typeface="Yu Gothic" panose="020B0400000000000000" pitchFamily="34" charset="-128"/>
                <a:ea typeface="Yu Gothic" panose="020B0400000000000000" pitchFamily="34" charset="-128"/>
              </a:rPr>
              <a:t>I am isolating “dataset-specific” factors by controlling for sample size and population structure (EUR)</a:t>
            </a:r>
          </a:p>
        </p:txBody>
      </p:sp>
      <p:pic>
        <p:nvPicPr>
          <p:cNvPr id="5" name="Picture 4">
            <a:extLst>
              <a:ext uri="{FF2B5EF4-FFF2-40B4-BE49-F238E27FC236}">
                <a16:creationId xmlns:a16="http://schemas.microsoft.com/office/drawing/2014/main" id="{C69689AB-7261-C2DD-15DC-F2A986560838}"/>
              </a:ext>
            </a:extLst>
          </p:cNvPr>
          <p:cNvPicPr>
            <a:picLocks noChangeAspect="1"/>
          </p:cNvPicPr>
          <p:nvPr/>
        </p:nvPicPr>
        <p:blipFill>
          <a:blip r:embed="rId2"/>
          <a:stretch>
            <a:fillRect/>
          </a:stretch>
        </p:blipFill>
        <p:spPr>
          <a:xfrm>
            <a:off x="0" y="2660938"/>
            <a:ext cx="13004800" cy="7092662"/>
          </a:xfrm>
          <a:prstGeom prst="rect">
            <a:avLst/>
          </a:prstGeom>
        </p:spPr>
      </p:pic>
    </p:spTree>
    <p:extLst>
      <p:ext uri="{BB962C8B-B14F-4D97-AF65-F5344CB8AC3E}">
        <p14:creationId xmlns:p14="http://schemas.microsoft.com/office/powerpoint/2010/main" val="24349927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C79F3-5C53-D37D-C359-1DA420BA4C43}"/>
              </a:ext>
            </a:extLst>
          </p:cNvPr>
          <p:cNvSpPr>
            <a:spLocks noGrp="1"/>
          </p:cNvSpPr>
          <p:nvPr>
            <p:ph type="title"/>
          </p:nvPr>
        </p:nvSpPr>
        <p:spPr>
          <a:xfrm>
            <a:off x="463550" y="965200"/>
            <a:ext cx="12077700" cy="1415772"/>
          </a:xfrm>
        </p:spPr>
        <p:txBody>
          <a:bodyPr/>
          <a:lstStyle/>
          <a:p>
            <a:r>
              <a:rPr lang="en-US" dirty="0"/>
              <a:t>Dataset choice yields different inferred population demographic histories.</a:t>
            </a:r>
          </a:p>
        </p:txBody>
      </p:sp>
      <p:pic>
        <p:nvPicPr>
          <p:cNvPr id="5" name="Picture 4">
            <a:extLst>
              <a:ext uri="{FF2B5EF4-FFF2-40B4-BE49-F238E27FC236}">
                <a16:creationId xmlns:a16="http://schemas.microsoft.com/office/drawing/2014/main" id="{F257A29F-0A31-6FFC-3BDA-A64C7717267A}"/>
              </a:ext>
            </a:extLst>
          </p:cNvPr>
          <p:cNvPicPr>
            <a:picLocks noChangeAspect="1"/>
          </p:cNvPicPr>
          <p:nvPr/>
        </p:nvPicPr>
        <p:blipFill>
          <a:blip r:embed="rId2"/>
          <a:stretch>
            <a:fillRect/>
          </a:stretch>
        </p:blipFill>
        <p:spPr>
          <a:xfrm>
            <a:off x="0" y="2660938"/>
            <a:ext cx="13004800" cy="7092662"/>
          </a:xfrm>
          <a:prstGeom prst="rect">
            <a:avLst/>
          </a:prstGeom>
        </p:spPr>
      </p:pic>
    </p:spTree>
    <p:extLst>
      <p:ext uri="{BB962C8B-B14F-4D97-AF65-F5344CB8AC3E}">
        <p14:creationId xmlns:p14="http://schemas.microsoft.com/office/powerpoint/2010/main" val="1597662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79E08-3C86-08A9-8F71-AB7285CED211}"/>
              </a:ext>
            </a:extLst>
          </p:cNvPr>
          <p:cNvSpPr>
            <a:spLocks noGrp="1"/>
          </p:cNvSpPr>
          <p:nvPr>
            <p:ph type="title"/>
          </p:nvPr>
        </p:nvSpPr>
        <p:spPr>
          <a:xfrm>
            <a:off x="463550" y="965200"/>
            <a:ext cx="12077700" cy="1415772"/>
          </a:xfrm>
        </p:spPr>
        <p:txBody>
          <a:bodyPr/>
          <a:lstStyle/>
          <a:p>
            <a:r>
              <a:rPr lang="en-US" dirty="0"/>
              <a:t>Dataset choice yields differently inferred gamma-distributed DFEs</a:t>
            </a:r>
          </a:p>
        </p:txBody>
      </p:sp>
      <p:pic>
        <p:nvPicPr>
          <p:cNvPr id="5" name="Picture 4">
            <a:extLst>
              <a:ext uri="{FF2B5EF4-FFF2-40B4-BE49-F238E27FC236}">
                <a16:creationId xmlns:a16="http://schemas.microsoft.com/office/drawing/2014/main" id="{2838643D-6337-2CAD-4A95-C70E536CDF4E}"/>
              </a:ext>
            </a:extLst>
          </p:cNvPr>
          <p:cNvPicPr>
            <a:picLocks noChangeAspect="1"/>
          </p:cNvPicPr>
          <p:nvPr/>
        </p:nvPicPr>
        <p:blipFill>
          <a:blip r:embed="rId2"/>
          <a:stretch>
            <a:fillRect/>
          </a:stretch>
        </p:blipFill>
        <p:spPr>
          <a:xfrm>
            <a:off x="6350" y="2819400"/>
            <a:ext cx="13004800" cy="7092662"/>
          </a:xfrm>
          <a:prstGeom prst="rect">
            <a:avLst/>
          </a:prstGeom>
        </p:spPr>
      </p:pic>
    </p:spTree>
    <p:extLst>
      <p:ext uri="{BB962C8B-B14F-4D97-AF65-F5344CB8AC3E}">
        <p14:creationId xmlns:p14="http://schemas.microsoft.com/office/powerpoint/2010/main" val="24821360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51F52-03B7-894F-1AED-E3EAB7CD0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71D94-8648-0AA6-6813-21E3CB2D7EF0}"/>
              </a:ext>
            </a:extLst>
          </p:cNvPr>
          <p:cNvSpPr>
            <a:spLocks noGrp="1"/>
          </p:cNvSpPr>
          <p:nvPr>
            <p:ph type="title"/>
          </p:nvPr>
        </p:nvSpPr>
        <p:spPr>
          <a:xfrm>
            <a:off x="463550" y="965200"/>
            <a:ext cx="12077700" cy="1415772"/>
          </a:xfrm>
        </p:spPr>
        <p:txBody>
          <a:bodyPr/>
          <a:lstStyle/>
          <a:p>
            <a:r>
              <a:rPr lang="en-US" dirty="0"/>
              <a:t>Dataset choice yields differently inferred neutral + gamma-distributed DFEs</a:t>
            </a:r>
          </a:p>
        </p:txBody>
      </p:sp>
      <p:pic>
        <p:nvPicPr>
          <p:cNvPr id="4" name="Picture 3">
            <a:extLst>
              <a:ext uri="{FF2B5EF4-FFF2-40B4-BE49-F238E27FC236}">
                <a16:creationId xmlns:a16="http://schemas.microsoft.com/office/drawing/2014/main" id="{CB668BEE-5B75-D9FB-BC22-3A5674599774}"/>
              </a:ext>
            </a:extLst>
          </p:cNvPr>
          <p:cNvPicPr>
            <a:picLocks noChangeAspect="1"/>
          </p:cNvPicPr>
          <p:nvPr/>
        </p:nvPicPr>
        <p:blipFill>
          <a:blip r:embed="rId2"/>
          <a:stretch>
            <a:fillRect/>
          </a:stretch>
        </p:blipFill>
        <p:spPr>
          <a:xfrm>
            <a:off x="0" y="2660938"/>
            <a:ext cx="13004800" cy="7092662"/>
          </a:xfrm>
          <a:prstGeom prst="rect">
            <a:avLst/>
          </a:prstGeom>
        </p:spPr>
      </p:pic>
    </p:spTree>
    <p:extLst>
      <p:ext uri="{BB962C8B-B14F-4D97-AF65-F5344CB8AC3E}">
        <p14:creationId xmlns:p14="http://schemas.microsoft.com/office/powerpoint/2010/main" val="34858360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55715-4A21-7D05-BD03-C79660FCC1CC}"/>
            </a:ext>
          </a:extLst>
        </p:cNvPr>
        <p:cNvGrpSpPr/>
        <p:nvPr/>
      </p:nvGrpSpPr>
      <p:grpSpPr>
        <a:xfrm>
          <a:off x="0" y="0"/>
          <a:ext cx="0" cy="0"/>
          <a:chOff x="0" y="0"/>
          <a:chExt cx="0" cy="0"/>
        </a:xfrm>
      </p:grpSpPr>
      <p:sp>
        <p:nvSpPr>
          <p:cNvPr id="7" name="Title 9">
            <a:extLst>
              <a:ext uri="{FF2B5EF4-FFF2-40B4-BE49-F238E27FC236}">
                <a16:creationId xmlns:a16="http://schemas.microsoft.com/office/drawing/2014/main" id="{F2029FEA-A245-046E-3C33-3360DE0AF2EB}"/>
              </a:ext>
            </a:extLst>
          </p:cNvPr>
          <p:cNvSpPr txBox="1">
            <a:spLocks/>
          </p:cNvSpPr>
          <p:nvPr/>
        </p:nvSpPr>
        <p:spPr>
          <a:xfrm>
            <a:off x="463550" y="3962400"/>
            <a:ext cx="12077700" cy="707886"/>
          </a:xfrm>
          <a:prstGeom prst="rect">
            <a:avLst/>
          </a:prstGeom>
        </p:spPr>
        <p:txBody>
          <a:bodyPr wrap="square" lIns="0" tIns="0" rIns="0" bIns="0">
            <a:spAutoFit/>
          </a:bodyPr>
          <a:lstStyle>
            <a:lvl1pPr>
              <a:defRPr sz="2900" b="1" i="0">
                <a:solidFill>
                  <a:schemeClr val="tx1"/>
                </a:solidFill>
                <a:latin typeface="Arial"/>
                <a:ea typeface="+mj-ea"/>
                <a:cs typeface="Arial"/>
              </a:defRPr>
            </a:lvl1pPr>
          </a:lstStyle>
          <a:p>
            <a:pPr algn="ctr"/>
            <a:r>
              <a:rPr lang="en-US" sz="4600" kern="0" dirty="0">
                <a:latin typeface="Yu Gothic" panose="020B0400000000000000" pitchFamily="34" charset="-128"/>
                <a:ea typeface="Yu Gothic" panose="020B0400000000000000" pitchFamily="34" charset="-128"/>
                <a:cs typeface="Arial" panose="020B0604020202020204" pitchFamily="34" charset="0"/>
              </a:rPr>
              <a:t>Post-graduation Plans</a:t>
            </a:r>
          </a:p>
        </p:txBody>
      </p:sp>
    </p:spTree>
    <p:extLst>
      <p:ext uri="{BB962C8B-B14F-4D97-AF65-F5344CB8AC3E}">
        <p14:creationId xmlns:p14="http://schemas.microsoft.com/office/powerpoint/2010/main" val="2740824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7AAAC-3C8A-388F-3943-A7BA3C009DE9}"/>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Postgraduation Plans</a:t>
            </a:r>
          </a:p>
        </p:txBody>
      </p:sp>
      <p:sp>
        <p:nvSpPr>
          <p:cNvPr id="3" name="Text Placeholder 2">
            <a:extLst>
              <a:ext uri="{FF2B5EF4-FFF2-40B4-BE49-F238E27FC236}">
                <a16:creationId xmlns:a16="http://schemas.microsoft.com/office/drawing/2014/main" id="{54B0DEA1-C0F9-F5C0-C574-8C46D50FA8D3}"/>
              </a:ext>
            </a:extLst>
          </p:cNvPr>
          <p:cNvSpPr>
            <a:spLocks noGrp="1"/>
          </p:cNvSpPr>
          <p:nvPr>
            <p:ph type="body" idx="1"/>
          </p:nvPr>
        </p:nvSpPr>
        <p:spPr>
          <a:xfrm>
            <a:off x="825500" y="2325092"/>
            <a:ext cx="11353800" cy="6463308"/>
          </a:xfrm>
        </p:spPr>
        <p:txBody>
          <a:bodyPr/>
          <a:lstStyle/>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I’ve done a lot of </a:t>
            </a:r>
            <a:r>
              <a:rPr lang="en-US" sz="2800" i="1" dirty="0">
                <a:latin typeface="Yu Gothic" panose="020B0400000000000000" pitchFamily="34" charset="-128"/>
                <a:ea typeface="Yu Gothic" panose="020B0400000000000000" pitchFamily="34" charset="-128"/>
              </a:rPr>
              <a:t>schmoozing</a:t>
            </a:r>
            <a:r>
              <a:rPr lang="en-US" sz="2800" dirty="0">
                <a:latin typeface="Yu Gothic" panose="020B0400000000000000" pitchFamily="34" charset="-128"/>
                <a:ea typeface="Yu Gothic" panose="020B0400000000000000" pitchFamily="34" charset="-128"/>
              </a:rPr>
              <a:t>  (i.e., rubbing elbows) with politicians / staffers  at the city and state level through some science policy work. I don’t want to do this full time as I dislike the people.</a:t>
            </a:r>
            <a:br>
              <a:rPr lang="en-US" sz="2800" dirty="0">
                <a:latin typeface="Yu Gothic" panose="020B0400000000000000" pitchFamily="34" charset="-128"/>
                <a:ea typeface="Yu Gothic" panose="020B0400000000000000" pitchFamily="34" charset="-128"/>
              </a:rPr>
            </a:br>
            <a:endParaRPr lang="en-US" sz="2800" dirty="0">
              <a:latin typeface="Yu Gothic" panose="020B0400000000000000" pitchFamily="34" charset="-128"/>
              <a:ea typeface="Yu Gothic" panose="020B0400000000000000" pitchFamily="34" charset="-128"/>
            </a:endParaRPr>
          </a:p>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I’m looking at applying for government research and/or analysis jobs at the city / county / state level, with an emphasis on county jobs, based on my discussions with other scientists in these roles.</a:t>
            </a:r>
          </a:p>
          <a:p>
            <a:pPr marL="285750" indent="-285750">
              <a:buFont typeface="Arial" panose="020B0604020202020204" pitchFamily="34" charset="0"/>
              <a:buChar char="•"/>
            </a:pPr>
            <a:endParaRPr lang="en-US" sz="2800" dirty="0">
              <a:latin typeface="Yu Gothic" panose="020B0400000000000000" pitchFamily="34" charset="-128"/>
              <a:ea typeface="Yu Gothic" panose="020B0400000000000000" pitchFamily="34" charset="-128"/>
            </a:endParaRPr>
          </a:p>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My dream career would be something like a covid (or other infectious disease) wastewater genomics analyst, incorporating population genetics, microbiology, and public health.</a:t>
            </a:r>
            <a:br>
              <a:rPr lang="en-US" sz="2800" dirty="0">
                <a:latin typeface="Yu Gothic" panose="020B0400000000000000" pitchFamily="34" charset="-128"/>
                <a:ea typeface="Yu Gothic" panose="020B0400000000000000" pitchFamily="34" charset="-128"/>
              </a:rPr>
            </a:br>
            <a:endParaRPr lang="en-US" sz="2800" dirty="0">
              <a:latin typeface="Yu Gothic" panose="020B0400000000000000" pitchFamily="34" charset="-128"/>
              <a:ea typeface="Yu Gothic" panose="020B0400000000000000" pitchFamily="34" charset="-128"/>
            </a:endParaRPr>
          </a:p>
          <a:p>
            <a:pPr marL="285750" indent="-285750">
              <a:buFont typeface="Arial" panose="020B0604020202020204" pitchFamily="34" charset="0"/>
              <a:buChar char="•"/>
            </a:pPr>
            <a:r>
              <a:rPr lang="en-US" sz="2800" dirty="0">
                <a:latin typeface="Yu Gothic" panose="020B0400000000000000" pitchFamily="34" charset="-128"/>
                <a:ea typeface="Yu Gothic" panose="020B0400000000000000" pitchFamily="34" charset="-128"/>
              </a:rPr>
              <a:t>These jobs have a 6-month lockout for their minimum-qualification exam, so I plan to apply starting in December and land a job by June.</a:t>
            </a:r>
          </a:p>
        </p:txBody>
      </p:sp>
    </p:spTree>
    <p:extLst>
      <p:ext uri="{BB962C8B-B14F-4D97-AF65-F5344CB8AC3E}">
        <p14:creationId xmlns:p14="http://schemas.microsoft.com/office/powerpoint/2010/main" val="25769436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6BCDB-7D9F-A540-A2AB-2A41AE026395}"/>
            </a:ext>
          </a:extLst>
        </p:cNvPr>
        <p:cNvGrpSpPr/>
        <p:nvPr/>
      </p:nvGrpSpPr>
      <p:grpSpPr>
        <a:xfrm>
          <a:off x="0" y="0"/>
          <a:ext cx="0" cy="0"/>
          <a:chOff x="0" y="0"/>
          <a:chExt cx="0" cy="0"/>
        </a:xfrm>
      </p:grpSpPr>
      <p:sp>
        <p:nvSpPr>
          <p:cNvPr id="7" name="Title 9">
            <a:extLst>
              <a:ext uri="{FF2B5EF4-FFF2-40B4-BE49-F238E27FC236}">
                <a16:creationId xmlns:a16="http://schemas.microsoft.com/office/drawing/2014/main" id="{318A9553-A4D2-AEC9-6DD2-B3BFE5663594}"/>
              </a:ext>
            </a:extLst>
          </p:cNvPr>
          <p:cNvSpPr txBox="1">
            <a:spLocks/>
          </p:cNvSpPr>
          <p:nvPr/>
        </p:nvSpPr>
        <p:spPr>
          <a:xfrm>
            <a:off x="463550" y="3962400"/>
            <a:ext cx="12077700" cy="707886"/>
          </a:xfrm>
          <a:prstGeom prst="rect">
            <a:avLst/>
          </a:prstGeom>
        </p:spPr>
        <p:txBody>
          <a:bodyPr wrap="square" lIns="0" tIns="0" rIns="0" bIns="0">
            <a:spAutoFit/>
          </a:bodyPr>
          <a:lstStyle>
            <a:lvl1pPr>
              <a:defRPr sz="2900" b="1" i="0">
                <a:solidFill>
                  <a:schemeClr val="tx1"/>
                </a:solidFill>
                <a:latin typeface="Arial"/>
                <a:ea typeface="+mj-ea"/>
                <a:cs typeface="Arial"/>
              </a:defRPr>
            </a:lvl1pPr>
          </a:lstStyle>
          <a:p>
            <a:pPr algn="ctr"/>
            <a:r>
              <a:rPr lang="en-US" sz="4600" kern="0" dirty="0">
                <a:latin typeface="Yu Gothic" panose="020B0400000000000000" pitchFamily="34" charset="-128"/>
                <a:ea typeface="Yu Gothic" panose="020B0400000000000000" pitchFamily="34" charset="-128"/>
                <a:cs typeface="Arial" panose="020B0604020202020204" pitchFamily="34" charset="0"/>
              </a:rPr>
              <a:t>Random extra slides</a:t>
            </a:r>
          </a:p>
        </p:txBody>
      </p:sp>
    </p:spTree>
    <p:extLst>
      <p:ext uri="{BB962C8B-B14F-4D97-AF65-F5344CB8AC3E}">
        <p14:creationId xmlns:p14="http://schemas.microsoft.com/office/powerpoint/2010/main" val="286643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E1A4-5636-FD65-FE17-9D5AB411739D}"/>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5" name="Picture 4" descr="A screenshot of a computer&#10;&#10;AI-generated content may be incorrect.">
            <a:extLst>
              <a:ext uri="{FF2B5EF4-FFF2-40B4-BE49-F238E27FC236}">
                <a16:creationId xmlns:a16="http://schemas.microsoft.com/office/drawing/2014/main" id="{A8B5420C-A326-E0DC-E00E-3A1622F8B4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5472" y="1543317"/>
            <a:ext cx="9013855" cy="8210283"/>
          </a:xfrm>
          <a:prstGeom prst="rect">
            <a:avLst/>
          </a:prstGeom>
        </p:spPr>
      </p:pic>
    </p:spTree>
    <p:extLst>
      <p:ext uri="{BB962C8B-B14F-4D97-AF65-F5344CB8AC3E}">
        <p14:creationId xmlns:p14="http://schemas.microsoft.com/office/powerpoint/2010/main" val="3316121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7EE1C-9DCA-3844-4555-6CC1A108F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0A995-D051-4C60-857F-729F8E6B8FC7}"/>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4" name="Picture 3" descr="A group of graphs showing different types of numbers&#10;&#10;AI-generated content may be incorrect.">
            <a:extLst>
              <a:ext uri="{FF2B5EF4-FFF2-40B4-BE49-F238E27FC236}">
                <a16:creationId xmlns:a16="http://schemas.microsoft.com/office/drawing/2014/main" id="{0DD61615-662A-2B91-B76A-7696DE0CA7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02" y="1981200"/>
            <a:ext cx="11431595" cy="7621064"/>
          </a:xfrm>
          <a:prstGeom prst="rect">
            <a:avLst/>
          </a:prstGeom>
        </p:spPr>
      </p:pic>
    </p:spTree>
    <p:extLst>
      <p:ext uri="{BB962C8B-B14F-4D97-AF65-F5344CB8AC3E}">
        <p14:creationId xmlns:p14="http://schemas.microsoft.com/office/powerpoint/2010/main" val="36041367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C2A37-7C1A-740B-4CC2-F41CB79D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4881D-E7E8-54E2-ED02-D5E1C800A435}"/>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6" name="Picture 5" descr="A screenshot of a graph&#10;&#10;AI-generated content may be incorrect.">
            <a:extLst>
              <a:ext uri="{FF2B5EF4-FFF2-40B4-BE49-F238E27FC236}">
                <a16:creationId xmlns:a16="http://schemas.microsoft.com/office/drawing/2014/main" id="{D02EBE56-547A-9D1E-FFC5-42FE1E7D4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1393371"/>
            <a:ext cx="9753600" cy="8360229"/>
          </a:xfrm>
          <a:prstGeom prst="rect">
            <a:avLst/>
          </a:prstGeom>
        </p:spPr>
      </p:pic>
    </p:spTree>
    <p:extLst>
      <p:ext uri="{BB962C8B-B14F-4D97-AF65-F5344CB8AC3E}">
        <p14:creationId xmlns:p14="http://schemas.microsoft.com/office/powerpoint/2010/main" val="11444935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1F9C-CCDA-D1E8-77BA-2497DD004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90C1B-BDFD-F049-D525-DD09075557AE}"/>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4" name="Picture 3" descr="A graph of a function&#10;&#10;AI-generated content may be incorrect.">
            <a:extLst>
              <a:ext uri="{FF2B5EF4-FFF2-40B4-BE49-F238E27FC236}">
                <a16:creationId xmlns:a16="http://schemas.microsoft.com/office/drawing/2014/main" id="{50BDCA3F-7C6C-24DC-EA85-56F36AEE8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868" y="2113486"/>
            <a:ext cx="7621064" cy="7621064"/>
          </a:xfrm>
          <a:prstGeom prst="rect">
            <a:avLst/>
          </a:prstGeom>
        </p:spPr>
      </p:pic>
    </p:spTree>
    <p:extLst>
      <p:ext uri="{BB962C8B-B14F-4D97-AF65-F5344CB8AC3E}">
        <p14:creationId xmlns:p14="http://schemas.microsoft.com/office/powerpoint/2010/main" val="19535606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6787-2A6E-3827-0E00-22B294AAB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7D8AD-D125-BFCE-14F6-6DA708E89715}"/>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4" name="Picture 3" descr="A graph of different types of numbers&#10;&#10;AI-generated content may be incorrect.">
            <a:extLst>
              <a:ext uri="{FF2B5EF4-FFF2-40B4-BE49-F238E27FC236}">
                <a16:creationId xmlns:a16="http://schemas.microsoft.com/office/drawing/2014/main" id="{6615D7E7-901A-429E-B526-F6729EACE8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02" y="1981200"/>
            <a:ext cx="11431595" cy="7621064"/>
          </a:xfrm>
          <a:prstGeom prst="rect">
            <a:avLst/>
          </a:prstGeom>
        </p:spPr>
      </p:pic>
    </p:spTree>
    <p:extLst>
      <p:ext uri="{BB962C8B-B14F-4D97-AF65-F5344CB8AC3E}">
        <p14:creationId xmlns:p14="http://schemas.microsoft.com/office/powerpoint/2010/main" val="2125608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9F038-E55B-954F-81B3-54E7DEDEA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E7550-6D5C-C268-E3C8-82613435F666}"/>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2052" name="Picture 4">
            <a:extLst>
              <a:ext uri="{FF2B5EF4-FFF2-40B4-BE49-F238E27FC236}">
                <a16:creationId xmlns:a16="http://schemas.microsoft.com/office/drawing/2014/main" id="{19410675-A3F7-4D0D-A42C-44061825F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400" y="20193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617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DB02D-040A-7CD6-BA88-6D75E7122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C6C24-6A8D-3D83-3965-F53F699518A1}"/>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7170" name="Picture 2">
            <a:extLst>
              <a:ext uri="{FF2B5EF4-FFF2-40B4-BE49-F238E27FC236}">
                <a16:creationId xmlns:a16="http://schemas.microsoft.com/office/drawing/2014/main" id="{0B6B9D38-8ED8-622F-0667-790BC53AB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400" y="20193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4230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230C7-7036-BC24-472E-5A8032FE8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AF60E-25E8-2316-E33B-0D86D32F3AE3}"/>
              </a:ext>
            </a:extLst>
          </p:cNvPr>
          <p:cNvSpPr>
            <a:spLocks noGrp="1"/>
          </p:cNvSpPr>
          <p:nvPr>
            <p:ph type="title"/>
          </p:nvPr>
        </p:nvSpPr>
        <p:spPr/>
        <p:txBody>
          <a:bodyPr/>
          <a:lstStyle/>
          <a:p>
            <a:r>
              <a:rPr lang="en-US" dirty="0">
                <a:latin typeface="Yu Gothic" panose="020B0400000000000000" pitchFamily="34" charset="-128"/>
                <a:ea typeface="Yu Gothic" panose="020B0400000000000000" pitchFamily="34" charset="-128"/>
              </a:rPr>
              <a:t>That’s a great question!</a:t>
            </a:r>
          </a:p>
        </p:txBody>
      </p:sp>
      <p:pic>
        <p:nvPicPr>
          <p:cNvPr id="8194" name="Picture 2">
            <a:extLst>
              <a:ext uri="{FF2B5EF4-FFF2-40B4-BE49-F238E27FC236}">
                <a16:creationId xmlns:a16="http://schemas.microsoft.com/office/drawing/2014/main" id="{5B00930B-D579-CACB-C351-3296ED6CCF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400" y="20193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279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14730</TotalTime>
  <Words>3143</Words>
  <Application>Microsoft Office PowerPoint</Application>
  <PresentationFormat>Custom</PresentationFormat>
  <Paragraphs>277</Paragraphs>
  <Slides>60</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Yu Gothic</vt:lpstr>
      <vt:lpstr>Arial</vt:lpstr>
      <vt:lpstr>Calibri</vt:lpstr>
      <vt:lpstr>Office Theme</vt:lpstr>
      <vt:lpstr>Statistical methods for inference of demography and selection within and across species</vt:lpstr>
      <vt:lpstr>PowerPoint Presentation</vt:lpstr>
      <vt:lpstr>I’m funded by the Dissertation Year Award</vt:lpstr>
      <vt:lpstr>I’m funded by the Dissertation Year Award</vt:lpstr>
      <vt:lpstr>Thesis chapter overview</vt:lpstr>
      <vt:lpstr>Thesis chapter 1 is published in Molecular Biology and Evolution</vt:lpstr>
      <vt:lpstr>Thesis chapter 1 is published in Molecular Biology and Evolution</vt:lpstr>
      <vt:lpstr>Thesis chapter overview</vt:lpstr>
      <vt:lpstr>Inferred demographic models may depend on the number of individuals analyzed</vt:lpstr>
      <vt:lpstr>Inferred demographic models may depend on the number of individuals analyzed</vt:lpstr>
      <vt:lpstr>Inferred demographic models may depend on the number of individuals analyzed</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Inferred two-epoch demographic history is sensitive to the number of individuals</vt:lpstr>
      <vt:lpstr>Inferred two-epoch demographic history is sensitive to the number of individuals</vt:lpstr>
      <vt:lpstr>Inferred two-epoch demographic history is sensitive to the number of individuals</vt:lpstr>
      <vt:lpstr>Inferred two-epoch demographic history is sensitive to the number of individuals</vt:lpstr>
      <vt:lpstr>Inferred two-epoch demographic history is sensitive to the number of individuals</vt:lpstr>
      <vt:lpstr>Inferred two-epoch demographic history is sensitive to the number of individuals</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Demographic inference of empirical data is sensitive to the number of individuals</vt:lpstr>
      <vt:lpstr>PowerPoint Presentation</vt:lpstr>
      <vt:lpstr>Additional coalescent tree analysis (I’m curious about your opinions!)</vt:lpstr>
      <vt:lpstr>Additional coalescent tree analysis (I’m curious about your opinions!)</vt:lpstr>
      <vt:lpstr>Additional coalescent tree analysis (I’m curious about your opinions!)</vt:lpstr>
      <vt:lpstr>Additional coalescent tree analysis (I’m curious about your opinions!)</vt:lpstr>
      <vt:lpstr>Additional coalescent tree analysis (I’m curious about your opinions!)</vt:lpstr>
      <vt:lpstr>Additional coalescent tree analysis (I’m curious about your opinions!)</vt:lpstr>
      <vt:lpstr>Thesis chapter overview</vt:lpstr>
      <vt:lpstr>Human genomes are well-studied in terms of their genetic variation, yielding multiple huge datasets</vt:lpstr>
      <vt:lpstr>I’m investigating two of these datasets (1KG sampled at two different times)</vt:lpstr>
      <vt:lpstr>I got help from Josh Schraiber using DR EVIL to parse through the gnomAD data</vt:lpstr>
      <vt:lpstr>I am isolating “dataset-specific” factors by controlling for sample size and population structure (EUR)</vt:lpstr>
      <vt:lpstr>I am isolating “dataset-specific” factors by controlling for sample size and population structure (EUR)</vt:lpstr>
      <vt:lpstr>Dataset choice yields different inferred population demographic histories.</vt:lpstr>
      <vt:lpstr>Dataset choice yields differently inferred gamma-distributed DFEs</vt:lpstr>
      <vt:lpstr>Dataset choice yields differently inferred neutral + gamma-distributed DFEs</vt:lpstr>
      <vt:lpstr>PowerPoint Presentation</vt:lpstr>
      <vt:lpstr>Postgraduation Plans</vt:lpstr>
      <vt:lpstr>PowerPoint Presentation</vt:lpstr>
      <vt:lpstr>That’s a great question!</vt:lpstr>
      <vt:lpstr>That’s a great question!</vt:lpstr>
      <vt:lpstr>That’s a great question!</vt:lpstr>
      <vt:lpstr>That’s a great question!</vt:lpstr>
      <vt:lpstr>That’s a great question!</vt:lpstr>
      <vt:lpstr>That’s a great question!</vt:lpstr>
      <vt:lpstr>That’s a great question!</vt:lpstr>
      <vt:lpstr>That’s a great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Domestication on the DFE  and Mutation Spectrum of Canids</dc:title>
  <dc:creator>Jonathan Mah</dc:creator>
  <cp:lastModifiedBy>Jonathan Mah</cp:lastModifiedBy>
  <cp:revision>314</cp:revision>
  <dcterms:created xsi:type="dcterms:W3CDTF">2019-09-10T15:46:25Z</dcterms:created>
  <dcterms:modified xsi:type="dcterms:W3CDTF">2025-11-20T22:04:47Z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2019-09-10T00:00:00Z</vt:filetime>
  </property>
</Properties>
</file>