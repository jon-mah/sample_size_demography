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401" r:id="rId2"/>
    <p:sldId id="517" r:id="rId3"/>
    <p:sldId id="518" r:id="rId4"/>
    <p:sldId id="523" r:id="rId5"/>
    <p:sldId id="524" r:id="rId6"/>
    <p:sldId id="520" r:id="rId7"/>
    <p:sldId id="521" r:id="rId8"/>
    <p:sldId id="519" r:id="rId9"/>
    <p:sldId id="522" r:id="rId10"/>
    <p:sldId id="525" r:id="rId11"/>
    <p:sldId id="542" r:id="rId12"/>
    <p:sldId id="526" r:id="rId13"/>
    <p:sldId id="528" r:id="rId14"/>
    <p:sldId id="529" r:id="rId15"/>
    <p:sldId id="530" r:id="rId16"/>
    <p:sldId id="534" r:id="rId17"/>
    <p:sldId id="532" r:id="rId18"/>
    <p:sldId id="533" r:id="rId19"/>
    <p:sldId id="537" r:id="rId20"/>
    <p:sldId id="536" r:id="rId21"/>
    <p:sldId id="538" r:id="rId22"/>
    <p:sldId id="539" r:id="rId23"/>
    <p:sldId id="540" r:id="rId24"/>
    <p:sldId id="54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DF784F-B37D-496E-B3C2-4437BB28292B}">
          <p14:sldIdLst>
            <p14:sldId id="401"/>
            <p14:sldId id="517"/>
            <p14:sldId id="518"/>
            <p14:sldId id="523"/>
            <p14:sldId id="524"/>
            <p14:sldId id="520"/>
            <p14:sldId id="521"/>
            <p14:sldId id="519"/>
            <p14:sldId id="522"/>
            <p14:sldId id="525"/>
            <p14:sldId id="542"/>
            <p14:sldId id="526"/>
            <p14:sldId id="528"/>
            <p14:sldId id="529"/>
            <p14:sldId id="530"/>
            <p14:sldId id="534"/>
            <p14:sldId id="532"/>
            <p14:sldId id="533"/>
            <p14:sldId id="537"/>
            <p14:sldId id="536"/>
            <p14:sldId id="538"/>
            <p14:sldId id="539"/>
            <p14:sldId id="540"/>
            <p14:sldId id="5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91E4A-A816-49E9-9086-2521E94120C2}" v="3" dt="2025-05-15T20:29:24.7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43" autoAdjust="0"/>
  </p:normalViewPr>
  <p:slideViewPr>
    <p:cSldViewPr snapToGrid="0">
      <p:cViewPr varScale="1">
        <p:scale>
          <a:sx n="73" d="100"/>
          <a:sy n="73" d="100"/>
        </p:scale>
        <p:origin x="59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ah" userId="5261b2f2f3e51194" providerId="LiveId" clId="{30091E4A-A816-49E9-9086-2521E94120C2}"/>
    <pc:docChg chg="custSel addSld modSld modSection">
      <pc:chgData name="Jonathan Mah" userId="5261b2f2f3e51194" providerId="LiveId" clId="{30091E4A-A816-49E9-9086-2521E94120C2}" dt="2025-05-15T20:30:27.670" v="243" actId="20577"/>
      <pc:docMkLst>
        <pc:docMk/>
      </pc:docMkLst>
      <pc:sldChg chg="modSp mod">
        <pc:chgData name="Jonathan Mah" userId="5261b2f2f3e51194" providerId="LiveId" clId="{30091E4A-A816-49E9-9086-2521E94120C2}" dt="2025-05-15T20:30:27.670" v="243" actId="20577"/>
        <pc:sldMkLst>
          <pc:docMk/>
          <pc:sldMk cId="2619251662" sldId="517"/>
        </pc:sldMkLst>
        <pc:spChg chg="mod">
          <ac:chgData name="Jonathan Mah" userId="5261b2f2f3e51194" providerId="LiveId" clId="{30091E4A-A816-49E9-9086-2521E94120C2}" dt="2025-05-15T20:30:27.670" v="243" actId="20577"/>
          <ac:spMkLst>
            <pc:docMk/>
            <pc:sldMk cId="2619251662" sldId="517"/>
            <ac:spMk id="3" creationId="{AADD84A0-4056-4C50-9D26-2BA6AE9D454C}"/>
          </ac:spMkLst>
        </pc:spChg>
      </pc:sldChg>
      <pc:sldChg chg="addSp delSp modSp new mod">
        <pc:chgData name="Jonathan Mah" userId="5261b2f2f3e51194" providerId="LiveId" clId="{30091E4A-A816-49E9-9086-2521E94120C2}" dt="2025-05-15T20:29:24.717" v="134" actId="1076"/>
        <pc:sldMkLst>
          <pc:docMk/>
          <pc:sldMk cId="1929335428" sldId="542"/>
        </pc:sldMkLst>
        <pc:spChg chg="mod">
          <ac:chgData name="Jonathan Mah" userId="5261b2f2f3e51194" providerId="LiveId" clId="{30091E4A-A816-49E9-9086-2521E94120C2}" dt="2025-05-15T20:29:13.231" v="132" actId="2711"/>
          <ac:spMkLst>
            <pc:docMk/>
            <pc:sldMk cId="1929335428" sldId="542"/>
            <ac:spMk id="2" creationId="{AB715D81-0DF4-9BB5-F241-F953F0D5FDA3}"/>
          </ac:spMkLst>
        </pc:spChg>
        <pc:spChg chg="del">
          <ac:chgData name="Jonathan Mah" userId="5261b2f2f3e51194" providerId="LiveId" clId="{30091E4A-A816-49E9-9086-2521E94120C2}" dt="2025-05-15T20:28:53.690" v="131"/>
          <ac:spMkLst>
            <pc:docMk/>
            <pc:sldMk cId="1929335428" sldId="542"/>
            <ac:spMk id="3" creationId="{C9804316-5C8E-79EA-D4A5-06CE3823BF54}"/>
          </ac:spMkLst>
        </pc:spChg>
        <pc:picChg chg="add mod">
          <ac:chgData name="Jonathan Mah" userId="5261b2f2f3e51194" providerId="LiveId" clId="{30091E4A-A816-49E9-9086-2521E94120C2}" dt="2025-05-15T20:29:24.717" v="134" actId="1076"/>
          <ac:picMkLst>
            <pc:docMk/>
            <pc:sldMk cId="1929335428" sldId="542"/>
            <ac:picMk id="1026" creationId="{81FCBD28-D5FA-77ED-5C58-61E36C84B81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0T17:07:5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46724-7A58-4020-9182-8374F0305DD3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84E8B-8157-4976-ABDF-6DA2CAC3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84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95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8C21-E41B-B9BE-8A6D-F4CFE16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F165D-2353-0633-A7A1-C894E56A3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049A2-6553-8344-3ABF-51AE86839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EED36-67B5-C8C4-1F53-96546585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74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9AD9-B1AF-D286-F045-60B21AFB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D884A-EED8-82EB-12FD-A6D8AAF38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75FB1-C516-9CEF-613F-1AA3A25DB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7AC1B-C652-5764-F1CE-1B36250F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809E-4FBF-46E9-A03C-31EEBBA5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6B3F9-C3CC-4332-97E1-E1A833DD8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F21C-7438-4532-A5C7-DCF6E434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F4506-70B6-4935-8FF8-CA265236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150B-2B12-430D-A29B-1BEED4FA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7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C79A-6545-4A9D-9EB5-58BCB29F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42FD-B080-4688-BE45-EE528CA43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E2A8B-3D72-4A5C-B022-8CAED681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EDCA2-4437-4FEA-B51C-F89214A1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60F-CAF4-456A-9687-7A0ACAC3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9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F2D9-47CE-4AC7-B05E-90705707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3266E-D478-48D7-A70F-263A454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68AA2-9DB8-41D2-B637-59508095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C3077-D6AC-453F-8597-77A31537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6842-16D7-49F9-8024-06CC270D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403A-98BA-4C88-9568-20E8BED6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0F70-8411-42F6-BBF9-B65F7C57F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3BAA8-FDC5-4B2D-825F-1E383AF0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1C4C1-BBC3-40C5-B9FF-5E4757A5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F6B78-98F1-4125-89B6-D9785B0C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420F1-1681-42F5-A429-0AEA0D44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1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19D9-2041-42C3-9A37-E7EEBCCA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9A8EF-9274-4289-A647-19129296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7AFEE-2044-4BC6-9B01-76B4DF8FD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9CAA8-5AF9-4AA7-8A49-F8FFB3783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B78DF-DF63-4D5B-BCF3-70BDB6915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86CD8-6E5D-4070-AD17-B91FEF81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7120B-5AC8-4796-A4FB-73C15284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F439C-FB66-4013-9CB7-509CB62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FF7E-04CE-4192-8164-CE1808F9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B6D05-0A70-4654-8BC4-CADD1850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DF84B-8E96-42F2-AE8F-93C06BE8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B7DD3-2753-4754-8ED5-B275BF21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3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E0F0E-84CB-46A7-90E9-6754482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681C1-6087-45F4-B94C-1BE2A27D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43131-E7C1-443A-933D-7EFB858F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8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3C93-737D-4E9C-B412-D1D1F2D7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1D68-3440-4013-9B66-469BECB5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29EEF-E9F4-4A17-9C13-149DE6E2F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7947D-0685-422C-9E12-4989107A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376F5-7171-4175-9022-DCE9E145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D3531-14D2-4738-A96B-DAC6EB67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6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B675-0989-4DB6-A3F1-08869B50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47773-3232-4DAE-8B85-0B232ECCD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8F91A-F778-4960-904A-0E68DE25C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197A5-E086-4AF3-A915-ECD88005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ABB4A-9031-42B1-BBB1-1CE7B369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0F69-6B8B-4232-B3F2-3B2722BE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0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EB7C-C462-422A-9480-04495880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C233A-0E72-4060-BAA5-0BF36764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FF25E-6D23-45E3-88A5-50F5FCCD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C3FD-7C03-4AA1-BE4D-2B6AA97A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EDBFE-DC65-4F00-9980-53411482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3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E833A-B5D2-47E8-B2F8-010235D09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1C533-41F3-4E55-96B2-BE26D7660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93A2B-19C6-4734-82AF-F25A5B6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5DF26-3AA2-4775-8E80-C6465E4F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B5A6-A104-4E2F-A639-35ED8400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B903E-06C3-47EE-B3D6-E7548398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11D03-58B7-455C-9B4F-709B337F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FC24-80B5-4A26-B684-73DB13247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E4237-9E27-40CF-A4D8-1330F92F21D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545E-9F97-4858-BC97-2E866AA78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725C8-92EE-44A8-B0E8-B5A336D01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94DF-730E-4B9E-8CB5-2B641A42E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Lab Meeting</a:t>
            </a:r>
            <a:b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AKA</a:t>
            </a:r>
            <a:b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What has Jon been doing?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2BDE3-5450-4B18-B90B-D71DD9D5B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20250514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Jon Mah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Garud and Lohmueller Labs</a:t>
            </a:r>
          </a:p>
        </p:txBody>
      </p:sp>
    </p:spTree>
    <p:extLst>
      <p:ext uri="{BB962C8B-B14F-4D97-AF65-F5344CB8AC3E}">
        <p14:creationId xmlns:p14="http://schemas.microsoft.com/office/powerpoint/2010/main" val="114533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FEC6-73D8-4766-8334-339FDD45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Chapter 2 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D84A0-4056-4C50-9D26-2BA6AE9D4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Question: How does sample size determine the strength of ancient vs. recent evolutionary signals?</a:t>
            </a:r>
          </a:p>
          <a:p>
            <a:r>
              <a:rPr lang="en-US">
                <a:latin typeface="Yu Gothic" panose="020B0400000000000000" pitchFamily="34" charset="-128"/>
                <a:ea typeface="Yu Gothic" panose="020B0400000000000000" pitchFamily="34" charset="-128"/>
              </a:rPr>
              <a:t>Next Question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: Can we find an optimal sample size to recover the ancient or recent evolutionary signals?</a:t>
            </a:r>
          </a:p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Approach:</a:t>
            </a:r>
          </a:p>
          <a:p>
            <a:pPr lvl="1"/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Simulate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 multiple demographic scenarios and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1"/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Compute expected SFS based on sample size using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theory</a:t>
            </a:r>
          </a:p>
          <a:p>
            <a:pPr lvl="1"/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Apply to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high quality empirical data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5B96D3-1015-4E8F-834E-049664E770E7}"/>
                  </a:ext>
                </a:extLst>
              </p14:cNvPr>
              <p14:cNvContentPartPr/>
              <p14:nvPr/>
            </p14:nvContentPartPr>
            <p14:xfrm>
              <a:off x="1508400" y="331461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5B96D3-1015-4E8F-834E-049664E770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9400" y="330561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25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FC7E-40B3-BAD1-CE6D-F078F8C81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AB6CF9-DBC7-FF72-9E38-9A57B29ED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AF8DA2-D753-DAB4-411A-039AFAC946CC}"/>
              </a:ext>
            </a:extLst>
          </p:cNvPr>
          <p:cNvSpPr txBox="1"/>
          <p:nvPr/>
        </p:nvSpPr>
        <p:spPr>
          <a:xfrm>
            <a:off x="8860221" y="1743978"/>
            <a:ext cx="3033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20,000,000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125A7-1754-6343-C854-94309916C36C}"/>
              </a:ext>
            </a:extLst>
          </p:cNvPr>
          <p:cNvSpPr txBox="1"/>
          <p:nvPr/>
        </p:nvSpPr>
        <p:spPr>
          <a:xfrm>
            <a:off x="838200" y="529254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</p:txBody>
      </p:sp>
    </p:spTree>
    <p:extLst>
      <p:ext uri="{BB962C8B-B14F-4D97-AF65-F5344CB8AC3E}">
        <p14:creationId xmlns:p14="http://schemas.microsoft.com/office/powerpoint/2010/main" val="379651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C93D-63C2-303B-B03F-7157000C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C8B4-318F-3ED1-C205-3712C6CB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76ECA5-87F4-7FEC-9A89-157A81DDF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790B8E-CAA3-DAF7-22DB-60F0E4758204}"/>
              </a:ext>
            </a:extLst>
          </p:cNvPr>
          <p:cNvSpPr txBox="1"/>
          <p:nvPr/>
        </p:nvSpPr>
        <p:spPr>
          <a:xfrm>
            <a:off x="8860221" y="1743978"/>
            <a:ext cx="3033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20,000,000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BE99D-B006-FFEE-6CFD-CA99E5039A18}"/>
              </a:ext>
            </a:extLst>
          </p:cNvPr>
          <p:cNvSpPr txBox="1"/>
          <p:nvPr/>
        </p:nvSpPr>
        <p:spPr>
          <a:xfrm>
            <a:off x="838200" y="529254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E6A00-BF6B-EFC2-CCA8-A22A4F67314B}"/>
              </a:ext>
            </a:extLst>
          </p:cNvPr>
          <p:cNvSpPr/>
          <p:nvPr/>
        </p:nvSpPr>
        <p:spPr>
          <a:xfrm>
            <a:off x="901700" y="4610100"/>
            <a:ext cx="1920240" cy="64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E443-F493-D12D-CE9B-8BCC9E21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93A5-FE80-61E6-6FDD-2D850C423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7C3D46-10D6-9BC1-9D97-0BB083E64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049F9-E942-3603-197C-5F131E0CB183}"/>
              </a:ext>
            </a:extLst>
          </p:cNvPr>
          <p:cNvSpPr txBox="1"/>
          <p:nvPr/>
        </p:nvSpPr>
        <p:spPr>
          <a:xfrm>
            <a:off x="8860221" y="1743978"/>
            <a:ext cx="3033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20,000,000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7AD9B-31A1-DF11-17C8-44085C5D32D5}"/>
              </a:ext>
            </a:extLst>
          </p:cNvPr>
          <p:cNvSpPr txBox="1"/>
          <p:nvPr/>
        </p:nvSpPr>
        <p:spPr>
          <a:xfrm>
            <a:off x="838200" y="5292546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  <a:p>
            <a:r>
              <a:rPr lang="en-US" sz="2400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 expect the bottleneck simulation to yield inferences resembling an ancient contraction at small sample sizes and a recent expansion at large sample sizes.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71F74-14E2-0D91-B13B-2845E19A4251}"/>
              </a:ext>
            </a:extLst>
          </p:cNvPr>
          <p:cNvSpPr/>
          <p:nvPr/>
        </p:nvSpPr>
        <p:spPr>
          <a:xfrm>
            <a:off x="901700" y="4610100"/>
            <a:ext cx="1920240" cy="64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5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D5BA-F697-0589-0882-F2F0BF70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BC12BC-20B0-DE7E-74BE-4A3C0D12A1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440917" cy="4720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28AD4-B08E-6995-5DF2-5BC4949BAD81}"/>
              </a:ext>
            </a:extLst>
          </p:cNvPr>
          <p:cNvSpPr txBox="1"/>
          <p:nvPr/>
        </p:nvSpPr>
        <p:spPr>
          <a:xfrm>
            <a:off x="7496484" y="1322388"/>
            <a:ext cx="4695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Tajima’s 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&gt;0 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intermediate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&lt;0  rare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=0  neutral</a:t>
            </a:r>
            <a:endParaRPr lang="en-US" sz="24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28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4E0D-4C4E-626D-0018-9631D615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F1AB-E464-C2DB-6DC3-56EAA7D5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85C6A8-1D93-74F0-A7BA-EDFD52AF81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440917" cy="472045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99487C8-0D7A-F551-81EE-8895D910897A}"/>
              </a:ext>
            </a:extLst>
          </p:cNvPr>
          <p:cNvSpPr/>
          <p:nvPr/>
        </p:nvSpPr>
        <p:spPr>
          <a:xfrm>
            <a:off x="3248025" y="4050917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B599B-2A31-3024-4799-3008CAF2F7E6}"/>
              </a:ext>
            </a:extLst>
          </p:cNvPr>
          <p:cNvSpPr txBox="1"/>
          <p:nvPr/>
        </p:nvSpPr>
        <p:spPr>
          <a:xfrm>
            <a:off x="7496484" y="1322388"/>
            <a:ext cx="4695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Tajima’s 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&gt;0 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intermediate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&lt;0  rare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=0  neutral</a:t>
            </a:r>
            <a:endParaRPr lang="en-US" sz="24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766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48E4-D473-B80E-6745-517CB08D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6D4FF-3997-3CE8-2FCA-1A3C491B0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8936421" cy="49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4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5B40-C9EE-2A41-8D72-CF56B660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1D6A-E93F-A2D3-F3B9-9FFC0DBA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E9E64-6724-06B0-8484-FB446F1D2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8936421" cy="496467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E97CEFF-4594-56B8-3CEE-59F16CDE641B}"/>
              </a:ext>
            </a:extLst>
          </p:cNvPr>
          <p:cNvSpPr/>
          <p:nvPr/>
        </p:nvSpPr>
        <p:spPr>
          <a:xfrm>
            <a:off x="2722180" y="4479542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6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BE1B8-616E-2EF8-44E7-ED7AE12F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E18-D22C-B898-0F4A-5EE42B09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3480D-B020-E9DE-F93B-33002C8E9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8936421" cy="496467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E67973-40F2-61AE-997A-AF1BA2AA4BCE}"/>
              </a:ext>
            </a:extLst>
          </p:cNvPr>
          <p:cNvSpPr/>
          <p:nvPr/>
        </p:nvSpPr>
        <p:spPr>
          <a:xfrm>
            <a:off x="2722180" y="4479542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10B7B1-3CC6-CC31-4D42-CFC6004FCD29}"/>
              </a:ext>
            </a:extLst>
          </p:cNvPr>
          <p:cNvSpPr/>
          <p:nvPr/>
        </p:nvSpPr>
        <p:spPr>
          <a:xfrm>
            <a:off x="4411280" y="3715826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3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5D81-0DF4-9BB5-F241-F953F0D5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Inference from simulated SFSs reveals an “optimal” sample size for recovery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FCBD28-D5FA-77ED-5C58-61E36C84B8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95" y="1690688"/>
            <a:ext cx="8568810" cy="481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335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3F65-5087-E029-4F9C-94E7F498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2F3EE6-8B86-9020-3B6E-32ABF5DCE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82256-7186-406D-BF19-9CC559F3CE45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595AED-E474-AB1E-3253-C1DF00582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678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0CD8-4BD1-6A7B-4439-E2F8AEE5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E5F3-721B-E2BB-F471-A3A71CE0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90772-EE64-FCDD-AAEA-D02750EF2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CE6902-D67E-4FB0-1E04-E74F1F785A6E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A30CD0-3E91-AE47-3675-A90BFF0CD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72BDEA9F-6138-BD5A-93DC-0CDB00840389}"/>
              </a:ext>
            </a:extLst>
          </p:cNvPr>
          <p:cNvSpPr/>
          <p:nvPr/>
        </p:nvSpPr>
        <p:spPr>
          <a:xfrm rot="16200000">
            <a:off x="2379484" y="4476655"/>
            <a:ext cx="355600" cy="101159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3D539-19EF-37BC-5F24-3B0C9CE3BE6C}"/>
              </a:ext>
            </a:extLst>
          </p:cNvPr>
          <p:cNvSpPr txBox="1"/>
          <p:nvPr/>
        </p:nvSpPr>
        <p:spPr>
          <a:xfrm>
            <a:off x="855484" y="5178129"/>
            <a:ext cx="360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Expected count of singletons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F580E73-E5C9-7362-C79B-E47AF9A9A22D}"/>
              </a:ext>
            </a:extLst>
          </p:cNvPr>
          <p:cNvSpPr/>
          <p:nvPr/>
        </p:nvSpPr>
        <p:spPr>
          <a:xfrm rot="16200000">
            <a:off x="6797893" y="4664875"/>
            <a:ext cx="355600" cy="628215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A9060-1802-F5A1-08E8-7F7B268AD5D1}"/>
              </a:ext>
            </a:extLst>
          </p:cNvPr>
          <p:cNvSpPr txBox="1"/>
          <p:nvPr/>
        </p:nvSpPr>
        <p:spPr>
          <a:xfrm>
            <a:off x="5338584" y="5178129"/>
            <a:ext cx="4620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 of population size…</a:t>
            </a:r>
          </a:p>
        </p:txBody>
      </p:sp>
    </p:spTree>
    <p:extLst>
      <p:ext uri="{BB962C8B-B14F-4D97-AF65-F5344CB8AC3E}">
        <p14:creationId xmlns:p14="http://schemas.microsoft.com/office/powerpoint/2010/main" val="4207234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FA2C1-8FA2-532F-9F5A-692AA2D9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180A-A314-DCAF-2646-518315D7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7068E-17E4-5D31-3C1C-012165F17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05C297-1368-6CFF-92CB-0BFB7C9AB846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F07BA4-6503-BFF3-347E-6D57AE215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ABCEEDF9-7E27-A937-971A-383963004F26}"/>
              </a:ext>
            </a:extLst>
          </p:cNvPr>
          <p:cNvSpPr/>
          <p:nvPr/>
        </p:nvSpPr>
        <p:spPr>
          <a:xfrm rot="16200000">
            <a:off x="2379484" y="4476655"/>
            <a:ext cx="355600" cy="101159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5F2D9-9BAA-74D3-CA48-0F408A092393}"/>
              </a:ext>
            </a:extLst>
          </p:cNvPr>
          <p:cNvSpPr txBox="1"/>
          <p:nvPr/>
        </p:nvSpPr>
        <p:spPr>
          <a:xfrm>
            <a:off x="855484" y="5178129"/>
            <a:ext cx="360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Expected count of singletons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A889A75-FA22-973E-2292-FF8BFEEF16B3}"/>
              </a:ext>
            </a:extLst>
          </p:cNvPr>
          <p:cNvSpPr/>
          <p:nvPr/>
        </p:nvSpPr>
        <p:spPr>
          <a:xfrm rot="16200000">
            <a:off x="6797893" y="4664875"/>
            <a:ext cx="355600" cy="628215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D2385-1612-1CDF-7EC7-EC6C10B6A031}"/>
              </a:ext>
            </a:extLst>
          </p:cNvPr>
          <p:cNvSpPr txBox="1"/>
          <p:nvPr/>
        </p:nvSpPr>
        <p:spPr>
          <a:xfrm>
            <a:off x="5338584" y="5178129"/>
            <a:ext cx="5097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 of population size…</a:t>
            </a: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as defined by intervals of coalescent time</a:t>
            </a:r>
          </a:p>
        </p:txBody>
      </p:sp>
    </p:spTree>
    <p:extLst>
      <p:ext uri="{BB962C8B-B14F-4D97-AF65-F5344CB8AC3E}">
        <p14:creationId xmlns:p14="http://schemas.microsoft.com/office/powerpoint/2010/main" val="88059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A63A-2CC9-E909-93E6-703A6EC7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Time intervals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FA53A-5A51-C74D-DA28-7B9852DA2591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10242" name="Picture 2" descr="A genealogy comprising a sample size of n=8, with the k values denoting the ordered coalescence events (k=1 representing the root of the tree). The external branches, which can contain only singleton mutations, are given as solid black lines. There are three internal branches of order r=2 (upon which doubleton mutations must reside, denoted with large dashes); the red, green, and purple doubleton branches have starting and ending levels of (7,5), (6,5), and (4,2), respectively. The tree also contains single branches of orders r=3 (tripletons, medium dashes), 4 (quadrupletons, dot/dashes), and 5 (quintupletons, small dashes). The consecutive coalescence times are denoted by tk, with Nk denoting the effective population size from level k to k−1.">
            <a:extLst>
              <a:ext uri="{FF2B5EF4-FFF2-40B4-BE49-F238E27FC236}">
                <a16:creationId xmlns:a16="http://schemas.microsoft.com/office/drawing/2014/main" id="{9524C6EA-0B60-C987-70E5-3A16C46A64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374096" cy="450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A013BC-AD61-86CF-3279-339A2EF7C83F}"/>
              </a:ext>
            </a:extLst>
          </p:cNvPr>
          <p:cNvSpPr txBox="1"/>
          <p:nvPr/>
        </p:nvSpPr>
        <p:spPr>
          <a:xfrm>
            <a:off x="6515446" y="1690688"/>
            <a:ext cx="53740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What matters is the arithmetic mean of N</a:t>
            </a:r>
            <a:r>
              <a:rPr lang="en-US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through N</a:t>
            </a:r>
            <a:r>
              <a:rPr lang="en-US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8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. Note that the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length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of </a:t>
            </a:r>
            <a:r>
              <a:rPr lang="en-US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</a:t>
            </a:r>
            <a:r>
              <a:rPr lang="en-US" sz="16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i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does not matter, just that there are intervals of time in between coalescent events.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Under coalescent theory, the expected time to coalesce k lineages is:</a:t>
            </a: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2N / (k choose 2)</a:t>
            </a:r>
          </a:p>
        </p:txBody>
      </p:sp>
    </p:spTree>
    <p:extLst>
      <p:ext uri="{BB962C8B-B14F-4D97-AF65-F5344CB8AC3E}">
        <p14:creationId xmlns:p14="http://schemas.microsoft.com/office/powerpoint/2010/main" val="1552343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2F1B-8CFE-3112-D325-6A6528C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E8F0-FBA5-4500-8CBD-DCBC5317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33EA-72A1-0A0B-6D84-89C9A670E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3F71B-DFE3-E7DB-AF22-4E1857BBC059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1CB82-3502-8363-65CA-39524DE51BC9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45501-4D1B-885B-FBD4-21F86F6389E8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DFD5-B507-C3EE-245B-136B8FD92283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28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25D9-7B00-2D56-9BA8-4D22FE64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6F68-AC09-C103-C944-4E67F12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B4B4-6C7F-4808-93FF-08F5C790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54</a:t>
            </a:r>
            <a:r>
              <a:rPr lang="en-US" dirty="0">
                <a:sym typeface="Wingdings" panose="05000000000000000000" pitchFamily="2" charset="2"/>
              </a:rPr>
              <a:t>] = 20,000 / (5 choose 2) = 2,000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43</a:t>
            </a:r>
            <a:r>
              <a:rPr lang="en-US" dirty="0">
                <a:sym typeface="Wingdings" panose="05000000000000000000" pitchFamily="2" charset="2"/>
              </a:rPr>
              <a:t>] = 2,000 / (4 choose 2) = 333.33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32</a:t>
            </a:r>
            <a:r>
              <a:rPr lang="en-US" dirty="0">
                <a:sym typeface="Wingdings" panose="05000000000000000000" pitchFamily="2" charset="2"/>
              </a:rPr>
              <a:t>] = 2,000 / (3 choose 2) = 666.67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21</a:t>
            </a:r>
            <a:r>
              <a:rPr lang="en-US" dirty="0">
                <a:sym typeface="Wingdings" panose="05000000000000000000" pitchFamily="2" charset="2"/>
              </a:rPr>
              <a:t>] = 10,000 / (2 choose 2) = 10,000 generations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47A7D-D553-85ED-0AFF-C54041AB0670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2586D1-8739-4C4F-FEA7-F10EC94EC32E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F5639-8DAA-74D0-FF70-F732565A0669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82D1D-CA64-D5E9-2BFC-9F4B7F1D26C5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BD1660-CFE4-20BC-597D-A69B8CD15EF0}"/>
              </a:ext>
            </a:extLst>
          </p:cNvPr>
          <p:cNvCxnSpPr/>
          <p:nvPr/>
        </p:nvCxnSpPr>
        <p:spPr>
          <a:xfrm>
            <a:off x="10415075" y="5156200"/>
            <a:ext cx="13316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17277F-AEB3-7C9E-3056-081E101F0667}"/>
              </a:ext>
            </a:extLst>
          </p:cNvPr>
          <p:cNvCxnSpPr>
            <a:cxnSpLocks/>
          </p:cNvCxnSpPr>
          <p:nvPr/>
        </p:nvCxnSpPr>
        <p:spPr>
          <a:xfrm>
            <a:off x="10840885" y="48641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5E0661-9387-B447-086B-817398105284}"/>
              </a:ext>
            </a:extLst>
          </p:cNvPr>
          <p:cNvCxnSpPr>
            <a:cxnSpLocks/>
          </p:cNvCxnSpPr>
          <p:nvPr/>
        </p:nvCxnSpPr>
        <p:spPr>
          <a:xfrm>
            <a:off x="10840885" y="44704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C825ED-B6F8-F0E3-E351-F5E35C05BC4C}"/>
              </a:ext>
            </a:extLst>
          </p:cNvPr>
          <p:cNvCxnSpPr>
            <a:cxnSpLocks/>
          </p:cNvCxnSpPr>
          <p:nvPr/>
        </p:nvCxnSpPr>
        <p:spPr>
          <a:xfrm>
            <a:off x="10642855" y="2755900"/>
            <a:ext cx="87604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94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A0BE-A4CC-E14A-F179-A4620694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72F2-5258-F62A-C70A-58F47C33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C6AB3-EAA5-52FB-8C36-DFC4AF51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54</a:t>
            </a:r>
            <a:r>
              <a:rPr lang="en-US" dirty="0">
                <a:sym typeface="Wingdings" panose="05000000000000000000" pitchFamily="2" charset="2"/>
              </a:rPr>
              <a:t>] = 20,000 / (5 choose 2) = 2,000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43</a:t>
            </a:r>
            <a:r>
              <a:rPr lang="en-US" dirty="0">
                <a:sym typeface="Wingdings" panose="05000000000000000000" pitchFamily="2" charset="2"/>
              </a:rPr>
              <a:t>] = 2,000 / (4 choose 2) = 333.33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32</a:t>
            </a:r>
            <a:r>
              <a:rPr lang="en-US" dirty="0">
                <a:sym typeface="Wingdings" panose="05000000000000000000" pitchFamily="2" charset="2"/>
              </a:rPr>
              <a:t>] = 2,000 / (3 choose 2) = 666.67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21</a:t>
            </a:r>
            <a:r>
              <a:rPr lang="en-US" dirty="0">
                <a:sym typeface="Wingdings" panose="05000000000000000000" pitchFamily="2" charset="2"/>
              </a:rPr>
              <a:t>] = 10,000 / (2 choose 2) = 10,000 generations</a:t>
            </a:r>
          </a:p>
          <a:p>
            <a:r>
              <a:rPr lang="en-US" dirty="0">
                <a:sym typeface="Wingdings" panose="05000000000000000000" pitchFamily="2" charset="2"/>
              </a:rPr>
              <a:t>Arithmetic mean of population size is 22,000 / 4 = 4250</a:t>
            </a:r>
          </a:p>
          <a:p>
            <a:r>
              <a:rPr lang="en-US" dirty="0">
                <a:sym typeface="Wingdings" panose="05000000000000000000" pitchFamily="2" charset="2"/>
              </a:rPr>
              <a:t>We expect 4 * mu * L * 4250 = 255 singletons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82C17-027A-1494-B9C1-C9B1984DCDE1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D9F8DC-660E-490F-3DEC-D358310F60C5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B71B6B-49E6-F90A-2A1B-460347CCC8E8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89BE2E-30CC-DF0B-80BC-AC36BBF28A27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A23FFF-6CF2-AD03-34A3-63A882824048}"/>
              </a:ext>
            </a:extLst>
          </p:cNvPr>
          <p:cNvCxnSpPr/>
          <p:nvPr/>
        </p:nvCxnSpPr>
        <p:spPr>
          <a:xfrm>
            <a:off x="10415075" y="5156200"/>
            <a:ext cx="13316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A479AC-11CD-A09D-16AB-D2AA09C97A60}"/>
              </a:ext>
            </a:extLst>
          </p:cNvPr>
          <p:cNvCxnSpPr>
            <a:cxnSpLocks/>
          </p:cNvCxnSpPr>
          <p:nvPr/>
        </p:nvCxnSpPr>
        <p:spPr>
          <a:xfrm>
            <a:off x="10840885" y="48641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1A31C1-0889-0BD2-3699-CB0659885474}"/>
              </a:ext>
            </a:extLst>
          </p:cNvPr>
          <p:cNvCxnSpPr>
            <a:cxnSpLocks/>
          </p:cNvCxnSpPr>
          <p:nvPr/>
        </p:nvCxnSpPr>
        <p:spPr>
          <a:xfrm>
            <a:off x="10840885" y="44704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E94A64-640D-0340-4092-1075F2FDAAB6}"/>
              </a:ext>
            </a:extLst>
          </p:cNvPr>
          <p:cNvCxnSpPr>
            <a:cxnSpLocks/>
          </p:cNvCxnSpPr>
          <p:nvPr/>
        </p:nvCxnSpPr>
        <p:spPr>
          <a:xfrm>
            <a:off x="10642855" y="2755900"/>
            <a:ext cx="87604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161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8E38-6BDF-6FBB-8D22-521296FC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6CD0-1B06-2FE9-AB4B-968CA0CA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80DEE-3B59-D895-3D49-466FF68A43DE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EBCE0-7EAA-28D2-D183-F56004E60507}"/>
              </a:ext>
            </a:extLst>
          </p:cNvPr>
          <p:cNvSpPr txBox="1"/>
          <p:nvPr/>
        </p:nvSpPr>
        <p:spPr>
          <a:xfrm>
            <a:off x="7142614" y="1591864"/>
            <a:ext cx="4935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set up simulations for a contraction and an expansion such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E[Bottleneck singletons] = 255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E[Contraction singletons] = 195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E[Expansion singletons] = 195</a:t>
            </a:r>
          </a:p>
        </p:txBody>
      </p:sp>
    </p:spTree>
    <p:extLst>
      <p:ext uri="{BB962C8B-B14F-4D97-AF65-F5344CB8AC3E}">
        <p14:creationId xmlns:p14="http://schemas.microsoft.com/office/powerpoint/2010/main" val="212567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D6F2-D3DF-45A8-0F89-0F1D7E02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327B-86F3-6A56-422A-7D81D092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2E0A5-7A3D-6BEF-8073-47DE76B494EA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48506C0-149E-B97A-273D-347B909D89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1"/>
          <a:stretch/>
        </p:blipFill>
        <p:spPr bwMode="auto">
          <a:xfrm>
            <a:off x="0" y="1583332"/>
            <a:ext cx="714261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DA66C0-F28D-273C-26CF-26636FCC1462}"/>
              </a:ext>
            </a:extLst>
          </p:cNvPr>
          <p:cNvSpPr txBox="1"/>
          <p:nvPr/>
        </p:nvSpPr>
        <p:spPr>
          <a:xfrm>
            <a:off x="7142614" y="1591864"/>
            <a:ext cx="4935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set up simulations for a contraction and an expansion such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E[Bottleneck singletons] = 255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E[Contraction singletons] = 195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E[Expansion singletons] = 195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D02DC-73EB-F707-398E-3F9654C9A777}"/>
              </a:ext>
            </a:extLst>
          </p:cNvPr>
          <p:cNvSpPr txBox="1"/>
          <p:nvPr/>
        </p:nvSpPr>
        <p:spPr>
          <a:xfrm>
            <a:off x="1906698" y="6031210"/>
            <a:ext cx="3567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20 replicate simulations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C14D698-266E-9BB4-CFD1-6B6D1B47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469" y="3634921"/>
            <a:ext cx="4579486" cy="147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69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DB70-62F1-DC53-1C20-B14816AA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A162-9464-A7F8-EA22-99D0A9ED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Scaled up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BA0B9-440F-1F6C-E8A7-8E52872C6062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ECB7B-BCB3-A5DB-6200-FC4D2303FB1F}"/>
              </a:ext>
            </a:extLst>
          </p:cNvPr>
          <p:cNvSpPr txBox="1"/>
          <p:nvPr/>
        </p:nvSpPr>
        <p:spPr>
          <a:xfrm>
            <a:off x="7142614" y="1591864"/>
            <a:ext cx="49350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repeated this with 1000 replicates for four different sample sizes (k = 5, 10, 15, 20), as well as for the standard neutral model.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Contractions lose singletons as sample size increase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Bottlenecks and expansions gain singletons as sample size increases.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The standard neutral model stays stable.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6D04E0-51D2-2439-27B1-D4AEE474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2228"/>
            <a:ext cx="7141029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43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D298-E350-35EA-CE43-D9A5FB42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Lynch Theory: Explained</a:t>
            </a:r>
          </a:p>
        </p:txBody>
      </p:sp>
      <p:pic>
        <p:nvPicPr>
          <p:cNvPr id="21506" name="Picture 2" descr="Image">
            <a:extLst>
              <a:ext uri="{FF2B5EF4-FFF2-40B4-BE49-F238E27FC236}">
                <a16:creationId xmlns:a16="http://schemas.microsoft.com/office/drawing/2014/main" id="{0B5FE9F3-663C-DD35-3947-D35EC24443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8959"/>
            <a:ext cx="57054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D921A-2559-AE8A-CDDC-4E80608811F8}"/>
              </a:ext>
            </a:extLst>
          </p:cNvPr>
          <p:cNvSpPr txBox="1"/>
          <p:nvPr/>
        </p:nvSpPr>
        <p:spPr>
          <a:xfrm>
            <a:off x="7142614" y="1591864"/>
            <a:ext cx="49350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The Lynch Theory explains how singleton count is dependent on </a:t>
            </a:r>
            <a:r>
              <a:rPr lang="en-US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of population size </a:t>
            </a:r>
            <a:r>
              <a:rPr lang="en-US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over coalescent time intervals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. As sample size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k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increases, then the expected distribution of time intervals (and their associated </a:t>
            </a:r>
            <a:r>
              <a:rPr lang="en-US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N</a:t>
            </a:r>
            <a:r>
              <a:rPr lang="en-US" sz="2000" baseline="-25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) becomes more and more dense in recent time, thereby biasing evolutionary inference towards recent events.</a:t>
            </a:r>
          </a:p>
        </p:txBody>
      </p:sp>
    </p:spTree>
    <p:extLst>
      <p:ext uri="{BB962C8B-B14F-4D97-AF65-F5344CB8AC3E}">
        <p14:creationId xmlns:p14="http://schemas.microsoft.com/office/powerpoint/2010/main" val="1911902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BE91-07A7-835B-5B16-C769A2AD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Lynch Theory: Scaled up (but in a different way)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1D577EA-B2BB-EBD2-D41D-BAB3B4382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382939"/>
            <a:ext cx="90106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C3C33E-17E6-0195-EC3B-AB47853CF93F}"/>
              </a:ext>
            </a:extLst>
          </p:cNvPr>
          <p:cNvSpPr txBox="1"/>
          <p:nvPr/>
        </p:nvSpPr>
        <p:spPr>
          <a:xfrm>
            <a:off x="342898" y="4553883"/>
            <a:ext cx="60415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computed the expected number of doubletons from the previous round of simulations: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SNM E[doubletons] = 300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Expansion E[doubletons] = 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Contraction E[doubletons] = 165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Bottleneck</a:t>
            </a: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E[doubletons] = 90</a:t>
            </a:r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6908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DF6B-0AC0-D671-3272-ED6EFABF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2008-AE49-5F28-9248-585F7E12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Lynch Theory: Scaled up (but in a different way)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3F12E783-E31D-0CB3-E7DC-D4BB02CB9D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0" t="37555" r="27128"/>
          <a:stretch/>
        </p:blipFill>
        <p:spPr bwMode="auto">
          <a:xfrm>
            <a:off x="261258" y="1690688"/>
            <a:ext cx="5477783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D26974-DF81-4B8E-6908-FF824F5A3E82}"/>
              </a:ext>
            </a:extLst>
          </p:cNvPr>
          <p:cNvSpPr txBox="1"/>
          <p:nvPr/>
        </p:nvSpPr>
        <p:spPr>
          <a:xfrm>
            <a:off x="342898" y="4553883"/>
            <a:ext cx="60415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computed the expected number of doubletons from the previous round of simulations: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B05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SNM E[doubletons] = 300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Expansion E[doubletons] = 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B05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Contraction E[doubletons] = 165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Bottleneck</a:t>
            </a:r>
            <a:r>
              <a:rPr lang="fr-FR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E[doubletons] = 90</a:t>
            </a:r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2534" name="Picture 6">
            <a:extLst>
              <a:ext uri="{FF2B5EF4-FFF2-40B4-BE49-F238E27FC236}">
                <a16:creationId xmlns:a16="http://schemas.microsoft.com/office/drawing/2014/main" id="{18D07523-7356-C58E-2953-0DC03B8E9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604" y="4913766"/>
            <a:ext cx="3514762" cy="170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0D7FD6-5B3A-D686-305C-5A5A7E66A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866" y="1485447"/>
            <a:ext cx="4762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8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5682</TotalTime>
  <Words>1030</Words>
  <Application>Microsoft Office PowerPoint</Application>
  <PresentationFormat>Widescreen</PresentationFormat>
  <Paragraphs>123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Yu Gothic</vt:lpstr>
      <vt:lpstr>Arial</vt:lpstr>
      <vt:lpstr>Calibri</vt:lpstr>
      <vt:lpstr>Calibri Light</vt:lpstr>
      <vt:lpstr>Wingdings</vt:lpstr>
      <vt:lpstr>Office Theme</vt:lpstr>
      <vt:lpstr>Lab Meeting AKA What has Jon been doing?</vt:lpstr>
      <vt:lpstr>Chapter 2 project summary</vt:lpstr>
      <vt:lpstr>Simulation outline</vt:lpstr>
      <vt:lpstr>Simulation outline</vt:lpstr>
      <vt:lpstr>Simulation outline</vt:lpstr>
      <vt:lpstr>Simulation SFS summary statistics</vt:lpstr>
      <vt:lpstr>Simulation SFS summary statistics</vt:lpstr>
      <vt:lpstr>Simulation SFS summary statistics</vt:lpstr>
      <vt:lpstr>Simulation SFS summary statistics</vt:lpstr>
      <vt:lpstr>Simulation SFS summary statistics</vt:lpstr>
      <vt:lpstr>Inference from simulated SFSs reveals an “optimal” sample size for recovery</vt:lpstr>
      <vt:lpstr>Lynch Theory: Expected count of SFS</vt:lpstr>
      <vt:lpstr>Lynch Theory: Expected count of SFS</vt:lpstr>
      <vt:lpstr>Lynch Theory: Expected count of SFS</vt:lpstr>
      <vt:lpstr>Lynch Theory: Time intervals</vt:lpstr>
      <vt:lpstr>Lynch Theory: Does it work?</vt:lpstr>
      <vt:lpstr>Lynch Theory: Does it work?</vt:lpstr>
      <vt:lpstr>Lynch Theory: Does it work?</vt:lpstr>
      <vt:lpstr>Lynch Theory: Does it work?</vt:lpstr>
      <vt:lpstr>Lynch Theory: Does it work?</vt:lpstr>
      <vt:lpstr>Lynch Theory: Scaled up</vt:lpstr>
      <vt:lpstr>Lynch Theory: Explained</vt:lpstr>
      <vt:lpstr>Lynch Theory: Scaled up (but in a different way)</vt:lpstr>
      <vt:lpstr>Lynch Theory: Scaled up (but in a different way)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RDM_HW Rotation Update</dc:title>
  <dc:creator>Jonathan Mah</dc:creator>
  <cp:lastModifiedBy>Jonathan Mah</cp:lastModifiedBy>
  <cp:revision>129</cp:revision>
  <dcterms:created xsi:type="dcterms:W3CDTF">2020-10-07T15:54:11Z</dcterms:created>
  <dcterms:modified xsi:type="dcterms:W3CDTF">2025-05-15T20:30:28Z</dcterms:modified>
</cp:coreProperties>
</file>