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9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7FA0DC-3D6B-48E4-96B3-0B421EFD7D0E}" v="2214" dt="2025-09-18T20:02:08.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18" autoAdjust="0"/>
    <p:restoredTop sz="94474" autoAdjust="0"/>
  </p:normalViewPr>
  <p:slideViewPr>
    <p:cSldViewPr snapToGrid="0">
      <p:cViewPr>
        <p:scale>
          <a:sx n="50" d="100"/>
          <a:sy n="50" d="100"/>
        </p:scale>
        <p:origin x="-2694" y="-1011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Mah" userId="5261b2f2f3e51194" providerId="LiveId" clId="{DB9BCF8B-E91B-491C-8171-92D39BBC1534}"/>
    <pc:docChg chg="undo custSel modSld">
      <pc:chgData name="Jonathan Mah" userId="5261b2f2f3e51194" providerId="LiveId" clId="{DB9BCF8B-E91B-491C-8171-92D39BBC1534}" dt="2025-09-18T20:47:43.362" v="3166" actId="1035"/>
      <pc:docMkLst>
        <pc:docMk/>
      </pc:docMkLst>
      <pc:sldChg chg="addSp modSp mod">
        <pc:chgData name="Jonathan Mah" userId="5261b2f2f3e51194" providerId="LiveId" clId="{DB9BCF8B-E91B-491C-8171-92D39BBC1534}" dt="2025-09-18T20:47:43.362" v="3166" actId="1035"/>
        <pc:sldMkLst>
          <pc:docMk/>
          <pc:sldMk cId="1759951984" sldId="256"/>
        </pc:sldMkLst>
        <pc:spChg chg="add mod">
          <ac:chgData name="Jonathan Mah" userId="5261b2f2f3e51194" providerId="LiveId" clId="{DB9BCF8B-E91B-491C-8171-92D39BBC1534}" dt="2025-09-18T19:59:34.475" v="2434" actId="1076"/>
          <ac:spMkLst>
            <pc:docMk/>
            <pc:sldMk cId="1759951984" sldId="256"/>
            <ac:spMk id="2" creationId="{D93E8F34-896C-F31D-F7DD-BBCBEEE69AB2}"/>
          </ac:spMkLst>
        </pc:spChg>
        <pc:spChg chg="add mod">
          <ac:chgData name="Jonathan Mah" userId="5261b2f2f3e51194" providerId="LiveId" clId="{DB9BCF8B-E91B-491C-8171-92D39BBC1534}" dt="2025-09-18T20:01:29.255" v="2471" actId="1035"/>
          <ac:spMkLst>
            <pc:docMk/>
            <pc:sldMk cId="1759951984" sldId="256"/>
            <ac:spMk id="3" creationId="{DA147E26-5020-A9BC-ECF5-6BB88D556DD6}"/>
          </ac:spMkLst>
        </pc:spChg>
        <pc:spChg chg="mod">
          <ac:chgData name="Jonathan Mah" userId="5261b2f2f3e51194" providerId="LiveId" clId="{DB9BCF8B-E91B-491C-8171-92D39BBC1534}" dt="2025-09-18T20:34:17.526" v="2539" actId="20577"/>
          <ac:spMkLst>
            <pc:docMk/>
            <pc:sldMk cId="1759951984" sldId="256"/>
            <ac:spMk id="12" creationId="{10EA9D0E-B321-4B0A-7B84-99A41F7D5021}"/>
          </ac:spMkLst>
        </pc:spChg>
        <pc:spChg chg="add mod">
          <ac:chgData name="Jonathan Mah" userId="5261b2f2f3e51194" providerId="LiveId" clId="{DB9BCF8B-E91B-491C-8171-92D39BBC1534}" dt="2025-09-18T20:00:48.471" v="2455" actId="1076"/>
          <ac:spMkLst>
            <pc:docMk/>
            <pc:sldMk cId="1759951984" sldId="256"/>
            <ac:spMk id="14" creationId="{F449FD01-1C57-5C91-FAFA-46C3EFFDE381}"/>
          </ac:spMkLst>
        </pc:spChg>
        <pc:spChg chg="mod">
          <ac:chgData name="Jonathan Mah" userId="5261b2f2f3e51194" providerId="LiveId" clId="{DB9BCF8B-E91B-491C-8171-92D39BBC1534}" dt="2025-09-18T19:49:29.400" v="2311" actId="1036"/>
          <ac:spMkLst>
            <pc:docMk/>
            <pc:sldMk cId="1759951984" sldId="256"/>
            <ac:spMk id="15" creationId="{27F2DE89-C59D-309D-AFD3-03B411E27FFA}"/>
          </ac:spMkLst>
        </pc:spChg>
        <pc:spChg chg="mod">
          <ac:chgData name="Jonathan Mah" userId="5261b2f2f3e51194" providerId="LiveId" clId="{DB9BCF8B-E91B-491C-8171-92D39BBC1534}" dt="2025-09-18T19:50:12.535" v="2316" actId="947"/>
          <ac:spMkLst>
            <pc:docMk/>
            <pc:sldMk cId="1759951984" sldId="256"/>
            <ac:spMk id="17" creationId="{EDBA2D28-2ADB-0FA5-DE91-F81C99C649D7}"/>
          </ac:spMkLst>
        </pc:spChg>
        <pc:spChg chg="add mod">
          <ac:chgData name="Jonathan Mah" userId="5261b2f2f3e51194" providerId="LiveId" clId="{DB9BCF8B-E91B-491C-8171-92D39BBC1534}" dt="2025-09-18T20:00:04.300" v="2444" actId="20577"/>
          <ac:spMkLst>
            <pc:docMk/>
            <pc:sldMk cId="1759951984" sldId="256"/>
            <ac:spMk id="18" creationId="{B82EE60A-E665-4AB1-0738-119109DBF84A}"/>
          </ac:spMkLst>
        </pc:spChg>
        <pc:spChg chg="mod">
          <ac:chgData name="Jonathan Mah" userId="5261b2f2f3e51194" providerId="LiveId" clId="{DB9BCF8B-E91B-491C-8171-92D39BBC1534}" dt="2025-09-18T19:43:14.066" v="1539"/>
          <ac:spMkLst>
            <pc:docMk/>
            <pc:sldMk cId="1759951984" sldId="256"/>
            <ac:spMk id="19" creationId="{06570E6B-0AC3-AB23-8D0D-397C20A8A38B}"/>
          </ac:spMkLst>
        </pc:spChg>
        <pc:spChg chg="add mod">
          <ac:chgData name="Jonathan Mah" userId="5261b2f2f3e51194" providerId="LiveId" clId="{DB9BCF8B-E91B-491C-8171-92D39BBC1534}" dt="2025-09-18T20:00:24.338" v="2451" actId="1035"/>
          <ac:spMkLst>
            <pc:docMk/>
            <pc:sldMk cId="1759951984" sldId="256"/>
            <ac:spMk id="20" creationId="{B49B9B38-C346-504B-B020-D6FB706B8E48}"/>
          </ac:spMkLst>
        </pc:spChg>
        <pc:spChg chg="add mod">
          <ac:chgData name="Jonathan Mah" userId="5261b2f2f3e51194" providerId="LiveId" clId="{DB9BCF8B-E91B-491C-8171-92D39BBC1534}" dt="2025-09-18T20:00:53.011" v="2459" actId="1036"/>
          <ac:spMkLst>
            <pc:docMk/>
            <pc:sldMk cId="1759951984" sldId="256"/>
            <ac:spMk id="21" creationId="{D1DB66BF-F976-5FC5-980D-B5F79EF87071}"/>
          </ac:spMkLst>
        </pc:spChg>
        <pc:spChg chg="mod">
          <ac:chgData name="Jonathan Mah" userId="5261b2f2f3e51194" providerId="LiveId" clId="{DB9BCF8B-E91B-491C-8171-92D39BBC1534}" dt="2025-09-18T20:35:20.643" v="2541" actId="20577"/>
          <ac:spMkLst>
            <pc:docMk/>
            <pc:sldMk cId="1759951984" sldId="256"/>
            <ac:spMk id="22" creationId="{EEC86197-6D47-AA1C-C082-83DC12834217}"/>
          </ac:spMkLst>
        </pc:spChg>
        <pc:spChg chg="mod">
          <ac:chgData name="Jonathan Mah" userId="5261b2f2f3e51194" providerId="LiveId" clId="{DB9BCF8B-E91B-491C-8171-92D39BBC1534}" dt="2025-09-18T20:37:31.837" v="2543" actId="20577"/>
          <ac:spMkLst>
            <pc:docMk/>
            <pc:sldMk cId="1759951984" sldId="256"/>
            <ac:spMk id="24" creationId="{D93D7876-5DD9-FD25-A662-449D78D5B015}"/>
          </ac:spMkLst>
        </pc:spChg>
        <pc:spChg chg="mod">
          <ac:chgData name="Jonathan Mah" userId="5261b2f2f3e51194" providerId="LiveId" clId="{DB9BCF8B-E91B-491C-8171-92D39BBC1534}" dt="2025-09-18T20:02:08.059" v="2480" actId="1036"/>
          <ac:spMkLst>
            <pc:docMk/>
            <pc:sldMk cId="1759951984" sldId="256"/>
            <ac:spMk id="25" creationId="{7A40E259-9EE9-E31E-DE2C-3F8C77DEDDF7}"/>
          </ac:spMkLst>
        </pc:spChg>
        <pc:spChg chg="mod">
          <ac:chgData name="Jonathan Mah" userId="5261b2f2f3e51194" providerId="LiveId" clId="{DB9BCF8B-E91B-491C-8171-92D39BBC1534}" dt="2025-09-18T16:00:08.290" v="36" actId="20577"/>
          <ac:spMkLst>
            <pc:docMk/>
            <pc:sldMk cId="1759951984" sldId="256"/>
            <ac:spMk id="27" creationId="{549A58BC-2447-8C7F-69C0-89655B3108E5}"/>
          </ac:spMkLst>
        </pc:spChg>
        <pc:spChg chg="mod">
          <ac:chgData name="Jonathan Mah" userId="5261b2f2f3e51194" providerId="LiveId" clId="{DB9BCF8B-E91B-491C-8171-92D39BBC1534}" dt="2025-09-18T20:41:08.115" v="2584" actId="20577"/>
          <ac:spMkLst>
            <pc:docMk/>
            <pc:sldMk cId="1759951984" sldId="256"/>
            <ac:spMk id="28" creationId="{FB3F244A-E42A-83DA-D23B-FCBFC6672E07}"/>
          </ac:spMkLst>
        </pc:spChg>
        <pc:spChg chg="mod">
          <ac:chgData name="Jonathan Mah" userId="5261b2f2f3e51194" providerId="LiveId" clId="{DB9BCF8B-E91B-491C-8171-92D39BBC1534}" dt="2025-09-18T17:33:12.458" v="50" actId="1076"/>
          <ac:spMkLst>
            <pc:docMk/>
            <pc:sldMk cId="1759951984" sldId="256"/>
            <ac:spMk id="30" creationId="{FD8FCEEF-5E32-33DB-B409-4E5ED804AA20}"/>
          </ac:spMkLst>
        </pc:spChg>
        <pc:spChg chg="mod">
          <ac:chgData name="Jonathan Mah" userId="5261b2f2f3e51194" providerId="LiveId" clId="{DB9BCF8B-E91B-491C-8171-92D39BBC1534}" dt="2025-09-18T15:59:55.884" v="1" actId="1076"/>
          <ac:spMkLst>
            <pc:docMk/>
            <pc:sldMk cId="1759951984" sldId="256"/>
            <ac:spMk id="33" creationId="{777FDF52-4CAF-43CE-4BC5-8DB7ADF8937B}"/>
          </ac:spMkLst>
        </pc:spChg>
        <pc:spChg chg="add mod">
          <ac:chgData name="Jonathan Mah" userId="5261b2f2f3e51194" providerId="LiveId" clId="{DB9BCF8B-E91B-491C-8171-92D39BBC1534}" dt="2025-09-18T20:01:18.692" v="2465" actId="1035"/>
          <ac:spMkLst>
            <pc:docMk/>
            <pc:sldMk cId="1759951984" sldId="256"/>
            <ac:spMk id="34" creationId="{5649619E-AE83-7076-9FAB-426E5FA75535}"/>
          </ac:spMkLst>
        </pc:spChg>
        <pc:spChg chg="mod">
          <ac:chgData name="Jonathan Mah" userId="5261b2f2f3e51194" providerId="LiveId" clId="{DB9BCF8B-E91B-491C-8171-92D39BBC1534}" dt="2025-09-18T20:38:38.530" v="2556" actId="20577"/>
          <ac:spMkLst>
            <pc:docMk/>
            <pc:sldMk cId="1759951984" sldId="256"/>
            <ac:spMk id="35" creationId="{44851792-582D-DA26-B321-B9F746AEFD91}"/>
          </ac:spMkLst>
        </pc:spChg>
        <pc:spChg chg="add mod">
          <ac:chgData name="Jonathan Mah" userId="5261b2f2f3e51194" providerId="LiveId" clId="{DB9BCF8B-E91B-491C-8171-92D39BBC1534}" dt="2025-09-18T20:01:25.503" v="2470" actId="1036"/>
          <ac:spMkLst>
            <pc:docMk/>
            <pc:sldMk cId="1759951984" sldId="256"/>
            <ac:spMk id="36" creationId="{FD601CA0-058F-032E-C3E6-EEFF054A1FF4}"/>
          </ac:spMkLst>
        </pc:spChg>
        <pc:spChg chg="add mod">
          <ac:chgData name="Jonathan Mah" userId="5261b2f2f3e51194" providerId="LiveId" clId="{DB9BCF8B-E91B-491C-8171-92D39BBC1534}" dt="2025-09-18T20:01:18.692" v="2465" actId="1035"/>
          <ac:spMkLst>
            <pc:docMk/>
            <pc:sldMk cId="1759951984" sldId="256"/>
            <ac:spMk id="37" creationId="{9C1D4646-2DF8-373D-0DC3-CB100D892FEE}"/>
          </ac:spMkLst>
        </pc:spChg>
        <pc:spChg chg="add mod">
          <ac:chgData name="Jonathan Mah" userId="5261b2f2f3e51194" providerId="LiveId" clId="{DB9BCF8B-E91B-491C-8171-92D39BBC1534}" dt="2025-09-18T20:01:18.692" v="2465" actId="1035"/>
          <ac:spMkLst>
            <pc:docMk/>
            <pc:sldMk cId="1759951984" sldId="256"/>
            <ac:spMk id="38" creationId="{AE8FE1D9-4027-7136-759B-A4F2E2B03821}"/>
          </ac:spMkLst>
        </pc:spChg>
        <pc:spChg chg="mod">
          <ac:chgData name="Jonathan Mah" userId="5261b2f2f3e51194" providerId="LiveId" clId="{DB9BCF8B-E91B-491C-8171-92D39BBC1534}" dt="2025-09-18T20:47:43.362" v="3166" actId="1035"/>
          <ac:spMkLst>
            <pc:docMk/>
            <pc:sldMk cId="1759951984" sldId="256"/>
            <ac:spMk id="39" creationId="{8D0EEF04-FCDC-A0D7-CF7F-F25DD7A68757}"/>
          </ac:spMkLst>
        </pc:spChg>
        <pc:spChg chg="add mod">
          <ac:chgData name="Jonathan Mah" userId="5261b2f2f3e51194" providerId="LiveId" clId="{DB9BCF8B-E91B-491C-8171-92D39BBC1534}" dt="2025-09-18T20:01:18.692" v="2465" actId="1035"/>
          <ac:spMkLst>
            <pc:docMk/>
            <pc:sldMk cId="1759951984" sldId="256"/>
            <ac:spMk id="40" creationId="{B6A9BF8B-79DA-9367-849C-66698A3E5B5D}"/>
          </ac:spMkLst>
        </pc:spChg>
        <pc:spChg chg="mod">
          <ac:chgData name="Jonathan Mah" userId="5261b2f2f3e51194" providerId="LiveId" clId="{DB9BCF8B-E91B-491C-8171-92D39BBC1534}" dt="2025-09-18T19:43:35.392" v="1548" actId="1038"/>
          <ac:spMkLst>
            <pc:docMk/>
            <pc:sldMk cId="1759951984" sldId="256"/>
            <ac:spMk id="43" creationId="{55E47013-F760-E79E-C158-D6B6F0BF1D4F}"/>
          </ac:spMkLst>
        </pc:spChg>
        <pc:spChg chg="mod">
          <ac:chgData name="Jonathan Mah" userId="5261b2f2f3e51194" providerId="LiveId" clId="{DB9BCF8B-E91B-491C-8171-92D39BBC1534}" dt="2025-09-18T20:41:52.869" v="2607" actId="113"/>
          <ac:spMkLst>
            <pc:docMk/>
            <pc:sldMk cId="1759951984" sldId="256"/>
            <ac:spMk id="47" creationId="{F7E38E46-9B8C-BBA5-4E57-5BC90AA1BC3B}"/>
          </ac:spMkLst>
        </pc:spChg>
        <pc:spChg chg="mod">
          <ac:chgData name="Jonathan Mah" userId="5261b2f2f3e51194" providerId="LiveId" clId="{DB9BCF8B-E91B-491C-8171-92D39BBC1534}" dt="2025-09-18T19:43:40.243" v="1549" actId="14100"/>
          <ac:spMkLst>
            <pc:docMk/>
            <pc:sldMk cId="1759951984" sldId="256"/>
            <ac:spMk id="53" creationId="{CA299CC8-66D9-1B5B-9452-76F16DDA8579}"/>
          </ac:spMkLst>
        </pc:spChg>
        <pc:spChg chg="mod">
          <ac:chgData name="Jonathan Mah" userId="5261b2f2f3e51194" providerId="LiveId" clId="{DB9BCF8B-E91B-491C-8171-92D39BBC1534}" dt="2025-09-18T17:33:07.101" v="48" actId="20577"/>
          <ac:spMkLst>
            <pc:docMk/>
            <pc:sldMk cId="1759951984" sldId="256"/>
            <ac:spMk id="62" creationId="{2E7C908B-992F-A135-1712-5BE04B2DADA1}"/>
          </ac:spMkLst>
        </pc:spChg>
        <pc:spChg chg="mod">
          <ac:chgData name="Jonathan Mah" userId="5261b2f2f3e51194" providerId="LiveId" clId="{DB9BCF8B-E91B-491C-8171-92D39BBC1534}" dt="2025-09-18T19:43:14.066" v="1539"/>
          <ac:spMkLst>
            <pc:docMk/>
            <pc:sldMk cId="1759951984" sldId="256"/>
            <ac:spMk id="78" creationId="{6893951C-4103-9DE2-1A0B-284D0DA44EA8}"/>
          </ac:spMkLst>
        </pc:spChg>
        <pc:spChg chg="mod">
          <ac:chgData name="Jonathan Mah" userId="5261b2f2f3e51194" providerId="LiveId" clId="{DB9BCF8B-E91B-491C-8171-92D39BBC1534}" dt="2025-09-18T19:43:14.066" v="1539"/>
          <ac:spMkLst>
            <pc:docMk/>
            <pc:sldMk cId="1759951984" sldId="256"/>
            <ac:spMk id="87" creationId="{2AD6AFF2-D256-909A-452C-1ABCB16AE02C}"/>
          </ac:spMkLst>
        </pc:spChg>
        <pc:picChg chg="mod">
          <ac:chgData name="Jonathan Mah" userId="5261b2f2f3e51194" providerId="LiveId" clId="{DB9BCF8B-E91B-491C-8171-92D39BBC1534}" dt="2025-09-18T19:27:04.312" v="1197" actId="1036"/>
          <ac:picMkLst>
            <pc:docMk/>
            <pc:sldMk cId="1759951984" sldId="256"/>
            <ac:picMk id="44" creationId="{55AEE9AE-3204-93CD-E962-EC090CFA1229}"/>
          </ac:picMkLst>
        </pc:picChg>
        <pc:picChg chg="mod">
          <ac:chgData name="Jonathan Mah" userId="5261b2f2f3e51194" providerId="LiveId" clId="{DB9BCF8B-E91B-491C-8171-92D39BBC1534}" dt="2025-09-18T17:36:56.543" v="63" actId="1038"/>
          <ac:picMkLst>
            <pc:docMk/>
            <pc:sldMk cId="1759951984" sldId="256"/>
            <ac:picMk id="69" creationId="{20FC729B-409D-640D-8EBA-575B98246656}"/>
          </ac:picMkLst>
        </pc:picChg>
        <pc:picChg chg="mod">
          <ac:chgData name="Jonathan Mah" userId="5261b2f2f3e51194" providerId="LiveId" clId="{DB9BCF8B-E91B-491C-8171-92D39BBC1534}" dt="2025-09-18T20:41:17.751" v="2586" actId="1076"/>
          <ac:picMkLst>
            <pc:docMk/>
            <pc:sldMk cId="1759951984" sldId="256"/>
            <ac:picMk id="71" creationId="{FD633D2C-45FE-AF7C-6ADE-F6739541FC6C}"/>
          </ac:picMkLst>
        </pc:picChg>
        <pc:picChg chg="mod">
          <ac:chgData name="Jonathan Mah" userId="5261b2f2f3e51194" providerId="LiveId" clId="{DB9BCF8B-E91B-491C-8171-92D39BBC1534}" dt="2025-09-18T20:01:44.906" v="2473" actId="1036"/>
          <ac:picMkLst>
            <pc:docMk/>
            <pc:sldMk cId="1759951984" sldId="256"/>
            <ac:picMk id="73" creationId="{A13263E4-FA4B-A7FC-0E8C-3CB0157FED9E}"/>
          </ac:picMkLst>
        </pc:picChg>
        <pc:picChg chg="mod">
          <ac:chgData name="Jonathan Mah" userId="5261b2f2f3e51194" providerId="LiveId" clId="{DB9BCF8B-E91B-491C-8171-92D39BBC1534}" dt="2025-09-18T19:43:58.097" v="1551" actId="1076"/>
          <ac:picMkLst>
            <pc:docMk/>
            <pc:sldMk cId="1759951984" sldId="256"/>
            <ac:picMk id="80" creationId="{7B554239-B21E-09B5-1BA0-D22E856F5E66}"/>
          </ac:picMkLst>
        </pc:picChg>
        <pc:picChg chg="mod">
          <ac:chgData name="Jonathan Mah" userId="5261b2f2f3e51194" providerId="LiveId" clId="{DB9BCF8B-E91B-491C-8171-92D39BBC1534}" dt="2025-09-18T19:44:05.720" v="1561" actId="1036"/>
          <ac:picMkLst>
            <pc:docMk/>
            <pc:sldMk cId="1759951984" sldId="256"/>
            <ac:picMk id="84" creationId="{CD06997A-E05B-94E2-65E7-72F655B885D0}"/>
          </ac:picMkLst>
        </pc:picChg>
        <pc:picChg chg="mod">
          <ac:chgData name="Jonathan Mah" userId="5261b2f2f3e51194" providerId="LiveId" clId="{DB9BCF8B-E91B-491C-8171-92D39BBC1534}" dt="2025-09-18T17:33:10.523" v="49" actId="1076"/>
          <ac:picMkLst>
            <pc:docMk/>
            <pc:sldMk cId="1759951984" sldId="256"/>
            <ac:picMk id="94" creationId="{79B05E7A-6CB8-7C45-2BF0-A7704078AF87}"/>
          </ac:picMkLst>
        </pc:picChg>
        <pc:picChg chg="mod">
          <ac:chgData name="Jonathan Mah" userId="5261b2f2f3e51194" providerId="LiveId" clId="{DB9BCF8B-E91B-491C-8171-92D39BBC1534}" dt="2025-09-18T17:33:27.895" v="51" actId="1076"/>
          <ac:picMkLst>
            <pc:docMk/>
            <pc:sldMk cId="1759951984" sldId="256"/>
            <ac:picMk id="96" creationId="{ADAA99E5-421B-E04D-C255-450B3DDEDF2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20710A-42F2-4DC7-9927-27FC0447C5C6}"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242456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0710A-42F2-4DC7-9927-27FC0447C5C6}"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264964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20710A-42F2-4DC7-9927-27FC0447C5C6}"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3265769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20710A-42F2-4DC7-9927-27FC0447C5C6}"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29810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20710A-42F2-4DC7-9927-27FC0447C5C6}"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3891121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20710A-42F2-4DC7-9927-27FC0447C5C6}" type="datetimeFigureOut">
              <a:rPr lang="en-US" smtClean="0"/>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2828387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20710A-42F2-4DC7-9927-27FC0447C5C6}" type="datetimeFigureOut">
              <a:rPr lang="en-US" smtClean="0"/>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2079748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0120710A-42F2-4DC7-9927-27FC0447C5C6}"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12949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0120710A-42F2-4DC7-9927-27FC0447C5C6}"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2067908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0710A-42F2-4DC7-9927-27FC0447C5C6}"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1387700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20710A-42F2-4DC7-9927-27FC0447C5C6}"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9F221-7920-4300-BE49-CA50011C0827}" type="slidenum">
              <a:rPr lang="en-US" smtClean="0"/>
              <a:t>‹#›</a:t>
            </a:fld>
            <a:endParaRPr lang="en-US"/>
          </a:p>
        </p:txBody>
      </p:sp>
    </p:spTree>
    <p:extLst>
      <p:ext uri="{BB962C8B-B14F-4D97-AF65-F5344CB8AC3E}">
        <p14:creationId xmlns:p14="http://schemas.microsoft.com/office/powerpoint/2010/main" val="79053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0120710A-42F2-4DC7-9927-27FC0447C5C6}" type="datetimeFigureOut">
              <a:rPr lang="en-US" smtClean="0"/>
              <a:t>9/18/2025</a:t>
            </a:fld>
            <a:endParaRPr lang="en-US"/>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09A9F221-7920-4300-BE49-CA50011C0827}" type="slidenum">
              <a:rPr lang="en-US" smtClean="0"/>
              <a:t>‹#›</a:t>
            </a:fld>
            <a:endParaRPr lang="en-US"/>
          </a:p>
        </p:txBody>
      </p:sp>
    </p:spTree>
    <p:extLst>
      <p:ext uri="{BB962C8B-B14F-4D97-AF65-F5344CB8AC3E}">
        <p14:creationId xmlns:p14="http://schemas.microsoft.com/office/powerpoint/2010/main" val="6355335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hyperlink" Target="mailto:mharris94@g.ucla.edu" TargetMode="External"/><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F355E53-7F84-FDA8-FB5F-E9117B3A10A4}"/>
              </a:ext>
            </a:extLst>
          </p:cNvPr>
          <p:cNvSpPr/>
          <p:nvPr/>
        </p:nvSpPr>
        <p:spPr>
          <a:xfrm>
            <a:off x="543320" y="5310993"/>
            <a:ext cx="8087917" cy="38580207"/>
          </a:xfrm>
          <a:prstGeom prst="rect">
            <a:avLst/>
          </a:prstGeom>
          <a:solidFill>
            <a:srgbClr val="B3CCEB"/>
          </a:solidFill>
          <a:ln>
            <a:solidFill>
              <a:srgbClr val="B3CC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19" dirty="0"/>
          </a:p>
        </p:txBody>
      </p:sp>
      <p:sp>
        <p:nvSpPr>
          <p:cNvPr id="4" name="object 13">
            <a:extLst>
              <a:ext uri="{FF2B5EF4-FFF2-40B4-BE49-F238E27FC236}">
                <a16:creationId xmlns:a16="http://schemas.microsoft.com/office/drawing/2014/main" id="{6A20889A-3852-0C33-2741-F16DE423F910}"/>
              </a:ext>
            </a:extLst>
          </p:cNvPr>
          <p:cNvSpPr/>
          <p:nvPr/>
        </p:nvSpPr>
        <p:spPr>
          <a:xfrm>
            <a:off x="537049" y="362636"/>
            <a:ext cx="24846585" cy="5321968"/>
          </a:xfrm>
          <a:prstGeom prst="rect">
            <a:avLst/>
          </a:prstGeom>
          <a:solidFill>
            <a:srgbClr val="183960"/>
          </a:solidFill>
          <a:ln>
            <a:noFill/>
          </a:ln>
        </p:spPr>
        <p:txBody>
          <a:bodyPr wrap="square" lIns="0" tIns="0" rIns="0" bIns="0" rtlCol="0"/>
          <a:lstStyle/>
          <a:p>
            <a:endParaRPr sz="6019" dirty="0">
              <a:latin typeface="Yu Gothic" panose="020B0400000000000000" pitchFamily="34" charset="-128"/>
              <a:ea typeface="Yu Gothic" panose="020B0400000000000000" pitchFamily="34" charset="-128"/>
            </a:endParaRPr>
          </a:p>
        </p:txBody>
      </p:sp>
      <p:sp>
        <p:nvSpPr>
          <p:cNvPr id="5" name="object 14">
            <a:extLst>
              <a:ext uri="{FF2B5EF4-FFF2-40B4-BE49-F238E27FC236}">
                <a16:creationId xmlns:a16="http://schemas.microsoft.com/office/drawing/2014/main" id="{651C7456-6B72-3319-9C49-EC68908AA102}"/>
              </a:ext>
            </a:extLst>
          </p:cNvPr>
          <p:cNvSpPr txBox="1"/>
          <p:nvPr/>
        </p:nvSpPr>
        <p:spPr>
          <a:xfrm>
            <a:off x="218072" y="865255"/>
            <a:ext cx="26185369" cy="4555689"/>
          </a:xfrm>
          <a:prstGeom prst="rect">
            <a:avLst/>
          </a:prstGeom>
        </p:spPr>
        <p:txBody>
          <a:bodyPr vert="horz" wrap="square" lIns="0" tIns="20656" rIns="0" bIns="0" rtlCol="0">
            <a:spAutoFit/>
          </a:bodyPr>
          <a:lstStyle/>
          <a:p>
            <a:pPr marL="741472" marR="1469895" indent="-677327" algn="ctr">
              <a:spcBef>
                <a:spcPts val="163"/>
              </a:spcBef>
            </a:pPr>
            <a:r>
              <a:rPr lang="en-US" sz="5401" b="1" dirty="0">
                <a:solidFill>
                  <a:schemeClr val="bg1"/>
                </a:solidFill>
                <a:latin typeface="Yu Gothic" panose="020B0400000000000000" pitchFamily="34" charset="-128"/>
                <a:ea typeface="Yu Gothic" panose="020B0400000000000000" pitchFamily="34" charset="-128"/>
                <a:cs typeface="Arial"/>
              </a:rPr>
              <a:t>Inference of population demographic history captures differing evolutionary signals based on the number of individuals in the dataset</a:t>
            </a:r>
          </a:p>
          <a:p>
            <a:pPr marL="741472" marR="1469895" indent="-677327" algn="ctr">
              <a:spcBef>
                <a:spcPts val="163"/>
              </a:spcBef>
            </a:pPr>
            <a:r>
              <a:rPr lang="en-US" sz="3600" u="sng" spc="-9" dirty="0">
                <a:solidFill>
                  <a:schemeClr val="bg1"/>
                </a:solidFill>
                <a:uFill>
                  <a:solidFill>
                    <a:srgbClr val="3C8CC2"/>
                  </a:solidFill>
                </a:uFill>
                <a:latin typeface="Yu Gothic" panose="020B0400000000000000" pitchFamily="34" charset="-128"/>
                <a:ea typeface="Yu Gothic" panose="020B0400000000000000" pitchFamily="34" charset="-128"/>
                <a:cs typeface="Arial"/>
              </a:rPr>
              <a:t>Jonathan Mah</a:t>
            </a:r>
            <a:r>
              <a:rPr lang="en-US" sz="3600" spc="-13" baseline="23504" dirty="0">
                <a:solidFill>
                  <a:schemeClr val="bg1"/>
                </a:solidFill>
                <a:latin typeface="Yu Gothic" panose="020B0400000000000000" pitchFamily="34" charset="-128"/>
                <a:ea typeface="Yu Gothic" panose="020B0400000000000000" pitchFamily="34" charset="-128"/>
                <a:cs typeface="Arial"/>
              </a:rPr>
              <a:t>1 </a:t>
            </a:r>
            <a:r>
              <a:rPr lang="en-US" sz="3600" spc="-13" dirty="0">
                <a:solidFill>
                  <a:schemeClr val="bg1"/>
                </a:solidFill>
                <a:latin typeface="Yu Gothic" panose="020B0400000000000000" pitchFamily="34" charset="-128"/>
                <a:ea typeface="Yu Gothic" panose="020B0400000000000000" pitchFamily="34" charset="-128"/>
                <a:cs typeface="Arial"/>
              </a:rPr>
              <a:t>and Kirk Lohmueller</a:t>
            </a:r>
            <a:r>
              <a:rPr lang="en-US" sz="3600" spc="-13" baseline="23504" dirty="0">
                <a:solidFill>
                  <a:schemeClr val="bg1"/>
                </a:solidFill>
                <a:latin typeface="Yu Gothic" panose="020B0400000000000000" pitchFamily="34" charset="-128"/>
                <a:ea typeface="Yu Gothic" panose="020B0400000000000000" pitchFamily="34" charset="-128"/>
                <a:cs typeface="Arial"/>
              </a:rPr>
              <a:t>2, 3</a:t>
            </a:r>
            <a:br>
              <a:rPr lang="en-US" sz="3600" baseline="23504" dirty="0">
                <a:solidFill>
                  <a:schemeClr val="bg1"/>
                </a:solidFill>
                <a:latin typeface="Yu Gothic" panose="020B0400000000000000" pitchFamily="34" charset="-128"/>
                <a:ea typeface="Yu Gothic" panose="020B0400000000000000" pitchFamily="34" charset="-128"/>
                <a:cs typeface="Arial"/>
              </a:rPr>
            </a:br>
            <a:r>
              <a:rPr lang="en-US" sz="3600" spc="-26" dirty="0">
                <a:solidFill>
                  <a:schemeClr val="bg1"/>
                </a:solidFill>
                <a:latin typeface="Yu Gothic" panose="020B0400000000000000" pitchFamily="34" charset="-128"/>
                <a:ea typeface="Yu Gothic" panose="020B0400000000000000" pitchFamily="34" charset="-128"/>
                <a:cs typeface="Arial"/>
              </a:rPr>
              <a:t>1. Bioinformatics Interdepartmental Program, University of California, Los Angeles</a:t>
            </a:r>
          </a:p>
          <a:p>
            <a:pPr marL="741472" marR="1469895" indent="-677327" algn="ctr">
              <a:spcBef>
                <a:spcPts val="163"/>
              </a:spcBef>
            </a:pPr>
            <a:r>
              <a:rPr lang="en-US" sz="3600" spc="-26" dirty="0">
                <a:solidFill>
                  <a:schemeClr val="bg1"/>
                </a:solidFill>
                <a:latin typeface="Yu Gothic" panose="020B0400000000000000" pitchFamily="34" charset="-128"/>
                <a:ea typeface="Yu Gothic" panose="020B0400000000000000" pitchFamily="34" charset="-128"/>
                <a:cs typeface="Arial"/>
              </a:rPr>
              <a:t>2. Department of Ecology and Evolutionary Biology, University of California, Los Angeles</a:t>
            </a:r>
          </a:p>
          <a:p>
            <a:pPr marL="741472" marR="1469895" indent="-677327" algn="ctr">
              <a:spcBef>
                <a:spcPts val="163"/>
              </a:spcBef>
            </a:pPr>
            <a:r>
              <a:rPr lang="en-US" sz="3600" spc="-26" dirty="0">
                <a:solidFill>
                  <a:schemeClr val="bg1"/>
                </a:solidFill>
                <a:latin typeface="Yu Gothic" panose="020B0400000000000000" pitchFamily="34" charset="-128"/>
                <a:ea typeface="Yu Gothic" panose="020B0400000000000000" pitchFamily="34" charset="-128"/>
                <a:cs typeface="Arial"/>
              </a:rPr>
              <a:t>3. Department of Human Genetics, University of California, Los Angeles</a:t>
            </a:r>
          </a:p>
          <a:p>
            <a:pPr marL="741472" marR="1469895" indent="-677327" algn="ctr">
              <a:spcBef>
                <a:spcPts val="163"/>
              </a:spcBef>
            </a:pPr>
            <a:endParaRPr lang="en-US" sz="3600" dirty="0">
              <a:solidFill>
                <a:schemeClr val="bg1"/>
              </a:solidFill>
              <a:latin typeface="Yu Gothic" panose="020B0400000000000000" pitchFamily="34" charset="-128"/>
              <a:ea typeface="Yu Gothic" panose="020B0400000000000000" pitchFamily="34" charset="-128"/>
              <a:cs typeface="Arial"/>
            </a:endParaRPr>
          </a:p>
        </p:txBody>
      </p:sp>
      <p:pic>
        <p:nvPicPr>
          <p:cNvPr id="6" name="object 15">
            <a:extLst>
              <a:ext uri="{FF2B5EF4-FFF2-40B4-BE49-F238E27FC236}">
                <a16:creationId xmlns:a16="http://schemas.microsoft.com/office/drawing/2014/main" id="{832B9577-09EE-123A-44F5-2C498443E2E7}"/>
              </a:ext>
            </a:extLst>
          </p:cNvPr>
          <p:cNvPicPr/>
          <p:nvPr/>
        </p:nvPicPr>
        <p:blipFill>
          <a:blip r:embed="rId2" cstate="print"/>
          <a:stretch>
            <a:fillRect/>
          </a:stretch>
        </p:blipFill>
        <p:spPr>
          <a:xfrm>
            <a:off x="27692002" y="267359"/>
            <a:ext cx="2743200" cy="2743200"/>
          </a:xfrm>
          <a:prstGeom prst="rect">
            <a:avLst/>
          </a:prstGeom>
        </p:spPr>
      </p:pic>
      <p:pic>
        <p:nvPicPr>
          <p:cNvPr id="7" name="Picture 6">
            <a:extLst>
              <a:ext uri="{FF2B5EF4-FFF2-40B4-BE49-F238E27FC236}">
                <a16:creationId xmlns:a16="http://schemas.microsoft.com/office/drawing/2014/main" id="{9F8D8AB5-CAC3-29F2-8FD9-0D154999229B}"/>
              </a:ext>
            </a:extLst>
          </p:cNvPr>
          <p:cNvPicPr>
            <a:picLocks noChangeAspect="1"/>
          </p:cNvPicPr>
          <p:nvPr/>
        </p:nvPicPr>
        <p:blipFill>
          <a:blip r:embed="rId3"/>
          <a:stretch>
            <a:fillRect/>
          </a:stretch>
        </p:blipFill>
        <p:spPr>
          <a:xfrm>
            <a:off x="30269123" y="3102942"/>
            <a:ext cx="1965801" cy="2978286"/>
          </a:xfrm>
          <a:prstGeom prst="rect">
            <a:avLst/>
          </a:prstGeom>
        </p:spPr>
      </p:pic>
      <p:pic>
        <p:nvPicPr>
          <p:cNvPr id="8" name="Picture 7">
            <a:extLst>
              <a:ext uri="{FF2B5EF4-FFF2-40B4-BE49-F238E27FC236}">
                <a16:creationId xmlns:a16="http://schemas.microsoft.com/office/drawing/2014/main" id="{96BB0F97-6C3D-98AA-33E7-EC387306967E}"/>
              </a:ext>
            </a:extLst>
          </p:cNvPr>
          <p:cNvPicPr>
            <a:picLocks noChangeAspect="1"/>
          </p:cNvPicPr>
          <p:nvPr/>
        </p:nvPicPr>
        <p:blipFill rotWithShape="1">
          <a:blip r:embed="rId4" cstate="print">
            <a:alphaModFix/>
            <a:extLst>
              <a:ext uri="{28A0092B-C50C-407E-A947-70E740481C1C}">
                <a14:useLocalDpi xmlns:a14="http://schemas.microsoft.com/office/drawing/2010/main" val="0"/>
              </a:ext>
            </a:extLst>
          </a:blip>
          <a:srcRect l="12543" t="2183" r="14988" b="11079"/>
          <a:stretch/>
        </p:blipFill>
        <p:spPr>
          <a:xfrm>
            <a:off x="25603206" y="3166882"/>
            <a:ext cx="3519791" cy="2978285"/>
          </a:xfrm>
          <a:prstGeom prst="rect">
            <a:avLst/>
          </a:prstGeom>
        </p:spPr>
      </p:pic>
      <p:sp>
        <p:nvSpPr>
          <p:cNvPr id="9" name="Multiplication Sign 8">
            <a:extLst>
              <a:ext uri="{FF2B5EF4-FFF2-40B4-BE49-F238E27FC236}">
                <a16:creationId xmlns:a16="http://schemas.microsoft.com/office/drawing/2014/main" id="{7FF07AC4-2896-320D-D7B3-C5100CADE515}"/>
              </a:ext>
            </a:extLst>
          </p:cNvPr>
          <p:cNvSpPr/>
          <p:nvPr/>
        </p:nvSpPr>
        <p:spPr>
          <a:xfrm>
            <a:off x="29160003" y="4642595"/>
            <a:ext cx="1015203" cy="105237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6019" dirty="0">
              <a:latin typeface="Yu Gothic" panose="020B0400000000000000" pitchFamily="34" charset="-128"/>
              <a:ea typeface="Yu Gothic" panose="020B0400000000000000" pitchFamily="34" charset="-128"/>
            </a:endParaRPr>
          </a:p>
        </p:txBody>
      </p:sp>
      <p:sp>
        <p:nvSpPr>
          <p:cNvPr id="12" name="object 2">
            <a:extLst>
              <a:ext uri="{FF2B5EF4-FFF2-40B4-BE49-F238E27FC236}">
                <a16:creationId xmlns:a16="http://schemas.microsoft.com/office/drawing/2014/main" id="{10EA9D0E-B321-4B0A-7B84-99A41F7D5021}"/>
              </a:ext>
            </a:extLst>
          </p:cNvPr>
          <p:cNvSpPr txBox="1"/>
          <p:nvPr/>
        </p:nvSpPr>
        <p:spPr>
          <a:xfrm>
            <a:off x="791943" y="7337410"/>
            <a:ext cx="7419537" cy="9387185"/>
          </a:xfrm>
          <a:prstGeom prst="rect">
            <a:avLst/>
          </a:prstGeom>
        </p:spPr>
        <p:txBody>
          <a:bodyPr vert="horz" wrap="square" lIns="0" tIns="0" rIns="0" bIns="0" rtlCol="0">
            <a:spAutoFit/>
          </a:bodyPr>
          <a:lstStyle/>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	Accurate estimation of population demographic history is central to population genetics</a:t>
            </a:r>
            <a:r>
              <a:rPr lang="en-US" sz="3000" baseline="30000" dirty="0">
                <a:solidFill>
                  <a:srgbClr val="183960"/>
                </a:solidFill>
                <a:latin typeface="Yu Gothic" panose="020B0400000000000000" pitchFamily="34" charset="-128"/>
                <a:ea typeface="Yu Gothic" panose="020B0400000000000000" pitchFamily="34" charset="-128"/>
                <a:cs typeface="Arial"/>
              </a:rPr>
              <a:t>1</a:t>
            </a:r>
            <a:r>
              <a:rPr lang="en-US" sz="3000" dirty="0">
                <a:solidFill>
                  <a:srgbClr val="183960"/>
                </a:solidFill>
                <a:latin typeface="Yu Gothic" panose="020B0400000000000000" pitchFamily="34" charset="-128"/>
                <a:ea typeface="Yu Gothic" panose="020B0400000000000000" pitchFamily="34" charset="-128"/>
                <a:cs typeface="Arial"/>
              </a:rPr>
              <a:t> yet remains challenging due to the sensitivity of inference methods to sampling and model choice. The site-frequency spectrum (SFS) of synonymous variants, a widely used summary statistic of genetic variation, is particularly sensitive to demographic processes</a:t>
            </a:r>
            <a:r>
              <a:rPr lang="en-US" sz="3000" baseline="30000" dirty="0">
                <a:solidFill>
                  <a:srgbClr val="183960"/>
                </a:solidFill>
                <a:latin typeface="Yu Gothic" panose="020B0400000000000000" pitchFamily="34" charset="-128"/>
                <a:ea typeface="Yu Gothic" panose="020B0400000000000000" pitchFamily="34" charset="-128"/>
                <a:cs typeface="Arial"/>
              </a:rPr>
              <a:t>2, 3, 4</a:t>
            </a:r>
            <a:r>
              <a:rPr lang="en-US" sz="3000" dirty="0">
                <a:solidFill>
                  <a:srgbClr val="183960"/>
                </a:solidFill>
                <a:latin typeface="Yu Gothic" panose="020B0400000000000000" pitchFamily="34" charset="-128"/>
                <a:ea typeface="Yu Gothic" panose="020B0400000000000000" pitchFamily="34" charset="-128"/>
                <a:cs typeface="Arial"/>
              </a:rPr>
              <a:t>, but studies have shown that qualitative results from demographic inference can depend strongly on the number of individuals in the dataset</a:t>
            </a:r>
            <a:r>
              <a:rPr lang="en-US" sz="3000" baseline="30000" dirty="0">
                <a:solidFill>
                  <a:srgbClr val="183960"/>
                </a:solidFill>
                <a:latin typeface="Yu Gothic" panose="020B0400000000000000" pitchFamily="34" charset="-128"/>
                <a:ea typeface="Yu Gothic" panose="020B0400000000000000" pitchFamily="34" charset="-128"/>
                <a:cs typeface="Arial"/>
              </a:rPr>
              <a:t>5, 6</a:t>
            </a:r>
            <a:r>
              <a:rPr lang="en-US" sz="3000" dirty="0">
                <a:solidFill>
                  <a:srgbClr val="183960"/>
                </a:solidFill>
                <a:latin typeface="Yu Gothic" panose="020B0400000000000000" pitchFamily="34" charset="-128"/>
                <a:ea typeface="Yu Gothic" panose="020B0400000000000000" pitchFamily="34" charset="-128"/>
                <a:cs typeface="Arial"/>
              </a:rPr>
              <a:t>.</a:t>
            </a:r>
          </a:p>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	Specifically, SFS-based analysis</a:t>
            </a:r>
            <a:r>
              <a:rPr lang="en-US" sz="3000" baseline="30000" dirty="0">
                <a:solidFill>
                  <a:srgbClr val="183960"/>
                </a:solidFill>
                <a:latin typeface="Yu Gothic" panose="020B0400000000000000" pitchFamily="34" charset="-128"/>
                <a:ea typeface="Yu Gothic" panose="020B0400000000000000" pitchFamily="34" charset="-128"/>
                <a:cs typeface="Arial"/>
              </a:rPr>
              <a:t>5, 6</a:t>
            </a:r>
            <a:r>
              <a:rPr lang="en-US" sz="3000" dirty="0">
                <a:solidFill>
                  <a:srgbClr val="183960"/>
                </a:solidFill>
                <a:latin typeface="Yu Gothic" panose="020B0400000000000000" pitchFamily="34" charset="-128"/>
                <a:ea typeface="Yu Gothic" panose="020B0400000000000000" pitchFamily="34" charset="-128"/>
                <a:cs typeface="Arial"/>
              </a:rPr>
              <a:t> of empirical human data suggests that smaller datasets yield evidence of a population contraction, whereas larger datasets yield evidence of a population expansion.</a:t>
            </a:r>
            <a:endParaRPr sz="3000" dirty="0">
              <a:latin typeface="Yu Gothic" panose="020B0400000000000000" pitchFamily="34" charset="-128"/>
              <a:ea typeface="Yu Gothic" panose="020B0400000000000000" pitchFamily="34" charset="-128"/>
              <a:cs typeface="Arial"/>
            </a:endParaRPr>
          </a:p>
        </p:txBody>
      </p:sp>
      <p:sp>
        <p:nvSpPr>
          <p:cNvPr id="13" name="object 17">
            <a:extLst>
              <a:ext uri="{FF2B5EF4-FFF2-40B4-BE49-F238E27FC236}">
                <a16:creationId xmlns:a16="http://schemas.microsoft.com/office/drawing/2014/main" id="{A2547C5F-C3E8-F3A6-6810-804404AF44C4}"/>
              </a:ext>
            </a:extLst>
          </p:cNvPr>
          <p:cNvSpPr txBox="1"/>
          <p:nvPr/>
        </p:nvSpPr>
        <p:spPr>
          <a:xfrm>
            <a:off x="712587" y="6249705"/>
            <a:ext cx="7498893" cy="1032354"/>
          </a:xfrm>
          <a:prstGeom prst="roundRect">
            <a:avLst/>
          </a:prstGeom>
          <a:solidFill>
            <a:srgbClr val="2874AE"/>
          </a:solidFill>
          <a:ln>
            <a:noFill/>
          </a:ln>
        </p:spPr>
        <p:txBody>
          <a:bodyPr vert="horz" wrap="square" lIns="0" tIns="10871" rIns="0" bIns="0" rtlCol="0">
            <a:spAutoFit/>
          </a:bodyPr>
          <a:lstStyle/>
          <a:p>
            <a:pPr marL="55445">
              <a:spcBef>
                <a:spcPts val="3056"/>
              </a:spcBef>
            </a:pPr>
            <a:r>
              <a:rPr lang="en-US" sz="5992" b="1" dirty="0">
                <a:solidFill>
                  <a:schemeClr val="bg1"/>
                </a:solidFill>
                <a:latin typeface="Yu Gothic" panose="020B0400000000000000" pitchFamily="34" charset="-128"/>
                <a:ea typeface="Yu Gothic" panose="020B0400000000000000" pitchFamily="34" charset="-128"/>
                <a:cs typeface="Arial"/>
              </a:rPr>
              <a:t>Background</a:t>
            </a:r>
            <a:endParaRPr lang="en-US" sz="5992" dirty="0">
              <a:solidFill>
                <a:schemeClr val="bg1"/>
              </a:solidFill>
              <a:latin typeface="Yu Gothic" panose="020B0400000000000000" pitchFamily="34" charset="-128"/>
              <a:ea typeface="Yu Gothic" panose="020B0400000000000000" pitchFamily="34" charset="-128"/>
              <a:cs typeface="Arial"/>
            </a:endParaRPr>
          </a:p>
        </p:txBody>
      </p:sp>
      <p:sp>
        <p:nvSpPr>
          <p:cNvPr id="15" name="object 17">
            <a:extLst>
              <a:ext uri="{FF2B5EF4-FFF2-40B4-BE49-F238E27FC236}">
                <a16:creationId xmlns:a16="http://schemas.microsoft.com/office/drawing/2014/main" id="{27F2DE89-C59D-309D-AFD3-03B411E27FFA}"/>
              </a:ext>
            </a:extLst>
          </p:cNvPr>
          <p:cNvSpPr txBox="1"/>
          <p:nvPr/>
        </p:nvSpPr>
        <p:spPr>
          <a:xfrm>
            <a:off x="791943" y="33353110"/>
            <a:ext cx="7663541" cy="1032354"/>
          </a:xfrm>
          <a:prstGeom prst="roundRect">
            <a:avLst/>
          </a:prstGeom>
          <a:solidFill>
            <a:srgbClr val="2874AE"/>
          </a:solidFill>
          <a:ln>
            <a:noFill/>
          </a:ln>
        </p:spPr>
        <p:txBody>
          <a:bodyPr vert="horz" wrap="square" lIns="0" tIns="10871" rIns="0" bIns="0" rtlCol="0">
            <a:spAutoFit/>
          </a:bodyPr>
          <a:lstStyle/>
          <a:p>
            <a:pPr marL="55445">
              <a:spcBef>
                <a:spcPts val="3056"/>
              </a:spcBef>
            </a:pPr>
            <a:r>
              <a:rPr lang="en-US" sz="5992" b="1" dirty="0">
                <a:solidFill>
                  <a:schemeClr val="bg1"/>
                </a:solidFill>
                <a:latin typeface="Yu Gothic" panose="020B0400000000000000" pitchFamily="34" charset="-128"/>
                <a:ea typeface="Yu Gothic" panose="020B0400000000000000" pitchFamily="34" charset="-128"/>
                <a:cs typeface="Arial"/>
              </a:rPr>
              <a:t>Data</a:t>
            </a:r>
            <a:endParaRPr lang="en-US" sz="5992" dirty="0">
              <a:solidFill>
                <a:schemeClr val="bg1"/>
              </a:solidFill>
              <a:latin typeface="Yu Gothic" panose="020B0400000000000000" pitchFamily="34" charset="-128"/>
              <a:ea typeface="Yu Gothic" panose="020B0400000000000000" pitchFamily="34" charset="-128"/>
              <a:cs typeface="Arial"/>
            </a:endParaRPr>
          </a:p>
        </p:txBody>
      </p:sp>
      <p:sp>
        <p:nvSpPr>
          <p:cNvPr id="16" name="object 2">
            <a:extLst>
              <a:ext uri="{FF2B5EF4-FFF2-40B4-BE49-F238E27FC236}">
                <a16:creationId xmlns:a16="http://schemas.microsoft.com/office/drawing/2014/main" id="{0DA56748-6AA4-8FC5-2AA0-CFEF903BBC28}"/>
              </a:ext>
            </a:extLst>
          </p:cNvPr>
          <p:cNvSpPr txBox="1"/>
          <p:nvPr/>
        </p:nvSpPr>
        <p:spPr>
          <a:xfrm>
            <a:off x="789612" y="34099714"/>
            <a:ext cx="7464666" cy="2700221"/>
          </a:xfrm>
          <a:prstGeom prst="rect">
            <a:avLst/>
          </a:prstGeom>
        </p:spPr>
        <p:txBody>
          <a:bodyPr vert="horz" wrap="square" lIns="0" tIns="388107" rIns="0" bIns="0" rtlCol="0">
            <a:spAutoFit/>
          </a:bodyPr>
          <a:lstStyle/>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We analyzed two simulated sets of 800 diploid individuals and one set of publicly available whole-genome sequencing data consisting of 305 human individuals of European descent.</a:t>
            </a:r>
          </a:p>
        </p:txBody>
      </p:sp>
      <p:sp>
        <p:nvSpPr>
          <p:cNvPr id="17" name="object 2">
            <a:extLst>
              <a:ext uri="{FF2B5EF4-FFF2-40B4-BE49-F238E27FC236}">
                <a16:creationId xmlns:a16="http://schemas.microsoft.com/office/drawing/2014/main" id="{EDBA2D28-2ADB-0FA5-DE91-F81C99C649D7}"/>
              </a:ext>
            </a:extLst>
          </p:cNvPr>
          <p:cNvSpPr txBox="1"/>
          <p:nvPr/>
        </p:nvSpPr>
        <p:spPr>
          <a:xfrm>
            <a:off x="813517" y="41247502"/>
            <a:ext cx="7295056" cy="2308324"/>
          </a:xfrm>
          <a:prstGeom prst="rect">
            <a:avLst/>
          </a:prstGeom>
        </p:spPr>
        <p:txBody>
          <a:bodyPr vert="horz" wrap="square" lIns="0" tIns="0" rIns="0" bIns="0" rtlCol="0">
            <a:spAutoFit/>
          </a:bodyPr>
          <a:lstStyle/>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Our simulations were generated under the coalescent framework, MSPrime</a:t>
            </a:r>
            <a:r>
              <a:rPr lang="en-US" sz="3000" baseline="30000" dirty="0">
                <a:solidFill>
                  <a:srgbClr val="183960"/>
                </a:solidFill>
                <a:latin typeface="Yu Gothic" panose="020B0400000000000000" pitchFamily="34" charset="-128"/>
                <a:ea typeface="Yu Gothic" panose="020B0400000000000000" pitchFamily="34" charset="-128"/>
                <a:cs typeface="Arial"/>
              </a:rPr>
              <a:t>7</a:t>
            </a:r>
            <a:r>
              <a:rPr lang="en-US" sz="3000" dirty="0">
                <a:solidFill>
                  <a:srgbClr val="183960"/>
                </a:solidFill>
                <a:latin typeface="Yu Gothic" panose="020B0400000000000000" pitchFamily="34" charset="-128"/>
                <a:ea typeface="Yu Gothic" panose="020B0400000000000000" pitchFamily="34" charset="-128"/>
                <a:cs typeface="Arial"/>
              </a:rPr>
              <a:t>, and the forward-in-time framework, SLiM</a:t>
            </a:r>
            <a:r>
              <a:rPr lang="en-US" sz="3000" baseline="30000" dirty="0">
                <a:solidFill>
                  <a:srgbClr val="183960"/>
                </a:solidFill>
                <a:latin typeface="Yu Gothic" panose="020B0400000000000000" pitchFamily="34" charset="-128"/>
                <a:ea typeface="Yu Gothic" panose="020B0400000000000000" pitchFamily="34" charset="-128"/>
                <a:cs typeface="Arial"/>
              </a:rPr>
              <a:t>8</a:t>
            </a:r>
            <a:r>
              <a:rPr lang="en-US" sz="3000" dirty="0">
                <a:solidFill>
                  <a:srgbClr val="183960"/>
                </a:solidFill>
                <a:latin typeface="Yu Gothic" panose="020B0400000000000000" pitchFamily="34" charset="-128"/>
                <a:ea typeface="Yu Gothic" panose="020B0400000000000000" pitchFamily="34" charset="-128"/>
                <a:cs typeface="Arial"/>
              </a:rPr>
              <a:t>. Our empirical data was downloaded via 1000Genomes</a:t>
            </a:r>
            <a:r>
              <a:rPr lang="en-US" sz="3000" baseline="30000" dirty="0">
                <a:solidFill>
                  <a:srgbClr val="183960"/>
                </a:solidFill>
                <a:latin typeface="Yu Gothic" panose="020B0400000000000000" pitchFamily="34" charset="-128"/>
                <a:ea typeface="Yu Gothic" panose="020B0400000000000000" pitchFamily="34" charset="-128"/>
                <a:cs typeface="Arial"/>
              </a:rPr>
              <a:t>9</a:t>
            </a:r>
            <a:r>
              <a:rPr lang="en-US" sz="3000" dirty="0">
                <a:solidFill>
                  <a:srgbClr val="183960"/>
                </a:solidFill>
                <a:latin typeface="Yu Gothic" panose="020B0400000000000000" pitchFamily="34" charset="-128"/>
                <a:ea typeface="Yu Gothic" panose="020B0400000000000000" pitchFamily="34" charset="-128"/>
                <a:cs typeface="Arial"/>
              </a:rPr>
              <a:t>.</a:t>
            </a:r>
          </a:p>
        </p:txBody>
      </p:sp>
      <p:sp>
        <p:nvSpPr>
          <p:cNvPr id="19" name="object 2">
            <a:extLst>
              <a:ext uri="{FF2B5EF4-FFF2-40B4-BE49-F238E27FC236}">
                <a16:creationId xmlns:a16="http://schemas.microsoft.com/office/drawing/2014/main" id="{06570E6B-0AC3-AB23-8D0D-397C20A8A38B}"/>
              </a:ext>
            </a:extLst>
          </p:cNvPr>
          <p:cNvSpPr txBox="1"/>
          <p:nvPr/>
        </p:nvSpPr>
        <p:spPr>
          <a:xfrm>
            <a:off x="789613" y="22892603"/>
            <a:ext cx="7370386" cy="2492990"/>
          </a:xfrm>
          <a:prstGeom prst="rect">
            <a:avLst/>
          </a:prstGeom>
          <a:ln w="38100">
            <a:solidFill>
              <a:srgbClr val="183960"/>
            </a:solidFill>
          </a:ln>
        </p:spPr>
        <p:txBody>
          <a:bodyPr vert="horz" wrap="square" lIns="91440" tIns="91440" rIns="91440" bIns="91440" rtlCol="0">
            <a:spAutoFit/>
          </a:bodyPr>
          <a:lstStyle/>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Figure 1. Schematic describing how the distribution of coalescent events and branch lengths relates to the number of individuals analyzed and the demographic scenario.</a:t>
            </a:r>
          </a:p>
        </p:txBody>
      </p:sp>
      <p:sp>
        <p:nvSpPr>
          <p:cNvPr id="22" name="object 2">
            <a:extLst>
              <a:ext uri="{FF2B5EF4-FFF2-40B4-BE49-F238E27FC236}">
                <a16:creationId xmlns:a16="http://schemas.microsoft.com/office/drawing/2014/main" id="{EEC86197-6D47-AA1C-C082-83DC12834217}"/>
              </a:ext>
            </a:extLst>
          </p:cNvPr>
          <p:cNvSpPr txBox="1"/>
          <p:nvPr/>
        </p:nvSpPr>
        <p:spPr>
          <a:xfrm>
            <a:off x="738187" y="25444193"/>
            <a:ext cx="7370386" cy="7848302"/>
          </a:xfrm>
          <a:prstGeom prst="rect">
            <a:avLst/>
          </a:prstGeom>
        </p:spPr>
        <p:txBody>
          <a:bodyPr vert="horz" wrap="square" lIns="0" tIns="0" rIns="0" bIns="0" rtlCol="0">
            <a:spAutoFit/>
          </a:bodyPr>
          <a:lstStyle/>
          <a:p>
            <a:pPr marL="21744" marR="8698" algn="just">
              <a:spcBef>
                <a:spcPts val="1233"/>
              </a:spcBef>
            </a:pPr>
            <a:r>
              <a:rPr lang="en-US" sz="3000" b="1" dirty="0">
                <a:solidFill>
                  <a:srgbClr val="183960"/>
                </a:solidFill>
                <a:latin typeface="Yu Gothic" panose="020B0400000000000000" pitchFamily="34" charset="-128"/>
                <a:ea typeface="Yu Gothic" panose="020B0400000000000000" pitchFamily="34" charset="-128"/>
                <a:cs typeface="Arial"/>
              </a:rPr>
              <a:t>	</a:t>
            </a:r>
            <a:r>
              <a:rPr lang="en-US" sz="3000" dirty="0">
                <a:solidFill>
                  <a:srgbClr val="183960"/>
                </a:solidFill>
                <a:latin typeface="Yu Gothic" panose="020B0400000000000000" pitchFamily="34" charset="-128"/>
                <a:ea typeface="Yu Gothic" panose="020B0400000000000000" pitchFamily="34" charset="-128"/>
                <a:cs typeface="Arial"/>
              </a:rPr>
              <a:t>We hypothesize that the number of individuals analyzed in a dataset determines the distribution of coalescent tree properties across epochs of demographic history, resulting in differing evolutionary signals being captured. </a:t>
            </a:r>
            <a:r>
              <a:rPr lang="en-US" sz="3000" b="1" dirty="0">
                <a:solidFill>
                  <a:srgbClr val="183960"/>
                </a:solidFill>
                <a:latin typeface="Yu Gothic" panose="020B0400000000000000" pitchFamily="34" charset="-128"/>
                <a:ea typeface="Yu Gothic" panose="020B0400000000000000" pitchFamily="34" charset="-128"/>
                <a:cs typeface="Arial"/>
              </a:rPr>
              <a:t>Here, we assess how demographic inference, coalescent tree properties, and summary statistics of the SFS change based on the number of individuals analyzed. Our results highlight that demographic inference depends critically on the number of individuals analyzed and suggest that analyzing datasets at multiple sample sizes can reveal complementary aspects of population history.</a:t>
            </a:r>
            <a:endParaRPr sz="3000" b="1" dirty="0">
              <a:solidFill>
                <a:srgbClr val="183960"/>
              </a:solidFill>
              <a:latin typeface="Yu Gothic" panose="020B0400000000000000" pitchFamily="34" charset="-128"/>
              <a:ea typeface="Yu Gothic" panose="020B0400000000000000" pitchFamily="34" charset="-128"/>
              <a:cs typeface="Arial"/>
            </a:endParaRPr>
          </a:p>
        </p:txBody>
      </p:sp>
      <p:sp>
        <p:nvSpPr>
          <p:cNvPr id="23" name="object 17">
            <a:extLst>
              <a:ext uri="{FF2B5EF4-FFF2-40B4-BE49-F238E27FC236}">
                <a16:creationId xmlns:a16="http://schemas.microsoft.com/office/drawing/2014/main" id="{7162B851-060C-41AC-7CEB-72084421BBDB}"/>
              </a:ext>
            </a:extLst>
          </p:cNvPr>
          <p:cNvSpPr txBox="1"/>
          <p:nvPr/>
        </p:nvSpPr>
        <p:spPr>
          <a:xfrm>
            <a:off x="710611" y="6251341"/>
            <a:ext cx="7500869" cy="1032354"/>
          </a:xfrm>
          <a:prstGeom prst="roundRect">
            <a:avLst/>
          </a:prstGeom>
          <a:solidFill>
            <a:srgbClr val="2874AE"/>
          </a:solidFill>
          <a:ln>
            <a:noFill/>
          </a:ln>
        </p:spPr>
        <p:txBody>
          <a:bodyPr vert="horz" wrap="square" lIns="0" tIns="10871" rIns="0" bIns="0" rtlCol="0">
            <a:spAutoFit/>
          </a:bodyPr>
          <a:lstStyle/>
          <a:p>
            <a:pPr marL="55445">
              <a:spcBef>
                <a:spcPts val="3056"/>
              </a:spcBef>
            </a:pPr>
            <a:r>
              <a:rPr lang="en-US" sz="5992" b="1" dirty="0">
                <a:solidFill>
                  <a:schemeClr val="bg1"/>
                </a:solidFill>
                <a:latin typeface="Yu Gothic" panose="020B0400000000000000" pitchFamily="34" charset="-128"/>
                <a:ea typeface="Yu Gothic" panose="020B0400000000000000" pitchFamily="34" charset="-128"/>
                <a:cs typeface="Arial"/>
              </a:rPr>
              <a:t>Background</a:t>
            </a:r>
            <a:endParaRPr lang="en-US" sz="5992" dirty="0">
              <a:solidFill>
                <a:schemeClr val="bg1"/>
              </a:solidFill>
              <a:latin typeface="Yu Gothic" panose="020B0400000000000000" pitchFamily="34" charset="-128"/>
              <a:ea typeface="Yu Gothic" panose="020B0400000000000000" pitchFamily="34" charset="-128"/>
              <a:cs typeface="Arial"/>
            </a:endParaRPr>
          </a:p>
        </p:txBody>
      </p:sp>
      <p:sp>
        <p:nvSpPr>
          <p:cNvPr id="24" name="object 12">
            <a:extLst>
              <a:ext uri="{FF2B5EF4-FFF2-40B4-BE49-F238E27FC236}">
                <a16:creationId xmlns:a16="http://schemas.microsoft.com/office/drawing/2014/main" id="{D93D7876-5DD9-FD25-A662-449D78D5B015}"/>
              </a:ext>
            </a:extLst>
          </p:cNvPr>
          <p:cNvSpPr txBox="1"/>
          <p:nvPr/>
        </p:nvSpPr>
        <p:spPr>
          <a:xfrm>
            <a:off x="9037954" y="7631778"/>
            <a:ext cx="6668430" cy="4945283"/>
          </a:xfrm>
          <a:prstGeom prst="rect">
            <a:avLst/>
          </a:prstGeom>
        </p:spPr>
        <p:txBody>
          <a:bodyPr vert="horz" wrap="square" lIns="0" tIns="20656" rIns="0" bIns="0" rtlCol="0">
            <a:spAutoFit/>
          </a:bodyPr>
          <a:lstStyle/>
          <a:p>
            <a:pPr marL="21744" marR="8698" algn="just">
              <a:spcBef>
                <a:spcPts val="2448"/>
              </a:spcBef>
            </a:pPr>
            <a:r>
              <a:rPr sz="3200" b="1" spc="9" dirty="0">
                <a:solidFill>
                  <a:srgbClr val="183960"/>
                </a:solidFill>
                <a:latin typeface="Yu Gothic" panose="020B0400000000000000" pitchFamily="34" charset="-128"/>
                <a:ea typeface="Yu Gothic" panose="020B0400000000000000" pitchFamily="34" charset="-128"/>
                <a:cs typeface="Arial"/>
              </a:rPr>
              <a:t>1.</a:t>
            </a:r>
            <a:r>
              <a:rPr sz="3200" b="1" spc="17" dirty="0">
                <a:solidFill>
                  <a:srgbClr val="183960"/>
                </a:solidFill>
                <a:latin typeface="Yu Gothic" panose="020B0400000000000000" pitchFamily="34" charset="-128"/>
                <a:ea typeface="Yu Gothic" panose="020B0400000000000000" pitchFamily="34" charset="-128"/>
                <a:cs typeface="Arial"/>
              </a:rPr>
              <a:t> </a:t>
            </a:r>
            <a:r>
              <a:rPr lang="en-US" sz="3200" b="1" spc="17" dirty="0">
                <a:solidFill>
                  <a:srgbClr val="183960"/>
                </a:solidFill>
                <a:latin typeface="Yu Gothic" panose="020B0400000000000000" pitchFamily="34" charset="-128"/>
                <a:ea typeface="Yu Gothic" panose="020B0400000000000000" pitchFamily="34" charset="-128"/>
                <a:cs typeface="Arial"/>
              </a:rPr>
              <a:t>For each of our simulated and empirical datasets, w</a:t>
            </a:r>
            <a:r>
              <a:rPr lang="en-US" sz="3200" b="1" dirty="0">
                <a:solidFill>
                  <a:srgbClr val="183960"/>
                </a:solidFill>
                <a:latin typeface="Yu Gothic" panose="020B0400000000000000" pitchFamily="34" charset="-128"/>
                <a:ea typeface="Yu Gothic" panose="020B0400000000000000" pitchFamily="34" charset="-128"/>
                <a:cs typeface="Arial"/>
              </a:rPr>
              <a:t>e compute a site-frequency spectrum (SFS), i.e., a summary statistic of genetic variation. We analyze subsets of our datasets consisting of differing numbers of individuals, for up to 800 simulated or 300 empirical individuals.</a:t>
            </a:r>
            <a:endParaRPr sz="3200" dirty="0">
              <a:solidFill>
                <a:srgbClr val="183960"/>
              </a:solidFill>
              <a:latin typeface="Yu Gothic" panose="020B0400000000000000" pitchFamily="34" charset="-128"/>
              <a:ea typeface="Yu Gothic" panose="020B0400000000000000" pitchFamily="34" charset="-128"/>
              <a:cs typeface="Arial"/>
            </a:endParaRPr>
          </a:p>
        </p:txBody>
      </p:sp>
      <p:sp>
        <p:nvSpPr>
          <p:cNvPr id="25" name="object 18">
            <a:extLst>
              <a:ext uri="{FF2B5EF4-FFF2-40B4-BE49-F238E27FC236}">
                <a16:creationId xmlns:a16="http://schemas.microsoft.com/office/drawing/2014/main" id="{7A40E259-9EE9-E31E-DE2C-3F8C77DEDDF7}"/>
              </a:ext>
            </a:extLst>
          </p:cNvPr>
          <p:cNvSpPr txBox="1"/>
          <p:nvPr/>
        </p:nvSpPr>
        <p:spPr>
          <a:xfrm>
            <a:off x="8952862" y="42254339"/>
            <a:ext cx="14088556" cy="1502574"/>
          </a:xfrm>
          <a:prstGeom prst="rect">
            <a:avLst/>
          </a:prstGeom>
        </p:spPr>
        <p:txBody>
          <a:bodyPr vert="horz" wrap="square" lIns="0" tIns="25002" rIns="0" bIns="0" rtlCol="0">
            <a:spAutoFit/>
          </a:bodyPr>
          <a:lstStyle/>
          <a:p>
            <a:pPr marL="40226" marR="380521" indent="60883" algn="just">
              <a:spcBef>
                <a:spcPts val="1045"/>
              </a:spcBef>
            </a:pPr>
            <a:r>
              <a:rPr lang="en-US" sz="2400" b="1" spc="-9" dirty="0">
                <a:solidFill>
                  <a:srgbClr val="183960"/>
                </a:solidFill>
                <a:latin typeface="Yu Gothic" panose="020B0400000000000000" pitchFamily="34" charset="-128"/>
                <a:ea typeface="Yu Gothic" panose="020B0400000000000000" pitchFamily="34" charset="-128"/>
                <a:cs typeface="Arial"/>
              </a:rPr>
              <a:t>1. Beichman 2018, Annual Reviews. 2) </a:t>
            </a:r>
            <a:r>
              <a:rPr lang="en-US" sz="2400" b="1" spc="-9" dirty="0" err="1">
                <a:solidFill>
                  <a:srgbClr val="183960"/>
                </a:solidFill>
                <a:latin typeface="Yu Gothic" panose="020B0400000000000000" pitchFamily="34" charset="-128"/>
                <a:ea typeface="Yu Gothic" panose="020B0400000000000000" pitchFamily="34" charset="-128"/>
                <a:cs typeface="Arial"/>
              </a:rPr>
              <a:t>Wakeley</a:t>
            </a:r>
            <a:r>
              <a:rPr lang="en-US" sz="2400" b="1" spc="-9" dirty="0">
                <a:solidFill>
                  <a:srgbClr val="183960"/>
                </a:solidFill>
                <a:latin typeface="Yu Gothic" panose="020B0400000000000000" pitchFamily="34" charset="-128"/>
                <a:ea typeface="Yu Gothic" panose="020B0400000000000000" pitchFamily="34" charset="-128"/>
                <a:cs typeface="Arial"/>
              </a:rPr>
              <a:t> and Hey 1997, Genetics. 3) Nielsen 2000, Genetics. 4) Gutenkunst et al. 2009, </a:t>
            </a:r>
            <a:r>
              <a:rPr lang="en-US" sz="2400" b="1" spc="-9" dirty="0" err="1">
                <a:solidFill>
                  <a:srgbClr val="183960"/>
                </a:solidFill>
                <a:latin typeface="Yu Gothic" panose="020B0400000000000000" pitchFamily="34" charset="-128"/>
                <a:ea typeface="Yu Gothic" panose="020B0400000000000000" pitchFamily="34" charset="-128"/>
                <a:cs typeface="Arial"/>
              </a:rPr>
              <a:t>PLoS</a:t>
            </a:r>
            <a:r>
              <a:rPr lang="en-US" sz="2400" b="1" spc="-9" dirty="0">
                <a:solidFill>
                  <a:srgbClr val="183960"/>
                </a:solidFill>
                <a:latin typeface="Yu Gothic" panose="020B0400000000000000" pitchFamily="34" charset="-128"/>
                <a:ea typeface="Yu Gothic" panose="020B0400000000000000" pitchFamily="34" charset="-128"/>
                <a:cs typeface="Arial"/>
              </a:rPr>
              <a:t> Genetics. 5) </a:t>
            </a:r>
            <a:r>
              <a:rPr lang="da-DK" sz="2400" b="1" spc="-9" dirty="0">
                <a:solidFill>
                  <a:srgbClr val="183960"/>
                </a:solidFill>
                <a:latin typeface="Yu Gothic" panose="020B0400000000000000" pitchFamily="34" charset="-128"/>
                <a:ea typeface="Yu Gothic" panose="020B0400000000000000" pitchFamily="34" charset="-128"/>
                <a:cs typeface="Arial"/>
              </a:rPr>
              <a:t>Kryukov et al. 2008, PNAS. 6) Gazave et al. 2014, PNAS. 7) Baumdicker et a. 2022, Genetics. 8) Haller and Messer 2023, The American Naturalist. 9) </a:t>
            </a:r>
            <a:r>
              <a:rPr lang="en-US" sz="2400" b="1" spc="-9" dirty="0">
                <a:solidFill>
                  <a:srgbClr val="183960"/>
                </a:solidFill>
                <a:latin typeface="Yu Gothic" panose="020B0400000000000000" pitchFamily="34" charset="-128"/>
                <a:ea typeface="Yu Gothic" panose="020B0400000000000000" pitchFamily="34" charset="-128"/>
                <a:cs typeface="Arial"/>
              </a:rPr>
              <a:t>The 1000 Genomes Project Consortium 2015, Nature.</a:t>
            </a:r>
            <a:endParaRPr lang="en-US" sz="2400" dirty="0">
              <a:solidFill>
                <a:srgbClr val="183960"/>
              </a:solidFill>
              <a:latin typeface="Yu Gothic" panose="020B0400000000000000" pitchFamily="34" charset="-128"/>
              <a:ea typeface="Yu Gothic" panose="020B0400000000000000" pitchFamily="34" charset="-128"/>
              <a:cs typeface="Arial"/>
            </a:endParaRPr>
          </a:p>
        </p:txBody>
      </p:sp>
      <p:sp>
        <p:nvSpPr>
          <p:cNvPr id="26" name="object 19">
            <a:extLst>
              <a:ext uri="{FF2B5EF4-FFF2-40B4-BE49-F238E27FC236}">
                <a16:creationId xmlns:a16="http://schemas.microsoft.com/office/drawing/2014/main" id="{ADFB9EBB-EBA4-5A10-8882-66BBFA1D09C9}"/>
              </a:ext>
            </a:extLst>
          </p:cNvPr>
          <p:cNvSpPr txBox="1"/>
          <p:nvPr/>
        </p:nvSpPr>
        <p:spPr>
          <a:xfrm>
            <a:off x="26396286" y="40924841"/>
            <a:ext cx="4724400" cy="645321"/>
          </a:xfrm>
          <a:prstGeom prst="rect">
            <a:avLst/>
          </a:prstGeom>
        </p:spPr>
        <p:txBody>
          <a:bodyPr vert="horz" wrap="square" lIns="0" tIns="29353" rIns="0" bIns="0" rtlCol="0">
            <a:spAutoFit/>
          </a:bodyPr>
          <a:lstStyle/>
          <a:p>
            <a:pPr marL="21744">
              <a:spcBef>
                <a:spcPts val="231"/>
              </a:spcBef>
            </a:pPr>
            <a:r>
              <a:rPr lang="en-US" sz="4001" spc="-26" dirty="0">
                <a:solidFill>
                  <a:srgbClr val="2874AE"/>
                </a:solidFill>
                <a:latin typeface="Yu Gothic" panose="020B0400000000000000" pitchFamily="34" charset="-128"/>
                <a:ea typeface="Yu Gothic" panose="020B0400000000000000" pitchFamily="34" charset="-128"/>
                <a:cs typeface="Lucida Sans Unicode"/>
                <a:hlinkClick r:id="rId5">
                  <a:extLst>
                    <a:ext uri="{A12FA001-AC4F-418D-AE19-62706E023703}">
                      <ahyp:hlinkClr xmlns:ahyp="http://schemas.microsoft.com/office/drawing/2018/hyperlinkcolor" val="tx"/>
                    </a:ext>
                  </a:extLst>
                </a:hlinkClick>
              </a:rPr>
              <a:t>jonmah</a:t>
            </a:r>
            <a:r>
              <a:rPr sz="4001" spc="-26" dirty="0">
                <a:solidFill>
                  <a:srgbClr val="2874AE"/>
                </a:solidFill>
                <a:latin typeface="Yu Gothic" panose="020B0400000000000000" pitchFamily="34" charset="-128"/>
                <a:ea typeface="Yu Gothic" panose="020B0400000000000000" pitchFamily="34" charset="-128"/>
                <a:cs typeface="Lucida Sans Unicode"/>
                <a:hlinkClick r:id="rId5">
                  <a:extLst>
                    <a:ext uri="{A12FA001-AC4F-418D-AE19-62706E023703}">
                      <ahyp:hlinkClr xmlns:ahyp="http://schemas.microsoft.com/office/drawing/2018/hyperlinkcolor" val="tx"/>
                    </a:ext>
                  </a:extLst>
                </a:hlinkClick>
              </a:rPr>
              <a:t>@g.ucla.edu</a:t>
            </a:r>
            <a:endParaRPr sz="4001" dirty="0">
              <a:solidFill>
                <a:srgbClr val="2874AE"/>
              </a:solidFill>
              <a:latin typeface="Yu Gothic" panose="020B0400000000000000" pitchFamily="34" charset="-128"/>
              <a:ea typeface="Yu Gothic" panose="020B0400000000000000" pitchFamily="34" charset="-128"/>
              <a:cs typeface="Lucida Sans Unicode"/>
            </a:endParaRPr>
          </a:p>
        </p:txBody>
      </p:sp>
      <p:sp>
        <p:nvSpPr>
          <p:cNvPr id="27" name="object 24">
            <a:extLst>
              <a:ext uri="{FF2B5EF4-FFF2-40B4-BE49-F238E27FC236}">
                <a16:creationId xmlns:a16="http://schemas.microsoft.com/office/drawing/2014/main" id="{549A58BC-2447-8C7F-69C0-89655B3108E5}"/>
              </a:ext>
            </a:extLst>
          </p:cNvPr>
          <p:cNvSpPr txBox="1"/>
          <p:nvPr/>
        </p:nvSpPr>
        <p:spPr>
          <a:xfrm>
            <a:off x="23400716" y="42214527"/>
            <a:ext cx="8776429" cy="1498185"/>
          </a:xfrm>
          <a:prstGeom prst="rect">
            <a:avLst/>
          </a:prstGeom>
        </p:spPr>
        <p:txBody>
          <a:bodyPr vert="horz" wrap="square" lIns="0" tIns="20656" rIns="0" bIns="0" rtlCol="0">
            <a:spAutoFit/>
          </a:bodyPr>
          <a:lstStyle/>
          <a:p>
            <a:pPr marL="132541" marR="15823" algn="just">
              <a:spcBef>
                <a:spcPts val="3973"/>
              </a:spcBef>
            </a:pPr>
            <a:r>
              <a:rPr lang="en-US" sz="2400" b="1" spc="46" dirty="0">
                <a:solidFill>
                  <a:srgbClr val="183960"/>
                </a:solidFill>
                <a:latin typeface="Arial"/>
                <a:cs typeface="Arial"/>
              </a:rPr>
              <a:t>This work was supported by the Systems in Integrated Biology training grant (NIGMS T32 5T32GM008185),  the Dissertation Year Award, and through the UCLA Graduate Programs in Biosciences.</a:t>
            </a:r>
            <a:endParaRPr lang="en-US" sz="2400" dirty="0">
              <a:solidFill>
                <a:srgbClr val="183960"/>
              </a:solidFill>
              <a:latin typeface="Arial"/>
              <a:cs typeface="Arial"/>
            </a:endParaRPr>
          </a:p>
        </p:txBody>
      </p:sp>
      <p:sp>
        <p:nvSpPr>
          <p:cNvPr id="28" name="object 29">
            <a:extLst>
              <a:ext uri="{FF2B5EF4-FFF2-40B4-BE49-F238E27FC236}">
                <a16:creationId xmlns:a16="http://schemas.microsoft.com/office/drawing/2014/main" id="{FB3F244A-E42A-83DA-D23B-FCBFC6672E07}"/>
              </a:ext>
            </a:extLst>
          </p:cNvPr>
          <p:cNvSpPr txBox="1"/>
          <p:nvPr/>
        </p:nvSpPr>
        <p:spPr>
          <a:xfrm>
            <a:off x="8899875" y="16212270"/>
            <a:ext cx="11591242" cy="1990628"/>
          </a:xfrm>
          <a:prstGeom prst="rect">
            <a:avLst/>
          </a:prstGeom>
        </p:spPr>
        <p:txBody>
          <a:bodyPr vert="horz" wrap="square" lIns="0" tIns="20656" rIns="0" bIns="0" rtlCol="0">
            <a:spAutoFit/>
          </a:bodyPr>
          <a:lstStyle/>
          <a:p>
            <a:pPr marL="21744" marR="8698" algn="just">
              <a:spcBef>
                <a:spcPts val="163"/>
              </a:spcBef>
              <a:tabLst>
                <a:tab pos="692547" algn="l"/>
                <a:tab pos="15366506" algn="l"/>
              </a:tabLst>
            </a:pPr>
            <a:r>
              <a:rPr lang="en-US" sz="3200" b="1" dirty="0">
                <a:solidFill>
                  <a:srgbClr val="183960"/>
                </a:solidFill>
                <a:latin typeface="Yu Gothic" panose="020B0400000000000000" pitchFamily="34" charset="-128"/>
                <a:ea typeface="Yu Gothic" panose="020B0400000000000000" pitchFamily="34" charset="-128"/>
                <a:cs typeface="Arial"/>
              </a:rPr>
              <a:t>Demographic inference shows an ancient population contraction when analyzing simulated data consisting of few individuals, and a recent population expansion when analyzing data consisting of numerous individuals.</a:t>
            </a:r>
            <a:endParaRPr sz="3200" b="1" dirty="0">
              <a:solidFill>
                <a:srgbClr val="183960"/>
              </a:solidFill>
              <a:latin typeface="Yu Gothic" panose="020B0400000000000000" pitchFamily="34" charset="-128"/>
              <a:ea typeface="Yu Gothic" panose="020B0400000000000000" pitchFamily="34" charset="-128"/>
              <a:cs typeface="Arial"/>
            </a:endParaRPr>
          </a:p>
        </p:txBody>
      </p:sp>
      <p:sp>
        <p:nvSpPr>
          <p:cNvPr id="29" name="object 17">
            <a:extLst>
              <a:ext uri="{FF2B5EF4-FFF2-40B4-BE49-F238E27FC236}">
                <a16:creationId xmlns:a16="http://schemas.microsoft.com/office/drawing/2014/main" id="{8093C973-CF65-D9E7-8167-C73CAE7F7B7B}"/>
              </a:ext>
            </a:extLst>
          </p:cNvPr>
          <p:cNvSpPr txBox="1"/>
          <p:nvPr/>
        </p:nvSpPr>
        <p:spPr>
          <a:xfrm>
            <a:off x="8879860" y="6282847"/>
            <a:ext cx="23501491" cy="1032354"/>
          </a:xfrm>
          <a:prstGeom prst="roundRect">
            <a:avLst/>
          </a:prstGeom>
          <a:solidFill>
            <a:srgbClr val="2874AE"/>
          </a:solidFill>
          <a:ln>
            <a:noFill/>
          </a:ln>
        </p:spPr>
        <p:txBody>
          <a:bodyPr vert="horz" wrap="square" lIns="0" tIns="10871" rIns="0" bIns="0" rtlCol="0">
            <a:spAutoFit/>
          </a:bodyPr>
          <a:lstStyle/>
          <a:p>
            <a:pPr marL="55445">
              <a:spcBef>
                <a:spcPts val="3056"/>
              </a:spcBef>
            </a:pPr>
            <a:r>
              <a:rPr lang="en-US" sz="5992" b="1" dirty="0">
                <a:solidFill>
                  <a:schemeClr val="bg1"/>
                </a:solidFill>
                <a:latin typeface="Yu Gothic" panose="020B0400000000000000" pitchFamily="34" charset="-128"/>
                <a:ea typeface="Yu Gothic" panose="020B0400000000000000" pitchFamily="34" charset="-128"/>
                <a:cs typeface="Arial"/>
              </a:rPr>
              <a:t>Methods</a:t>
            </a:r>
            <a:endParaRPr lang="en-US" sz="5992" dirty="0">
              <a:solidFill>
                <a:schemeClr val="bg1"/>
              </a:solidFill>
              <a:latin typeface="Yu Gothic" panose="020B0400000000000000" pitchFamily="34" charset="-128"/>
              <a:ea typeface="Yu Gothic" panose="020B0400000000000000" pitchFamily="34" charset="-128"/>
              <a:cs typeface="Arial"/>
            </a:endParaRPr>
          </a:p>
        </p:txBody>
      </p:sp>
      <p:sp>
        <p:nvSpPr>
          <p:cNvPr id="30" name="object 17">
            <a:extLst>
              <a:ext uri="{FF2B5EF4-FFF2-40B4-BE49-F238E27FC236}">
                <a16:creationId xmlns:a16="http://schemas.microsoft.com/office/drawing/2014/main" id="{FD8FCEEF-5E32-33DB-B409-4E5ED804AA20}"/>
              </a:ext>
            </a:extLst>
          </p:cNvPr>
          <p:cNvSpPr txBox="1"/>
          <p:nvPr/>
        </p:nvSpPr>
        <p:spPr>
          <a:xfrm>
            <a:off x="8981863" y="15187862"/>
            <a:ext cx="23501490" cy="1032354"/>
          </a:xfrm>
          <a:prstGeom prst="roundRect">
            <a:avLst/>
          </a:prstGeom>
          <a:solidFill>
            <a:srgbClr val="2874AE"/>
          </a:solidFill>
          <a:ln>
            <a:noFill/>
          </a:ln>
        </p:spPr>
        <p:txBody>
          <a:bodyPr vert="horz" wrap="square" lIns="0" tIns="10871" rIns="0" bIns="0" rtlCol="0">
            <a:spAutoFit/>
          </a:bodyPr>
          <a:lstStyle/>
          <a:p>
            <a:pPr marL="55445">
              <a:spcBef>
                <a:spcPts val="3056"/>
              </a:spcBef>
            </a:pPr>
            <a:r>
              <a:rPr lang="en-US" sz="5992" b="1" dirty="0">
                <a:solidFill>
                  <a:schemeClr val="bg1"/>
                </a:solidFill>
                <a:latin typeface="Yu Gothic" panose="020B0400000000000000" pitchFamily="34" charset="-128"/>
                <a:ea typeface="Yu Gothic" panose="020B0400000000000000" pitchFamily="34" charset="-128"/>
                <a:cs typeface="Arial"/>
              </a:rPr>
              <a:t>Results</a:t>
            </a:r>
            <a:endParaRPr lang="en-US" sz="5992" dirty="0">
              <a:solidFill>
                <a:schemeClr val="bg1"/>
              </a:solidFill>
              <a:latin typeface="Yu Gothic" panose="020B0400000000000000" pitchFamily="34" charset="-128"/>
              <a:ea typeface="Yu Gothic" panose="020B0400000000000000" pitchFamily="34" charset="-128"/>
              <a:cs typeface="Arial"/>
            </a:endParaRPr>
          </a:p>
        </p:txBody>
      </p:sp>
      <p:sp>
        <p:nvSpPr>
          <p:cNvPr id="31" name="object 17">
            <a:extLst>
              <a:ext uri="{FF2B5EF4-FFF2-40B4-BE49-F238E27FC236}">
                <a16:creationId xmlns:a16="http://schemas.microsoft.com/office/drawing/2014/main" id="{53C13A64-ECFB-9F35-769E-885F73958837}"/>
              </a:ext>
            </a:extLst>
          </p:cNvPr>
          <p:cNvSpPr txBox="1"/>
          <p:nvPr/>
        </p:nvSpPr>
        <p:spPr>
          <a:xfrm>
            <a:off x="8899875" y="34907905"/>
            <a:ext cx="23500080" cy="1032354"/>
          </a:xfrm>
          <a:prstGeom prst="roundRect">
            <a:avLst/>
          </a:prstGeom>
          <a:solidFill>
            <a:srgbClr val="2874AE"/>
          </a:solidFill>
          <a:ln>
            <a:noFill/>
          </a:ln>
        </p:spPr>
        <p:txBody>
          <a:bodyPr vert="horz" wrap="square" lIns="0" tIns="10871" rIns="0" bIns="0" rtlCol="0">
            <a:spAutoFit/>
          </a:bodyPr>
          <a:lstStyle/>
          <a:p>
            <a:pPr marL="55445">
              <a:spcBef>
                <a:spcPts val="3056"/>
              </a:spcBef>
            </a:pPr>
            <a:r>
              <a:rPr lang="en-US" sz="5992" b="1" dirty="0">
                <a:solidFill>
                  <a:schemeClr val="bg1"/>
                </a:solidFill>
                <a:latin typeface="Yu Gothic" panose="020B0400000000000000" pitchFamily="34" charset="-128"/>
                <a:ea typeface="Yu Gothic" panose="020B0400000000000000" pitchFamily="34" charset="-128"/>
                <a:cs typeface="Arial"/>
              </a:rPr>
              <a:t>Conclusions</a:t>
            </a:r>
            <a:endParaRPr lang="en-US" sz="5992" dirty="0">
              <a:solidFill>
                <a:schemeClr val="bg1"/>
              </a:solidFill>
              <a:latin typeface="Yu Gothic" panose="020B0400000000000000" pitchFamily="34" charset="-128"/>
              <a:ea typeface="Yu Gothic" panose="020B0400000000000000" pitchFamily="34" charset="-128"/>
              <a:cs typeface="Arial"/>
            </a:endParaRPr>
          </a:p>
        </p:txBody>
      </p:sp>
      <p:sp>
        <p:nvSpPr>
          <p:cNvPr id="32" name="object 17">
            <a:extLst>
              <a:ext uri="{FF2B5EF4-FFF2-40B4-BE49-F238E27FC236}">
                <a16:creationId xmlns:a16="http://schemas.microsoft.com/office/drawing/2014/main" id="{DB6E2820-47D8-1832-EDEC-BA434690703C}"/>
              </a:ext>
            </a:extLst>
          </p:cNvPr>
          <p:cNvSpPr txBox="1"/>
          <p:nvPr/>
        </p:nvSpPr>
        <p:spPr>
          <a:xfrm>
            <a:off x="8952861" y="40764211"/>
            <a:ext cx="13735623" cy="1032354"/>
          </a:xfrm>
          <a:prstGeom prst="roundRect">
            <a:avLst/>
          </a:prstGeom>
          <a:solidFill>
            <a:srgbClr val="2874AE"/>
          </a:solidFill>
          <a:ln>
            <a:noFill/>
          </a:ln>
        </p:spPr>
        <p:txBody>
          <a:bodyPr vert="horz" wrap="square" lIns="0" tIns="10871" rIns="0" bIns="0" rtlCol="0">
            <a:spAutoFit/>
          </a:bodyPr>
          <a:lstStyle/>
          <a:p>
            <a:pPr marL="55445">
              <a:spcBef>
                <a:spcPts val="3056"/>
              </a:spcBef>
            </a:pPr>
            <a:r>
              <a:rPr lang="en-US" sz="5992" b="1" dirty="0">
                <a:solidFill>
                  <a:schemeClr val="bg1"/>
                </a:solidFill>
                <a:latin typeface="Yu Gothic" panose="020B0400000000000000" pitchFamily="34" charset="-128"/>
                <a:ea typeface="Yu Gothic" panose="020B0400000000000000" pitchFamily="34" charset="-128"/>
                <a:cs typeface="Arial"/>
              </a:rPr>
              <a:t>References</a:t>
            </a:r>
            <a:endParaRPr lang="en-US" sz="5992" dirty="0">
              <a:solidFill>
                <a:schemeClr val="bg1"/>
              </a:solidFill>
              <a:latin typeface="Yu Gothic" panose="020B0400000000000000" pitchFamily="34" charset="-128"/>
              <a:ea typeface="Yu Gothic" panose="020B0400000000000000" pitchFamily="34" charset="-128"/>
              <a:cs typeface="Arial"/>
            </a:endParaRPr>
          </a:p>
        </p:txBody>
      </p:sp>
      <p:sp>
        <p:nvSpPr>
          <p:cNvPr id="33" name="object 7">
            <a:extLst>
              <a:ext uri="{FF2B5EF4-FFF2-40B4-BE49-F238E27FC236}">
                <a16:creationId xmlns:a16="http://schemas.microsoft.com/office/drawing/2014/main" id="{777FDF52-4CAF-43CE-4BC5-8DB7ADF8937B}"/>
              </a:ext>
            </a:extLst>
          </p:cNvPr>
          <p:cNvSpPr>
            <a:spLocks noChangeAspect="1"/>
          </p:cNvSpPr>
          <p:nvPr/>
        </p:nvSpPr>
        <p:spPr>
          <a:xfrm>
            <a:off x="23448133" y="40521058"/>
            <a:ext cx="2503440" cy="1744134"/>
          </a:xfrm>
          <a:prstGeom prst="rect">
            <a:avLst/>
          </a:prstGeom>
          <a:blipFill>
            <a:blip r:embed="rId6" cstate="print">
              <a:duotone>
                <a:schemeClr val="accent1">
                  <a:shade val="45000"/>
                  <a:satMod val="135000"/>
                </a:schemeClr>
                <a:prstClr val="white"/>
              </a:duotone>
            </a:blip>
            <a:stretch>
              <a:fillRect/>
            </a:stretch>
          </a:blipFill>
        </p:spPr>
        <p:txBody>
          <a:bodyPr wrap="square" lIns="0" tIns="0" rIns="0" bIns="0" rtlCol="0"/>
          <a:lstStyle/>
          <a:p>
            <a:pPr defTabSz="1669994"/>
            <a:endParaRPr sz="3287" dirty="0">
              <a:solidFill>
                <a:prstClr val="black"/>
              </a:solidFill>
              <a:latin typeface="Calibri" panose="020F0502020204030204"/>
            </a:endParaRPr>
          </a:p>
        </p:txBody>
      </p:sp>
      <p:sp>
        <p:nvSpPr>
          <p:cNvPr id="35" name="object 12">
            <a:extLst>
              <a:ext uri="{FF2B5EF4-FFF2-40B4-BE49-F238E27FC236}">
                <a16:creationId xmlns:a16="http://schemas.microsoft.com/office/drawing/2014/main" id="{44851792-582D-DA26-B321-B9F746AEFD91}"/>
              </a:ext>
            </a:extLst>
          </p:cNvPr>
          <p:cNvSpPr txBox="1"/>
          <p:nvPr/>
        </p:nvSpPr>
        <p:spPr>
          <a:xfrm>
            <a:off x="15997140" y="7678662"/>
            <a:ext cx="8398717" cy="2975513"/>
          </a:xfrm>
          <a:prstGeom prst="rect">
            <a:avLst/>
          </a:prstGeom>
        </p:spPr>
        <p:txBody>
          <a:bodyPr vert="horz" wrap="square" lIns="0" tIns="20656" rIns="0" bIns="0" rtlCol="0">
            <a:spAutoFit/>
          </a:bodyPr>
          <a:lstStyle/>
          <a:p>
            <a:pPr marL="21744" marR="8698" algn="just">
              <a:spcBef>
                <a:spcPts val="2448"/>
              </a:spcBef>
            </a:pPr>
            <a:r>
              <a:rPr lang="en-US" sz="3200" b="1" spc="9" dirty="0">
                <a:solidFill>
                  <a:srgbClr val="183960"/>
                </a:solidFill>
                <a:latin typeface="Yu Gothic" panose="020B0400000000000000" pitchFamily="34" charset="-128"/>
                <a:ea typeface="Yu Gothic" panose="020B0400000000000000" pitchFamily="34" charset="-128"/>
                <a:cs typeface="Arial"/>
              </a:rPr>
              <a:t>2</a:t>
            </a:r>
            <a:r>
              <a:rPr sz="3200" b="1" spc="9" dirty="0">
                <a:solidFill>
                  <a:srgbClr val="183960"/>
                </a:solidFill>
                <a:latin typeface="Yu Gothic" panose="020B0400000000000000" pitchFamily="34" charset="-128"/>
                <a:ea typeface="Yu Gothic" panose="020B0400000000000000" pitchFamily="34" charset="-128"/>
                <a:cs typeface="Arial"/>
              </a:rPr>
              <a:t>.</a:t>
            </a:r>
            <a:r>
              <a:rPr sz="3200" b="1" spc="17" dirty="0">
                <a:solidFill>
                  <a:srgbClr val="183960"/>
                </a:solidFill>
                <a:latin typeface="Yu Gothic" panose="020B0400000000000000" pitchFamily="34" charset="-128"/>
                <a:ea typeface="Yu Gothic" panose="020B0400000000000000" pitchFamily="34" charset="-128"/>
                <a:cs typeface="Arial"/>
              </a:rPr>
              <a:t> </a:t>
            </a:r>
            <a:r>
              <a:rPr lang="en-US" sz="3200" b="1" dirty="0">
                <a:solidFill>
                  <a:srgbClr val="183960"/>
                </a:solidFill>
                <a:latin typeface="Yu Gothic" panose="020B0400000000000000" pitchFamily="34" charset="-128"/>
                <a:ea typeface="Yu Gothic" panose="020B0400000000000000" pitchFamily="34" charset="-128"/>
                <a:cs typeface="Arial"/>
              </a:rPr>
              <a:t>Given an SFS, we infer the population demographic history by fitting three different demographic models to the data and assessing which model yields the best-fit parameters describing the timing and magnitude of population size change.</a:t>
            </a:r>
            <a:endParaRPr sz="3200" dirty="0">
              <a:solidFill>
                <a:srgbClr val="183960"/>
              </a:solidFill>
              <a:latin typeface="Yu Gothic" panose="020B0400000000000000" pitchFamily="34" charset="-128"/>
              <a:ea typeface="Yu Gothic" panose="020B0400000000000000" pitchFamily="34" charset="-128"/>
              <a:cs typeface="Arial"/>
            </a:endParaRPr>
          </a:p>
        </p:txBody>
      </p:sp>
      <p:sp>
        <p:nvSpPr>
          <p:cNvPr id="39" name="object 25">
            <a:extLst>
              <a:ext uri="{FF2B5EF4-FFF2-40B4-BE49-F238E27FC236}">
                <a16:creationId xmlns:a16="http://schemas.microsoft.com/office/drawing/2014/main" id="{8D0EEF04-FCDC-A0D7-CF7F-F25DD7A68757}"/>
              </a:ext>
            </a:extLst>
          </p:cNvPr>
          <p:cNvSpPr txBox="1"/>
          <p:nvPr/>
        </p:nvSpPr>
        <p:spPr>
          <a:xfrm>
            <a:off x="9037952" y="36058293"/>
            <a:ext cx="23337128" cy="5129609"/>
          </a:xfrm>
          <a:prstGeom prst="rect">
            <a:avLst/>
          </a:prstGeom>
        </p:spPr>
        <p:txBody>
          <a:bodyPr vert="horz" wrap="square" lIns="0" tIns="0" rIns="0" bIns="0" rtlCol="0">
            <a:spAutoFit/>
          </a:bodyPr>
          <a:lstStyle/>
          <a:p>
            <a:pPr marL="21744" algn="just">
              <a:spcBef>
                <a:spcPts val="488"/>
              </a:spcBef>
            </a:pPr>
            <a:r>
              <a:rPr lang="en-US" sz="3000" b="1" spc="9" dirty="0">
                <a:solidFill>
                  <a:srgbClr val="183960"/>
                </a:solidFill>
                <a:latin typeface="Yu Gothic" panose="020B0400000000000000" pitchFamily="34" charset="-128"/>
                <a:ea typeface="Yu Gothic" panose="020B0400000000000000" pitchFamily="34" charset="-128"/>
                <a:cs typeface="Arial"/>
              </a:rPr>
              <a:t>Conclusions</a:t>
            </a:r>
            <a:r>
              <a:rPr sz="3000" b="1" spc="-17" dirty="0">
                <a:solidFill>
                  <a:srgbClr val="183960"/>
                </a:solidFill>
                <a:latin typeface="Yu Gothic" panose="020B0400000000000000" pitchFamily="34" charset="-128"/>
                <a:ea typeface="Yu Gothic" panose="020B0400000000000000" pitchFamily="34" charset="-128"/>
                <a:cs typeface="Arial"/>
              </a:rPr>
              <a:t>:</a:t>
            </a:r>
            <a:endParaRPr sz="3000" dirty="0">
              <a:solidFill>
                <a:srgbClr val="183960"/>
              </a:solidFill>
              <a:latin typeface="Yu Gothic" panose="020B0400000000000000" pitchFamily="34" charset="-128"/>
              <a:ea typeface="Yu Gothic" panose="020B0400000000000000" pitchFamily="34" charset="-128"/>
              <a:cs typeface="Arial"/>
            </a:endParaRPr>
          </a:p>
          <a:p>
            <a:pPr marL="279410" marR="2148310" indent="-279410" algn="just">
              <a:spcBef>
                <a:spcPts val="77"/>
              </a:spcBef>
              <a:buChar char="•"/>
              <a:tabLst>
                <a:tab pos="279410" algn="l"/>
              </a:tabLst>
            </a:pPr>
            <a:r>
              <a:rPr lang="en-US" sz="3000" dirty="0">
                <a:solidFill>
                  <a:srgbClr val="183960"/>
                </a:solidFill>
                <a:latin typeface="Yu Gothic" panose="020B0400000000000000" pitchFamily="34" charset="-128"/>
                <a:ea typeface="Yu Gothic" panose="020B0400000000000000" pitchFamily="34" charset="-128"/>
                <a:cs typeface="Arial"/>
              </a:rPr>
              <a:t>In both simulated and empirical data, when evaluating data consisting of few individuals, we infer an ancient population contraction. Conversely, when evaluating data consisting of numerous individuals, we infer a recent population expansion.</a:t>
            </a:r>
          </a:p>
          <a:p>
            <a:pPr marL="279410" marR="2148310" indent="-279410" algn="just">
              <a:spcBef>
                <a:spcPts val="77"/>
              </a:spcBef>
              <a:buChar char="•"/>
              <a:tabLst>
                <a:tab pos="279410" algn="l"/>
              </a:tabLst>
            </a:pPr>
            <a:r>
              <a:rPr lang="en-US" sz="3000" dirty="0">
                <a:solidFill>
                  <a:srgbClr val="183960"/>
                </a:solidFill>
                <a:latin typeface="Yu Gothic" panose="020B0400000000000000" pitchFamily="34" charset="-128"/>
                <a:ea typeface="Yu Gothic" panose="020B0400000000000000" pitchFamily="34" charset="-128"/>
                <a:cs typeface="Arial"/>
              </a:rPr>
              <a:t>Coalescent summary statistics reveal that when the highest mean proportion of branch lengths falls in the ancient epoch, we infer a contraction. Conversely, when the highest mean proportion of branch lengths falls in the recent epoch, we instead infer an expansion.</a:t>
            </a:r>
          </a:p>
          <a:p>
            <a:pPr marL="279410" marR="2148310" indent="-279410" algn="just">
              <a:spcBef>
                <a:spcPts val="77"/>
              </a:spcBef>
              <a:buChar char="•"/>
              <a:tabLst>
                <a:tab pos="279410" algn="l"/>
              </a:tabLst>
            </a:pPr>
            <a:r>
              <a:rPr lang="en-US" sz="3000" dirty="0">
                <a:solidFill>
                  <a:srgbClr val="183960"/>
                </a:solidFill>
                <a:latin typeface="Yu Gothic" panose="020B0400000000000000" pitchFamily="34" charset="-128"/>
                <a:ea typeface="Yu Gothic" panose="020B0400000000000000" pitchFamily="34" charset="-128"/>
                <a:cs typeface="Arial"/>
              </a:rPr>
              <a:t>Summary statistics of the SFS also suggest that, relative to a standard neutral model, smaller sample size SFSs more closely resemble population size change contractions and larger sample size SFSs resemble population expansions (e.g., higher proportion of rare variants or singletons).</a:t>
            </a:r>
          </a:p>
          <a:p>
            <a:pPr marL="279410" marR="2148310" indent="-279410" algn="just">
              <a:spcBef>
                <a:spcPts val="77"/>
              </a:spcBef>
              <a:buChar char="•"/>
              <a:tabLst>
                <a:tab pos="279410" algn="l"/>
              </a:tabLst>
            </a:pPr>
            <a:endParaRPr sz="3000" dirty="0">
              <a:solidFill>
                <a:srgbClr val="183960"/>
              </a:solidFill>
              <a:latin typeface="Yu Gothic" panose="020B0400000000000000" pitchFamily="34" charset="-128"/>
              <a:ea typeface="Yu Gothic" panose="020B0400000000000000" pitchFamily="34" charset="-128"/>
              <a:cs typeface="Arial"/>
            </a:endParaRPr>
          </a:p>
        </p:txBody>
      </p:sp>
      <p:sp>
        <p:nvSpPr>
          <p:cNvPr id="47" name="object 29">
            <a:extLst>
              <a:ext uri="{FF2B5EF4-FFF2-40B4-BE49-F238E27FC236}">
                <a16:creationId xmlns:a16="http://schemas.microsoft.com/office/drawing/2014/main" id="{F7E38E46-9B8C-BBA5-4E57-5BC90AA1BC3B}"/>
              </a:ext>
            </a:extLst>
          </p:cNvPr>
          <p:cNvSpPr txBox="1"/>
          <p:nvPr/>
        </p:nvSpPr>
        <p:spPr>
          <a:xfrm>
            <a:off x="20940130" y="16176278"/>
            <a:ext cx="11459825" cy="1990628"/>
          </a:xfrm>
          <a:prstGeom prst="rect">
            <a:avLst/>
          </a:prstGeom>
        </p:spPr>
        <p:txBody>
          <a:bodyPr vert="horz" wrap="square" lIns="0" tIns="20656" rIns="0" bIns="0" rtlCol="0">
            <a:spAutoFit/>
          </a:bodyPr>
          <a:lstStyle/>
          <a:p>
            <a:pPr marL="21744" marR="8698" algn="just">
              <a:spcBef>
                <a:spcPts val="163"/>
              </a:spcBef>
              <a:tabLst>
                <a:tab pos="692547" algn="l"/>
                <a:tab pos="15366506" algn="l"/>
              </a:tabLst>
            </a:pPr>
            <a:r>
              <a:rPr lang="en-US" sz="3200" b="1" spc="9" dirty="0">
                <a:solidFill>
                  <a:srgbClr val="183960"/>
                </a:solidFill>
                <a:latin typeface="Yu Gothic" panose="020B0400000000000000" pitchFamily="34" charset="-128"/>
                <a:ea typeface="Yu Gothic" panose="020B0400000000000000" pitchFamily="34" charset="-128"/>
                <a:cs typeface="Arial"/>
              </a:rPr>
              <a:t>Similarly to our analysis of simulated data, when analyzing empirical data, we inferred an ancient contraction at small sample sizes (n=10) and a recent expansion at larger sample sizes (n&gt;=20).</a:t>
            </a:r>
            <a:endParaRPr sz="3200" dirty="0">
              <a:solidFill>
                <a:srgbClr val="183960"/>
              </a:solidFill>
              <a:latin typeface="Yu Gothic" panose="020B0400000000000000" pitchFamily="34" charset="-128"/>
              <a:ea typeface="Yu Gothic" panose="020B0400000000000000" pitchFamily="34" charset="-128"/>
              <a:cs typeface="Arial"/>
            </a:endParaRPr>
          </a:p>
        </p:txBody>
      </p:sp>
      <p:sp>
        <p:nvSpPr>
          <p:cNvPr id="53" name="object 2">
            <a:extLst>
              <a:ext uri="{FF2B5EF4-FFF2-40B4-BE49-F238E27FC236}">
                <a16:creationId xmlns:a16="http://schemas.microsoft.com/office/drawing/2014/main" id="{CA299CC8-66D9-1B5B-9452-76F16DDA8579}"/>
              </a:ext>
            </a:extLst>
          </p:cNvPr>
          <p:cNvSpPr txBox="1"/>
          <p:nvPr/>
        </p:nvSpPr>
        <p:spPr>
          <a:xfrm>
            <a:off x="9018319" y="26052944"/>
            <a:ext cx="11431595" cy="2954655"/>
          </a:xfrm>
          <a:prstGeom prst="rect">
            <a:avLst/>
          </a:prstGeom>
          <a:ln w="38100">
            <a:solidFill>
              <a:srgbClr val="183960"/>
            </a:solidFill>
          </a:ln>
        </p:spPr>
        <p:txBody>
          <a:bodyPr vert="horz" wrap="square" lIns="91440" tIns="91440" rIns="91440" bIns="91440" rtlCol="0">
            <a:spAutoFit/>
          </a:bodyPr>
          <a:lstStyle/>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Figure 2. Inferred demographic parameters and SFS summary statistics for </a:t>
            </a:r>
            <a:r>
              <a:rPr lang="en-US" sz="3000" b="1" dirty="0">
                <a:solidFill>
                  <a:srgbClr val="183960"/>
                </a:solidFill>
                <a:latin typeface="Yu Gothic" panose="020B0400000000000000" pitchFamily="34" charset="-128"/>
                <a:ea typeface="Yu Gothic" panose="020B0400000000000000" pitchFamily="34" charset="-128"/>
                <a:cs typeface="Arial"/>
              </a:rPr>
              <a:t>simulated data</a:t>
            </a:r>
            <a:r>
              <a:rPr lang="en-US" sz="3000" dirty="0">
                <a:solidFill>
                  <a:srgbClr val="183960"/>
                </a:solidFill>
                <a:latin typeface="Yu Gothic" panose="020B0400000000000000" pitchFamily="34" charset="-128"/>
                <a:ea typeface="Yu Gothic" panose="020B0400000000000000" pitchFamily="34" charset="-128"/>
                <a:cs typeface="Arial"/>
              </a:rPr>
              <a:t>. The x-axis indicates the number of individuals analyzed. The y-axis indicates the </a:t>
            </a:r>
            <a:r>
              <a:rPr lang="en-US" sz="3000" b="1" dirty="0">
                <a:solidFill>
                  <a:srgbClr val="183960"/>
                </a:solidFill>
                <a:latin typeface="Yu Gothic" panose="020B0400000000000000" pitchFamily="34" charset="-128"/>
                <a:ea typeface="Yu Gothic" panose="020B0400000000000000" pitchFamily="34" charset="-128"/>
                <a:cs typeface="Arial"/>
              </a:rPr>
              <a:t>A</a:t>
            </a:r>
            <a:r>
              <a:rPr lang="en-US" sz="3000" dirty="0">
                <a:solidFill>
                  <a:srgbClr val="183960"/>
                </a:solidFill>
                <a:latin typeface="Yu Gothic" panose="020B0400000000000000" pitchFamily="34" charset="-128"/>
                <a:ea typeface="Yu Gothic" panose="020B0400000000000000" pitchFamily="34" charset="-128"/>
                <a:cs typeface="Arial"/>
              </a:rPr>
              <a:t>) size-change parameter, </a:t>
            </a:r>
            <a:r>
              <a:rPr lang="en-US" sz="3000" b="1" dirty="0">
                <a:solidFill>
                  <a:srgbClr val="183960"/>
                </a:solidFill>
                <a:latin typeface="Yu Gothic" panose="020B0400000000000000" pitchFamily="34" charset="-128"/>
                <a:ea typeface="Yu Gothic" panose="020B0400000000000000" pitchFamily="34" charset="-128"/>
                <a:cs typeface="Arial"/>
              </a:rPr>
              <a:t>B</a:t>
            </a:r>
            <a:r>
              <a:rPr lang="en-US" sz="3000" dirty="0">
                <a:solidFill>
                  <a:srgbClr val="183960"/>
                </a:solidFill>
                <a:latin typeface="Yu Gothic" panose="020B0400000000000000" pitchFamily="34" charset="-128"/>
                <a:ea typeface="Yu Gothic" panose="020B0400000000000000" pitchFamily="34" charset="-128"/>
                <a:cs typeface="Arial"/>
              </a:rPr>
              <a:t>) timing of inferred size change, </a:t>
            </a:r>
            <a:r>
              <a:rPr lang="en-US" sz="3000" b="1" dirty="0">
                <a:solidFill>
                  <a:srgbClr val="183960"/>
                </a:solidFill>
                <a:latin typeface="Yu Gothic" panose="020B0400000000000000" pitchFamily="34" charset="-128"/>
                <a:ea typeface="Yu Gothic" panose="020B0400000000000000" pitchFamily="34" charset="-128"/>
                <a:cs typeface="Arial"/>
              </a:rPr>
              <a:t>C</a:t>
            </a:r>
            <a:r>
              <a:rPr lang="en-US" sz="3000" dirty="0">
                <a:solidFill>
                  <a:srgbClr val="183960"/>
                </a:solidFill>
                <a:latin typeface="Yu Gothic" panose="020B0400000000000000" pitchFamily="34" charset="-128"/>
                <a:ea typeface="Yu Gothic" panose="020B0400000000000000" pitchFamily="34" charset="-128"/>
                <a:cs typeface="Arial"/>
              </a:rPr>
              <a:t>) Tajima’s D of the simulated SFS, </a:t>
            </a:r>
            <a:r>
              <a:rPr lang="en-US" sz="3000" b="1" dirty="0">
                <a:solidFill>
                  <a:srgbClr val="183960"/>
                </a:solidFill>
                <a:latin typeface="Yu Gothic" panose="020B0400000000000000" pitchFamily="34" charset="-128"/>
                <a:ea typeface="Yu Gothic" panose="020B0400000000000000" pitchFamily="34" charset="-128"/>
                <a:cs typeface="Arial"/>
              </a:rPr>
              <a:t>D</a:t>
            </a:r>
            <a:r>
              <a:rPr lang="en-US" sz="3000" dirty="0">
                <a:solidFill>
                  <a:srgbClr val="183960"/>
                </a:solidFill>
                <a:latin typeface="Yu Gothic" panose="020B0400000000000000" pitchFamily="34" charset="-128"/>
                <a:ea typeface="Yu Gothic" panose="020B0400000000000000" pitchFamily="34" charset="-128"/>
                <a:cs typeface="Arial"/>
              </a:rPr>
              <a:t>) model comparison statistic 2</a:t>
            </a:r>
            <a:r>
              <a:rPr lang="el-GR" sz="3000" dirty="0">
                <a:solidFill>
                  <a:srgbClr val="183960"/>
                </a:solidFill>
                <a:latin typeface="Yu Gothic" panose="020B0400000000000000" pitchFamily="34" charset="-128"/>
                <a:ea typeface="Yu Gothic" panose="020B0400000000000000" pitchFamily="34" charset="-128"/>
                <a:cs typeface="Arial"/>
              </a:rPr>
              <a:t>Λ</a:t>
            </a:r>
            <a:r>
              <a:rPr lang="en-US" sz="3000" dirty="0">
                <a:solidFill>
                  <a:srgbClr val="183960"/>
                </a:solidFill>
                <a:latin typeface="Yu Gothic" panose="020B0400000000000000" pitchFamily="34" charset="-128"/>
                <a:ea typeface="Yu Gothic" panose="020B0400000000000000" pitchFamily="34" charset="-128"/>
                <a:cs typeface="Arial"/>
              </a:rPr>
              <a:t>, and </a:t>
            </a:r>
            <a:r>
              <a:rPr lang="en-US" sz="3000" b="1" dirty="0">
                <a:solidFill>
                  <a:srgbClr val="183960"/>
                </a:solidFill>
                <a:latin typeface="Yu Gothic" panose="020B0400000000000000" pitchFamily="34" charset="-128"/>
                <a:ea typeface="Yu Gothic" panose="020B0400000000000000" pitchFamily="34" charset="-128"/>
                <a:cs typeface="Arial"/>
              </a:rPr>
              <a:t>E-F</a:t>
            </a:r>
            <a:r>
              <a:rPr lang="en-US" sz="3000" dirty="0">
                <a:solidFill>
                  <a:srgbClr val="183960"/>
                </a:solidFill>
                <a:latin typeface="Yu Gothic" panose="020B0400000000000000" pitchFamily="34" charset="-128"/>
                <a:ea typeface="Yu Gothic" panose="020B0400000000000000" pitchFamily="34" charset="-128"/>
                <a:cs typeface="Arial"/>
              </a:rPr>
              <a:t>) the size change between epochs in a three-epoch model.</a:t>
            </a:r>
          </a:p>
        </p:txBody>
      </p:sp>
      <p:sp>
        <p:nvSpPr>
          <p:cNvPr id="62" name="object 12">
            <a:extLst>
              <a:ext uri="{FF2B5EF4-FFF2-40B4-BE49-F238E27FC236}">
                <a16:creationId xmlns:a16="http://schemas.microsoft.com/office/drawing/2014/main" id="{2E7C908B-992F-A135-1712-5BE04B2DADA1}"/>
              </a:ext>
            </a:extLst>
          </p:cNvPr>
          <p:cNvSpPr txBox="1"/>
          <p:nvPr/>
        </p:nvSpPr>
        <p:spPr>
          <a:xfrm>
            <a:off x="24860828" y="7675325"/>
            <a:ext cx="7585980" cy="3960398"/>
          </a:xfrm>
          <a:prstGeom prst="rect">
            <a:avLst/>
          </a:prstGeom>
        </p:spPr>
        <p:txBody>
          <a:bodyPr vert="horz" wrap="square" lIns="0" tIns="20656" rIns="0" bIns="0" rtlCol="0">
            <a:spAutoFit/>
          </a:bodyPr>
          <a:lstStyle/>
          <a:p>
            <a:pPr marL="21744" marR="8698" algn="just">
              <a:spcBef>
                <a:spcPts val="2448"/>
              </a:spcBef>
            </a:pPr>
            <a:r>
              <a:rPr lang="en-US" sz="3200" b="1" spc="9" dirty="0">
                <a:solidFill>
                  <a:srgbClr val="183960"/>
                </a:solidFill>
                <a:latin typeface="Yu Gothic" panose="020B0400000000000000" pitchFamily="34" charset="-128"/>
                <a:ea typeface="Yu Gothic" panose="020B0400000000000000" pitchFamily="34" charset="-128"/>
                <a:cs typeface="Arial"/>
              </a:rPr>
              <a:t>3</a:t>
            </a:r>
            <a:r>
              <a:rPr sz="3200" b="1" spc="9" dirty="0">
                <a:solidFill>
                  <a:srgbClr val="183960"/>
                </a:solidFill>
                <a:latin typeface="Yu Gothic" panose="020B0400000000000000" pitchFamily="34" charset="-128"/>
                <a:ea typeface="Yu Gothic" panose="020B0400000000000000" pitchFamily="34" charset="-128"/>
                <a:cs typeface="Arial"/>
              </a:rPr>
              <a:t>.</a:t>
            </a:r>
            <a:r>
              <a:rPr sz="3200" b="1" spc="17" dirty="0">
                <a:solidFill>
                  <a:srgbClr val="183960"/>
                </a:solidFill>
                <a:latin typeface="Yu Gothic" panose="020B0400000000000000" pitchFamily="34" charset="-128"/>
                <a:ea typeface="Yu Gothic" panose="020B0400000000000000" pitchFamily="34" charset="-128"/>
                <a:cs typeface="Arial"/>
              </a:rPr>
              <a:t> </a:t>
            </a:r>
            <a:r>
              <a:rPr lang="en-US" sz="3200" b="1" dirty="0">
                <a:solidFill>
                  <a:srgbClr val="183960"/>
                </a:solidFill>
                <a:latin typeface="Yu Gothic" panose="020B0400000000000000" pitchFamily="34" charset="-128"/>
                <a:ea typeface="Yu Gothic" panose="020B0400000000000000" pitchFamily="34" charset="-128"/>
                <a:cs typeface="Arial"/>
              </a:rPr>
              <a:t>Lastly, we compare how demographic model inference and summary statistics of the SFS change depending on the number of individuals analyzed. We are especially interested in how two-epoch model inferences potentially capture differing evolutionary signals.</a:t>
            </a:r>
            <a:endParaRPr sz="3200" dirty="0">
              <a:solidFill>
                <a:srgbClr val="183960"/>
              </a:solidFill>
              <a:latin typeface="Yu Gothic" panose="020B0400000000000000" pitchFamily="34" charset="-128"/>
              <a:ea typeface="Yu Gothic" panose="020B0400000000000000" pitchFamily="34" charset="-128"/>
              <a:cs typeface="Arial"/>
            </a:endParaRPr>
          </a:p>
        </p:txBody>
      </p:sp>
      <p:sp>
        <p:nvSpPr>
          <p:cNvPr id="43" name="object 2">
            <a:extLst>
              <a:ext uri="{FF2B5EF4-FFF2-40B4-BE49-F238E27FC236}">
                <a16:creationId xmlns:a16="http://schemas.microsoft.com/office/drawing/2014/main" id="{55E47013-F760-E79E-C158-D6B6F0BF1D4F}"/>
              </a:ext>
            </a:extLst>
          </p:cNvPr>
          <p:cNvSpPr txBox="1"/>
          <p:nvPr/>
        </p:nvSpPr>
        <p:spPr>
          <a:xfrm>
            <a:off x="15764115" y="29242607"/>
            <a:ext cx="4662043" cy="5262979"/>
          </a:xfrm>
          <a:prstGeom prst="rect">
            <a:avLst/>
          </a:prstGeom>
          <a:ln w="38100">
            <a:solidFill>
              <a:srgbClr val="183960"/>
            </a:solidFill>
          </a:ln>
        </p:spPr>
        <p:txBody>
          <a:bodyPr vert="horz" wrap="square" lIns="91440" tIns="91440" rIns="91440" bIns="91440" rtlCol="0">
            <a:spAutoFit/>
          </a:bodyPr>
          <a:lstStyle/>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Figure 4. Coalescent summary statistics from SFSs simulated using </a:t>
            </a:r>
            <a:r>
              <a:rPr lang="en-US" sz="3000" dirty="0" err="1">
                <a:solidFill>
                  <a:srgbClr val="183960"/>
                </a:solidFill>
                <a:latin typeface="Yu Gothic" panose="020B0400000000000000" pitchFamily="34" charset="-128"/>
                <a:ea typeface="Yu Gothic" panose="020B0400000000000000" pitchFamily="34" charset="-128"/>
                <a:cs typeface="Arial"/>
              </a:rPr>
              <a:t>MSPrime</a:t>
            </a:r>
            <a:r>
              <a:rPr lang="en-US" sz="3000" dirty="0">
                <a:solidFill>
                  <a:srgbClr val="183960"/>
                </a:solidFill>
                <a:latin typeface="Yu Gothic" panose="020B0400000000000000" pitchFamily="34" charset="-128"/>
                <a:ea typeface="Yu Gothic" panose="020B0400000000000000" pitchFamily="34" charset="-128"/>
                <a:cs typeface="Arial"/>
              </a:rPr>
              <a:t>. The x-axis indicates the number of individuals, while the y-axis indicates the </a:t>
            </a:r>
            <a:r>
              <a:rPr lang="en-US" sz="3000" b="1" dirty="0">
                <a:solidFill>
                  <a:srgbClr val="183960"/>
                </a:solidFill>
                <a:latin typeface="Yu Gothic" panose="020B0400000000000000" pitchFamily="34" charset="-128"/>
                <a:ea typeface="Yu Gothic" panose="020B0400000000000000" pitchFamily="34" charset="-128"/>
                <a:cs typeface="Arial"/>
              </a:rPr>
              <a:t>A</a:t>
            </a:r>
            <a:r>
              <a:rPr lang="en-US" sz="3000" dirty="0">
                <a:solidFill>
                  <a:srgbClr val="183960"/>
                </a:solidFill>
                <a:latin typeface="Yu Gothic" panose="020B0400000000000000" pitchFamily="34" charset="-128"/>
                <a:ea typeface="Yu Gothic" panose="020B0400000000000000" pitchFamily="34" charset="-128"/>
                <a:cs typeface="Arial"/>
              </a:rPr>
              <a:t>) proportion of coalescent events per epoch, and </a:t>
            </a:r>
            <a:r>
              <a:rPr lang="en-US" sz="3000" b="1" dirty="0">
                <a:solidFill>
                  <a:srgbClr val="183960"/>
                </a:solidFill>
                <a:latin typeface="Yu Gothic" panose="020B0400000000000000" pitchFamily="34" charset="-128"/>
                <a:ea typeface="Yu Gothic" panose="020B0400000000000000" pitchFamily="34" charset="-128"/>
                <a:cs typeface="Arial"/>
              </a:rPr>
              <a:t>B</a:t>
            </a:r>
            <a:r>
              <a:rPr lang="en-US" sz="3000" dirty="0">
                <a:solidFill>
                  <a:srgbClr val="183960"/>
                </a:solidFill>
                <a:latin typeface="Yu Gothic" panose="020B0400000000000000" pitchFamily="34" charset="-128"/>
                <a:ea typeface="Yu Gothic" panose="020B0400000000000000" pitchFamily="34" charset="-128"/>
                <a:cs typeface="Arial"/>
              </a:rPr>
              <a:t>) proportion of branch lengths per epoch.</a:t>
            </a:r>
          </a:p>
        </p:txBody>
      </p:sp>
      <p:sp>
        <p:nvSpPr>
          <p:cNvPr id="10" name="Rectangle 9">
            <a:extLst>
              <a:ext uri="{FF2B5EF4-FFF2-40B4-BE49-F238E27FC236}">
                <a16:creationId xmlns:a16="http://schemas.microsoft.com/office/drawing/2014/main" id="{BFB43D6B-84EA-5468-9879-7C2C2ACA1A6F}"/>
              </a:ext>
            </a:extLst>
          </p:cNvPr>
          <p:cNvSpPr/>
          <p:nvPr/>
        </p:nvSpPr>
        <p:spPr>
          <a:xfrm>
            <a:off x="25544212" y="3102942"/>
            <a:ext cx="3646110" cy="3057356"/>
          </a:xfrm>
          <a:prstGeom prst="rect">
            <a:avLst/>
          </a:prstGeom>
          <a:noFill/>
          <a:ln w="76200">
            <a:solidFill>
              <a:srgbClr val="1839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55AEE9AE-3204-93CD-E962-EC090CFA1229}"/>
              </a:ext>
            </a:extLst>
          </p:cNvPr>
          <p:cNvPicPr>
            <a:picLocks noChangeAspect="1"/>
          </p:cNvPicPr>
          <p:nvPr/>
        </p:nvPicPr>
        <p:blipFill>
          <a:blip r:embed="rId7"/>
          <a:stretch>
            <a:fillRect/>
          </a:stretch>
        </p:blipFill>
        <p:spPr>
          <a:xfrm>
            <a:off x="1365185" y="17134260"/>
            <a:ext cx="6220693" cy="5620534"/>
          </a:xfrm>
          <a:prstGeom prst="rect">
            <a:avLst/>
          </a:prstGeom>
          <a:ln w="38100">
            <a:solidFill>
              <a:srgbClr val="183960"/>
            </a:solidFill>
          </a:ln>
        </p:spPr>
      </p:pic>
      <p:pic>
        <p:nvPicPr>
          <p:cNvPr id="65" name="Picture 64">
            <a:extLst>
              <a:ext uri="{FF2B5EF4-FFF2-40B4-BE49-F238E27FC236}">
                <a16:creationId xmlns:a16="http://schemas.microsoft.com/office/drawing/2014/main" id="{99A486B4-9754-6762-EEC6-67EF8DD14235}"/>
              </a:ext>
            </a:extLst>
          </p:cNvPr>
          <p:cNvPicPr>
            <a:picLocks noChangeAspect="1"/>
          </p:cNvPicPr>
          <p:nvPr/>
        </p:nvPicPr>
        <p:blipFill>
          <a:blip r:embed="rId8"/>
          <a:stretch>
            <a:fillRect/>
          </a:stretch>
        </p:blipFill>
        <p:spPr>
          <a:xfrm>
            <a:off x="855365" y="37066691"/>
            <a:ext cx="3768348" cy="1806814"/>
          </a:xfrm>
          <a:prstGeom prst="rect">
            <a:avLst/>
          </a:prstGeom>
        </p:spPr>
      </p:pic>
      <p:pic>
        <p:nvPicPr>
          <p:cNvPr id="66" name="Picture 2" descr="Messer Lab – SLiM | Messer Lab">
            <a:extLst>
              <a:ext uri="{FF2B5EF4-FFF2-40B4-BE49-F238E27FC236}">
                <a16:creationId xmlns:a16="http://schemas.microsoft.com/office/drawing/2014/main" id="{D55EED1A-FACD-B75B-C22E-BADBD48BCF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94236" y="36896401"/>
            <a:ext cx="2032918" cy="2032918"/>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1000 genomes project - Uppsala Multidisciplinary Center for Advanced  Computational Science - Uppsala University, Sweden">
            <a:extLst>
              <a:ext uri="{FF2B5EF4-FFF2-40B4-BE49-F238E27FC236}">
                <a16:creationId xmlns:a16="http://schemas.microsoft.com/office/drawing/2014/main" id="{1877BB42-2169-E266-FE72-1A830EE98EC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7617" y="39316259"/>
            <a:ext cx="6574118" cy="167640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8">
            <a:extLst>
              <a:ext uri="{FF2B5EF4-FFF2-40B4-BE49-F238E27FC236}">
                <a16:creationId xmlns:a16="http://schemas.microsoft.com/office/drawing/2014/main" id="{20FC729B-409D-640D-8EBA-575B98246656}"/>
              </a:ext>
            </a:extLst>
          </p:cNvPr>
          <p:cNvPicPr>
            <a:picLocks noChangeAspect="1"/>
          </p:cNvPicPr>
          <p:nvPr/>
        </p:nvPicPr>
        <p:blipFill>
          <a:blip r:embed="rId11"/>
          <a:srcRect r="26244"/>
          <a:stretch>
            <a:fillRect/>
          </a:stretch>
        </p:blipFill>
        <p:spPr>
          <a:xfrm>
            <a:off x="9210057" y="12996735"/>
            <a:ext cx="6243729" cy="1859616"/>
          </a:xfrm>
          <a:prstGeom prst="rect">
            <a:avLst/>
          </a:prstGeom>
          <a:ln w="38100">
            <a:solidFill>
              <a:srgbClr val="183960"/>
            </a:solidFill>
          </a:ln>
        </p:spPr>
      </p:pic>
      <p:pic>
        <p:nvPicPr>
          <p:cNvPr id="71" name="Picture 70" descr="A group of graphs showing different types of numbers&#10;&#10;AI-generated content may be incorrect.">
            <a:extLst>
              <a:ext uri="{FF2B5EF4-FFF2-40B4-BE49-F238E27FC236}">
                <a16:creationId xmlns:a16="http://schemas.microsoft.com/office/drawing/2014/main" id="{FD633D2C-45FE-AF7C-6ADE-F6739541FC6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981863" y="18284794"/>
            <a:ext cx="11431595" cy="7621064"/>
          </a:xfrm>
          <a:prstGeom prst="rect">
            <a:avLst/>
          </a:prstGeom>
          <a:ln w="38100">
            <a:solidFill>
              <a:srgbClr val="183960"/>
            </a:solidFill>
          </a:ln>
        </p:spPr>
      </p:pic>
      <p:pic>
        <p:nvPicPr>
          <p:cNvPr id="73" name="Picture 72" descr="A screenshot of a graph&#10;&#10;AI-generated content may be incorrect.">
            <a:extLst>
              <a:ext uri="{FF2B5EF4-FFF2-40B4-BE49-F238E27FC236}">
                <a16:creationId xmlns:a16="http://schemas.microsoft.com/office/drawing/2014/main" id="{A13263E4-FA4B-A7FC-0E8C-3CB0157FED9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023438" y="29118692"/>
            <a:ext cx="6668431" cy="5715798"/>
          </a:xfrm>
          <a:prstGeom prst="rect">
            <a:avLst/>
          </a:prstGeom>
          <a:ln w="38100">
            <a:solidFill>
              <a:srgbClr val="183960"/>
            </a:solidFill>
          </a:ln>
        </p:spPr>
      </p:pic>
      <p:pic>
        <p:nvPicPr>
          <p:cNvPr id="77" name="Picture 76" descr="A graph of different types of numbers&#10;&#10;AI-generated content may be incorrect.">
            <a:extLst>
              <a:ext uri="{FF2B5EF4-FFF2-40B4-BE49-F238E27FC236}">
                <a16:creationId xmlns:a16="http://schemas.microsoft.com/office/drawing/2014/main" id="{8551922F-CD63-A1EB-CFC0-2726912C75B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1015702" y="18284794"/>
            <a:ext cx="11431595" cy="7621064"/>
          </a:xfrm>
          <a:prstGeom prst="rect">
            <a:avLst/>
          </a:prstGeom>
          <a:ln w="38100">
            <a:solidFill>
              <a:srgbClr val="183960"/>
            </a:solidFill>
          </a:ln>
        </p:spPr>
      </p:pic>
      <p:sp>
        <p:nvSpPr>
          <p:cNvPr id="78" name="object 2">
            <a:extLst>
              <a:ext uri="{FF2B5EF4-FFF2-40B4-BE49-F238E27FC236}">
                <a16:creationId xmlns:a16="http://schemas.microsoft.com/office/drawing/2014/main" id="{6893951C-4103-9DE2-1A0B-284D0DA44EA8}"/>
              </a:ext>
            </a:extLst>
          </p:cNvPr>
          <p:cNvSpPr txBox="1"/>
          <p:nvPr/>
        </p:nvSpPr>
        <p:spPr>
          <a:xfrm>
            <a:off x="21015701" y="26052944"/>
            <a:ext cx="11431595" cy="2954655"/>
          </a:xfrm>
          <a:prstGeom prst="rect">
            <a:avLst/>
          </a:prstGeom>
          <a:ln w="38100">
            <a:solidFill>
              <a:srgbClr val="183960"/>
            </a:solidFill>
          </a:ln>
        </p:spPr>
        <p:txBody>
          <a:bodyPr vert="horz" wrap="square" lIns="91440" tIns="91440" rIns="91440" bIns="91440" rtlCol="0">
            <a:spAutoFit/>
          </a:bodyPr>
          <a:lstStyle/>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Figure 3. Inferred demographic parameters and SFS summary statistics for </a:t>
            </a:r>
            <a:r>
              <a:rPr lang="en-US" sz="3000" b="1" dirty="0">
                <a:solidFill>
                  <a:srgbClr val="183960"/>
                </a:solidFill>
                <a:latin typeface="Yu Gothic" panose="020B0400000000000000" pitchFamily="34" charset="-128"/>
                <a:ea typeface="Yu Gothic" panose="020B0400000000000000" pitchFamily="34" charset="-128"/>
                <a:cs typeface="Arial"/>
              </a:rPr>
              <a:t>empirical data</a:t>
            </a:r>
            <a:r>
              <a:rPr lang="en-US" sz="3000" dirty="0">
                <a:solidFill>
                  <a:srgbClr val="183960"/>
                </a:solidFill>
                <a:latin typeface="Yu Gothic" panose="020B0400000000000000" pitchFamily="34" charset="-128"/>
                <a:ea typeface="Yu Gothic" panose="020B0400000000000000" pitchFamily="34" charset="-128"/>
                <a:cs typeface="Arial"/>
              </a:rPr>
              <a:t>. The x-axis indicates the number of individuals analyzed. The y-axis indicates the </a:t>
            </a:r>
            <a:r>
              <a:rPr lang="en-US" sz="3000" b="1" dirty="0">
                <a:solidFill>
                  <a:srgbClr val="183960"/>
                </a:solidFill>
                <a:latin typeface="Yu Gothic" panose="020B0400000000000000" pitchFamily="34" charset="-128"/>
                <a:ea typeface="Yu Gothic" panose="020B0400000000000000" pitchFamily="34" charset="-128"/>
                <a:cs typeface="Arial"/>
              </a:rPr>
              <a:t>A</a:t>
            </a:r>
            <a:r>
              <a:rPr lang="en-US" sz="3000" dirty="0">
                <a:solidFill>
                  <a:srgbClr val="183960"/>
                </a:solidFill>
                <a:latin typeface="Yu Gothic" panose="020B0400000000000000" pitchFamily="34" charset="-128"/>
                <a:ea typeface="Yu Gothic" panose="020B0400000000000000" pitchFamily="34" charset="-128"/>
                <a:cs typeface="Arial"/>
              </a:rPr>
              <a:t>) size-change parameter, </a:t>
            </a:r>
            <a:r>
              <a:rPr lang="en-US" sz="3000" b="1" dirty="0">
                <a:solidFill>
                  <a:srgbClr val="183960"/>
                </a:solidFill>
                <a:latin typeface="Yu Gothic" panose="020B0400000000000000" pitchFamily="34" charset="-128"/>
                <a:ea typeface="Yu Gothic" panose="020B0400000000000000" pitchFamily="34" charset="-128"/>
                <a:cs typeface="Arial"/>
              </a:rPr>
              <a:t>B</a:t>
            </a:r>
            <a:r>
              <a:rPr lang="en-US" sz="3000" dirty="0">
                <a:solidFill>
                  <a:srgbClr val="183960"/>
                </a:solidFill>
                <a:latin typeface="Yu Gothic" panose="020B0400000000000000" pitchFamily="34" charset="-128"/>
                <a:ea typeface="Yu Gothic" panose="020B0400000000000000" pitchFamily="34" charset="-128"/>
                <a:cs typeface="Arial"/>
              </a:rPr>
              <a:t>) timing of inferred size change, </a:t>
            </a:r>
            <a:r>
              <a:rPr lang="en-US" sz="3000" b="1" dirty="0">
                <a:solidFill>
                  <a:srgbClr val="183960"/>
                </a:solidFill>
                <a:latin typeface="Yu Gothic" panose="020B0400000000000000" pitchFamily="34" charset="-128"/>
                <a:ea typeface="Yu Gothic" panose="020B0400000000000000" pitchFamily="34" charset="-128"/>
                <a:cs typeface="Arial"/>
              </a:rPr>
              <a:t>C</a:t>
            </a:r>
            <a:r>
              <a:rPr lang="en-US" sz="3000" dirty="0">
                <a:solidFill>
                  <a:srgbClr val="183960"/>
                </a:solidFill>
                <a:latin typeface="Yu Gothic" panose="020B0400000000000000" pitchFamily="34" charset="-128"/>
                <a:ea typeface="Yu Gothic" panose="020B0400000000000000" pitchFamily="34" charset="-128"/>
                <a:cs typeface="Arial"/>
              </a:rPr>
              <a:t>) Tajima’s D of the empirical SFS, </a:t>
            </a:r>
            <a:r>
              <a:rPr lang="en-US" sz="3000" b="1" dirty="0">
                <a:solidFill>
                  <a:srgbClr val="183960"/>
                </a:solidFill>
                <a:latin typeface="Yu Gothic" panose="020B0400000000000000" pitchFamily="34" charset="-128"/>
                <a:ea typeface="Yu Gothic" panose="020B0400000000000000" pitchFamily="34" charset="-128"/>
                <a:cs typeface="Arial"/>
              </a:rPr>
              <a:t>D</a:t>
            </a:r>
            <a:r>
              <a:rPr lang="en-US" sz="3000" dirty="0">
                <a:solidFill>
                  <a:srgbClr val="183960"/>
                </a:solidFill>
                <a:latin typeface="Yu Gothic" panose="020B0400000000000000" pitchFamily="34" charset="-128"/>
                <a:ea typeface="Yu Gothic" panose="020B0400000000000000" pitchFamily="34" charset="-128"/>
                <a:cs typeface="Arial"/>
              </a:rPr>
              <a:t>) model comparison statistic 2</a:t>
            </a:r>
            <a:r>
              <a:rPr lang="el-GR" sz="3000" dirty="0">
                <a:solidFill>
                  <a:srgbClr val="183960"/>
                </a:solidFill>
                <a:latin typeface="Yu Gothic" panose="020B0400000000000000" pitchFamily="34" charset="-128"/>
                <a:ea typeface="Yu Gothic" panose="020B0400000000000000" pitchFamily="34" charset="-128"/>
                <a:cs typeface="Arial"/>
              </a:rPr>
              <a:t>Λ</a:t>
            </a:r>
            <a:r>
              <a:rPr lang="en-US" sz="3000" dirty="0">
                <a:solidFill>
                  <a:srgbClr val="183960"/>
                </a:solidFill>
                <a:latin typeface="Yu Gothic" panose="020B0400000000000000" pitchFamily="34" charset="-128"/>
                <a:ea typeface="Yu Gothic" panose="020B0400000000000000" pitchFamily="34" charset="-128"/>
                <a:cs typeface="Arial"/>
              </a:rPr>
              <a:t>, and </a:t>
            </a:r>
            <a:r>
              <a:rPr lang="en-US" sz="3000" b="1" dirty="0">
                <a:solidFill>
                  <a:srgbClr val="183960"/>
                </a:solidFill>
                <a:latin typeface="Yu Gothic" panose="020B0400000000000000" pitchFamily="34" charset="-128"/>
                <a:ea typeface="Yu Gothic" panose="020B0400000000000000" pitchFamily="34" charset="-128"/>
                <a:cs typeface="Arial"/>
              </a:rPr>
              <a:t>E</a:t>
            </a:r>
            <a:r>
              <a:rPr lang="en-US" sz="3000" dirty="0">
                <a:solidFill>
                  <a:srgbClr val="183960"/>
                </a:solidFill>
                <a:latin typeface="Yu Gothic" panose="020B0400000000000000" pitchFamily="34" charset="-128"/>
                <a:ea typeface="Yu Gothic" panose="020B0400000000000000" pitchFamily="34" charset="-128"/>
                <a:cs typeface="Arial"/>
              </a:rPr>
              <a:t>) the size-change between epochs in a three-epoch model.</a:t>
            </a:r>
          </a:p>
        </p:txBody>
      </p:sp>
      <p:pic>
        <p:nvPicPr>
          <p:cNvPr id="80" name="Picture 79" descr="A graph of a function&#10;&#10;AI-generated content may be incorrect.">
            <a:extLst>
              <a:ext uri="{FF2B5EF4-FFF2-40B4-BE49-F238E27FC236}">
                <a16:creationId xmlns:a16="http://schemas.microsoft.com/office/drawing/2014/main" id="{7B554239-B21E-09B5-1BA0-D22E856F5E66}"/>
              </a:ext>
            </a:extLst>
          </p:cNvPr>
          <p:cNvPicPr>
            <a:picLocks noChangeAspect="1"/>
          </p:cNvPicPr>
          <p:nvPr/>
        </p:nvPicPr>
        <p:blipFill>
          <a:blip r:embed="rId15">
            <a:extLst>
              <a:ext uri="{28A0092B-C50C-407E-A947-70E740481C1C}">
                <a14:useLocalDpi xmlns:a14="http://schemas.microsoft.com/office/drawing/2010/main" val="0"/>
              </a:ext>
            </a:extLst>
          </a:blip>
          <a:srcRect t="50154"/>
          <a:stretch>
            <a:fillRect/>
          </a:stretch>
        </p:blipFill>
        <p:spPr>
          <a:xfrm>
            <a:off x="22920477" y="29242607"/>
            <a:ext cx="7621064" cy="3798791"/>
          </a:xfrm>
          <a:prstGeom prst="rect">
            <a:avLst/>
          </a:prstGeom>
          <a:ln w="38100">
            <a:solidFill>
              <a:srgbClr val="183960"/>
            </a:solidFill>
          </a:ln>
        </p:spPr>
      </p:pic>
      <p:pic>
        <p:nvPicPr>
          <p:cNvPr id="84" name="Picture 83" descr="A graph of a function&#10;&#10;AI-generated content may be incorrect.">
            <a:extLst>
              <a:ext uri="{FF2B5EF4-FFF2-40B4-BE49-F238E27FC236}">
                <a16:creationId xmlns:a16="http://schemas.microsoft.com/office/drawing/2014/main" id="{CD06997A-E05B-94E2-65E7-72F655B885D0}"/>
              </a:ext>
            </a:extLst>
          </p:cNvPr>
          <p:cNvPicPr>
            <a:picLocks noChangeAspect="1"/>
          </p:cNvPicPr>
          <p:nvPr/>
        </p:nvPicPr>
        <p:blipFill>
          <a:blip r:embed="rId15">
            <a:extLst>
              <a:ext uri="{28A0092B-C50C-407E-A947-70E740481C1C}">
                <a14:useLocalDpi xmlns:a14="http://schemas.microsoft.com/office/drawing/2010/main" val="0"/>
              </a:ext>
            </a:extLst>
          </a:blip>
          <a:srcRect l="85989" t="10982" b="64127"/>
          <a:stretch>
            <a:fillRect/>
          </a:stretch>
        </p:blipFill>
        <p:spPr>
          <a:xfrm>
            <a:off x="29468389" y="29888705"/>
            <a:ext cx="1067749" cy="1896886"/>
          </a:xfrm>
          <a:prstGeom prst="rect">
            <a:avLst/>
          </a:prstGeom>
        </p:spPr>
      </p:pic>
      <p:sp>
        <p:nvSpPr>
          <p:cNvPr id="87" name="object 2">
            <a:extLst>
              <a:ext uri="{FF2B5EF4-FFF2-40B4-BE49-F238E27FC236}">
                <a16:creationId xmlns:a16="http://schemas.microsoft.com/office/drawing/2014/main" id="{2AD6AFF2-D256-909A-452C-1ABCB16AE02C}"/>
              </a:ext>
            </a:extLst>
          </p:cNvPr>
          <p:cNvSpPr txBox="1"/>
          <p:nvPr/>
        </p:nvSpPr>
        <p:spPr>
          <a:xfrm>
            <a:off x="21015212" y="33207786"/>
            <a:ext cx="11431595" cy="1569660"/>
          </a:xfrm>
          <a:prstGeom prst="rect">
            <a:avLst/>
          </a:prstGeom>
          <a:ln w="38100">
            <a:solidFill>
              <a:srgbClr val="183960"/>
            </a:solidFill>
          </a:ln>
        </p:spPr>
        <p:txBody>
          <a:bodyPr vert="horz" wrap="square" lIns="91440" tIns="91440" rIns="91440" bIns="91440" rtlCol="0">
            <a:spAutoFit/>
          </a:bodyPr>
          <a:lstStyle/>
          <a:p>
            <a:pPr marL="21744" marR="8698" algn="just">
              <a:spcBef>
                <a:spcPts val="1233"/>
              </a:spcBef>
            </a:pPr>
            <a:r>
              <a:rPr lang="en-US" sz="3000" dirty="0">
                <a:solidFill>
                  <a:srgbClr val="183960"/>
                </a:solidFill>
                <a:latin typeface="Yu Gothic" panose="020B0400000000000000" pitchFamily="34" charset="-128"/>
                <a:ea typeface="Yu Gothic" panose="020B0400000000000000" pitchFamily="34" charset="-128"/>
                <a:cs typeface="Arial"/>
              </a:rPr>
              <a:t>Figure 5. Ratio of the proportion of the SFS comprised of singletons between simulated data and the standard neutral model.</a:t>
            </a:r>
          </a:p>
        </p:txBody>
      </p:sp>
      <p:pic>
        <p:nvPicPr>
          <p:cNvPr id="94" name="Picture 93">
            <a:extLst>
              <a:ext uri="{FF2B5EF4-FFF2-40B4-BE49-F238E27FC236}">
                <a16:creationId xmlns:a16="http://schemas.microsoft.com/office/drawing/2014/main" id="{79B05E7A-6CB8-7C45-2BF0-A7704078AF87}"/>
              </a:ext>
            </a:extLst>
          </p:cNvPr>
          <p:cNvPicPr>
            <a:picLocks noChangeAspect="1"/>
          </p:cNvPicPr>
          <p:nvPr/>
        </p:nvPicPr>
        <p:blipFill>
          <a:blip r:embed="rId16"/>
          <a:stretch>
            <a:fillRect/>
          </a:stretch>
        </p:blipFill>
        <p:spPr>
          <a:xfrm>
            <a:off x="25430010" y="12132538"/>
            <a:ext cx="6195925" cy="2774067"/>
          </a:xfrm>
          <a:prstGeom prst="rect">
            <a:avLst/>
          </a:prstGeom>
          <a:ln w="38100">
            <a:solidFill>
              <a:srgbClr val="183960"/>
            </a:solidFill>
          </a:ln>
        </p:spPr>
      </p:pic>
      <p:pic>
        <p:nvPicPr>
          <p:cNvPr id="96" name="Picture 95">
            <a:extLst>
              <a:ext uri="{FF2B5EF4-FFF2-40B4-BE49-F238E27FC236}">
                <a16:creationId xmlns:a16="http://schemas.microsoft.com/office/drawing/2014/main" id="{ADAA99E5-421B-E04D-C255-450B3DDEDF24}"/>
              </a:ext>
            </a:extLst>
          </p:cNvPr>
          <p:cNvPicPr>
            <a:picLocks noChangeAspect="1"/>
          </p:cNvPicPr>
          <p:nvPr/>
        </p:nvPicPr>
        <p:blipFill>
          <a:blip r:embed="rId17"/>
          <a:stretch>
            <a:fillRect/>
          </a:stretch>
        </p:blipFill>
        <p:spPr>
          <a:xfrm>
            <a:off x="15971830" y="12254579"/>
            <a:ext cx="8728023" cy="2632125"/>
          </a:xfrm>
          <a:prstGeom prst="rect">
            <a:avLst/>
          </a:prstGeom>
          <a:ln w="38100">
            <a:solidFill>
              <a:srgbClr val="183960"/>
            </a:solidFill>
          </a:ln>
        </p:spPr>
      </p:pic>
      <p:sp>
        <p:nvSpPr>
          <p:cNvPr id="2" name="TextBox 1">
            <a:extLst>
              <a:ext uri="{FF2B5EF4-FFF2-40B4-BE49-F238E27FC236}">
                <a16:creationId xmlns:a16="http://schemas.microsoft.com/office/drawing/2014/main" id="{D93E8F34-896C-F31D-F7DD-BBCBEEE69AB2}"/>
              </a:ext>
            </a:extLst>
          </p:cNvPr>
          <p:cNvSpPr txBox="1"/>
          <p:nvPr/>
        </p:nvSpPr>
        <p:spPr>
          <a:xfrm>
            <a:off x="9037952" y="18284794"/>
            <a:ext cx="466794"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A</a:t>
            </a:r>
          </a:p>
        </p:txBody>
      </p:sp>
      <p:sp>
        <p:nvSpPr>
          <p:cNvPr id="3" name="TextBox 2">
            <a:extLst>
              <a:ext uri="{FF2B5EF4-FFF2-40B4-BE49-F238E27FC236}">
                <a16:creationId xmlns:a16="http://schemas.microsoft.com/office/drawing/2014/main" id="{DA147E26-5020-A9BC-ECF5-6BB88D556DD6}"/>
              </a:ext>
            </a:extLst>
          </p:cNvPr>
          <p:cNvSpPr txBox="1"/>
          <p:nvPr/>
        </p:nvSpPr>
        <p:spPr>
          <a:xfrm>
            <a:off x="9042254" y="20793934"/>
            <a:ext cx="476412"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B</a:t>
            </a:r>
          </a:p>
        </p:txBody>
      </p:sp>
      <p:sp>
        <p:nvSpPr>
          <p:cNvPr id="14" name="TextBox 13">
            <a:extLst>
              <a:ext uri="{FF2B5EF4-FFF2-40B4-BE49-F238E27FC236}">
                <a16:creationId xmlns:a16="http://schemas.microsoft.com/office/drawing/2014/main" id="{F449FD01-1C57-5C91-FAFA-46C3EFFDE381}"/>
              </a:ext>
            </a:extLst>
          </p:cNvPr>
          <p:cNvSpPr txBox="1"/>
          <p:nvPr/>
        </p:nvSpPr>
        <p:spPr>
          <a:xfrm>
            <a:off x="9040651" y="23108746"/>
            <a:ext cx="479618"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C</a:t>
            </a:r>
          </a:p>
        </p:txBody>
      </p:sp>
      <p:sp>
        <p:nvSpPr>
          <p:cNvPr id="18" name="TextBox 17">
            <a:extLst>
              <a:ext uri="{FF2B5EF4-FFF2-40B4-BE49-F238E27FC236}">
                <a16:creationId xmlns:a16="http://schemas.microsoft.com/office/drawing/2014/main" id="{B82EE60A-E665-4AB1-0738-119109DBF84A}"/>
              </a:ext>
            </a:extLst>
          </p:cNvPr>
          <p:cNvSpPr txBox="1"/>
          <p:nvPr/>
        </p:nvSpPr>
        <p:spPr>
          <a:xfrm>
            <a:off x="14267322" y="18284794"/>
            <a:ext cx="502061"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D</a:t>
            </a:r>
          </a:p>
        </p:txBody>
      </p:sp>
      <p:sp>
        <p:nvSpPr>
          <p:cNvPr id="20" name="TextBox 19">
            <a:extLst>
              <a:ext uri="{FF2B5EF4-FFF2-40B4-BE49-F238E27FC236}">
                <a16:creationId xmlns:a16="http://schemas.microsoft.com/office/drawing/2014/main" id="{B49B9B38-C346-504B-B020-D6FB706B8E48}"/>
              </a:ext>
            </a:extLst>
          </p:cNvPr>
          <p:cNvSpPr txBox="1"/>
          <p:nvPr/>
        </p:nvSpPr>
        <p:spPr>
          <a:xfrm>
            <a:off x="14301385" y="20697534"/>
            <a:ext cx="466794"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E</a:t>
            </a:r>
          </a:p>
        </p:txBody>
      </p:sp>
      <p:sp>
        <p:nvSpPr>
          <p:cNvPr id="21" name="TextBox 20">
            <a:extLst>
              <a:ext uri="{FF2B5EF4-FFF2-40B4-BE49-F238E27FC236}">
                <a16:creationId xmlns:a16="http://schemas.microsoft.com/office/drawing/2014/main" id="{D1DB66BF-F976-5FC5-980D-B5F79EF87071}"/>
              </a:ext>
            </a:extLst>
          </p:cNvPr>
          <p:cNvSpPr txBox="1"/>
          <p:nvPr/>
        </p:nvSpPr>
        <p:spPr>
          <a:xfrm>
            <a:off x="14322748" y="23103050"/>
            <a:ext cx="445956"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F</a:t>
            </a:r>
          </a:p>
        </p:txBody>
      </p:sp>
      <p:sp>
        <p:nvSpPr>
          <p:cNvPr id="34" name="TextBox 33">
            <a:extLst>
              <a:ext uri="{FF2B5EF4-FFF2-40B4-BE49-F238E27FC236}">
                <a16:creationId xmlns:a16="http://schemas.microsoft.com/office/drawing/2014/main" id="{5649619E-AE83-7076-9FAB-426E5FA75535}"/>
              </a:ext>
            </a:extLst>
          </p:cNvPr>
          <p:cNvSpPr txBox="1"/>
          <p:nvPr/>
        </p:nvSpPr>
        <p:spPr>
          <a:xfrm>
            <a:off x="21023678" y="18348115"/>
            <a:ext cx="466794"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A</a:t>
            </a:r>
          </a:p>
        </p:txBody>
      </p:sp>
      <p:sp>
        <p:nvSpPr>
          <p:cNvPr id="36" name="TextBox 35">
            <a:extLst>
              <a:ext uri="{FF2B5EF4-FFF2-40B4-BE49-F238E27FC236}">
                <a16:creationId xmlns:a16="http://schemas.microsoft.com/office/drawing/2014/main" id="{FD601CA0-058F-032E-C3E6-EEFF054A1FF4}"/>
              </a:ext>
            </a:extLst>
          </p:cNvPr>
          <p:cNvSpPr txBox="1"/>
          <p:nvPr/>
        </p:nvSpPr>
        <p:spPr>
          <a:xfrm>
            <a:off x="21027980" y="20819155"/>
            <a:ext cx="476412"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B</a:t>
            </a:r>
          </a:p>
        </p:txBody>
      </p:sp>
      <p:sp>
        <p:nvSpPr>
          <p:cNvPr id="37" name="TextBox 36">
            <a:extLst>
              <a:ext uri="{FF2B5EF4-FFF2-40B4-BE49-F238E27FC236}">
                <a16:creationId xmlns:a16="http://schemas.microsoft.com/office/drawing/2014/main" id="{9C1D4646-2DF8-373D-0DC3-CB100D892FEE}"/>
              </a:ext>
            </a:extLst>
          </p:cNvPr>
          <p:cNvSpPr txBox="1"/>
          <p:nvPr/>
        </p:nvSpPr>
        <p:spPr>
          <a:xfrm>
            <a:off x="21026377" y="23172067"/>
            <a:ext cx="479618"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C</a:t>
            </a:r>
          </a:p>
        </p:txBody>
      </p:sp>
      <p:sp>
        <p:nvSpPr>
          <p:cNvPr id="38" name="TextBox 37">
            <a:extLst>
              <a:ext uri="{FF2B5EF4-FFF2-40B4-BE49-F238E27FC236}">
                <a16:creationId xmlns:a16="http://schemas.microsoft.com/office/drawing/2014/main" id="{AE8FE1D9-4027-7136-759B-A4F2E2B03821}"/>
              </a:ext>
            </a:extLst>
          </p:cNvPr>
          <p:cNvSpPr txBox="1"/>
          <p:nvPr/>
        </p:nvSpPr>
        <p:spPr>
          <a:xfrm>
            <a:off x="26253048" y="18348115"/>
            <a:ext cx="502061"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D</a:t>
            </a:r>
          </a:p>
        </p:txBody>
      </p:sp>
      <p:sp>
        <p:nvSpPr>
          <p:cNvPr id="40" name="TextBox 39">
            <a:extLst>
              <a:ext uri="{FF2B5EF4-FFF2-40B4-BE49-F238E27FC236}">
                <a16:creationId xmlns:a16="http://schemas.microsoft.com/office/drawing/2014/main" id="{B6A9BF8B-79DA-9367-849C-66698A3E5B5D}"/>
              </a:ext>
            </a:extLst>
          </p:cNvPr>
          <p:cNvSpPr txBox="1"/>
          <p:nvPr/>
        </p:nvSpPr>
        <p:spPr>
          <a:xfrm>
            <a:off x="26287111" y="20760855"/>
            <a:ext cx="466794" cy="584775"/>
          </a:xfrm>
          <a:prstGeom prst="rect">
            <a:avLst/>
          </a:prstGeom>
          <a:noFill/>
        </p:spPr>
        <p:txBody>
          <a:bodyPr wrap="none" rtlCol="0">
            <a:spAutoFit/>
          </a:bodyPr>
          <a:lstStyle/>
          <a:p>
            <a:r>
              <a:rPr lang="en-US" sz="3200" b="1" dirty="0">
                <a:solidFill>
                  <a:srgbClr val="183960"/>
                </a:solidFill>
                <a:latin typeface="Yu Gothic" panose="020B0400000000000000" pitchFamily="34" charset="-128"/>
                <a:ea typeface="Yu Gothic" panose="020B0400000000000000" pitchFamily="34" charset="-128"/>
              </a:rPr>
              <a:t>E</a:t>
            </a:r>
          </a:p>
        </p:txBody>
      </p:sp>
    </p:spTree>
    <p:extLst>
      <p:ext uri="{BB962C8B-B14F-4D97-AF65-F5344CB8AC3E}">
        <p14:creationId xmlns:p14="http://schemas.microsoft.com/office/powerpoint/2010/main" val="17599519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2050</TotalTime>
  <Words>1034</Words>
  <Application>Microsoft Office PowerPoint</Application>
  <PresentationFormat>Custom</PresentationFormat>
  <Paragraphs>44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Yu Gothic</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Mah</dc:creator>
  <cp:lastModifiedBy>Jonathan Mah</cp:lastModifiedBy>
  <cp:revision>44</cp:revision>
  <dcterms:created xsi:type="dcterms:W3CDTF">2023-05-03T22:38:31Z</dcterms:created>
  <dcterms:modified xsi:type="dcterms:W3CDTF">2025-09-18T20:47:50Z</dcterms:modified>
</cp:coreProperties>
</file>