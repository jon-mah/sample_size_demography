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8" r:id="rId3"/>
    <p:sldId id="257" r:id="rId4"/>
    <p:sldId id="263" r:id="rId5"/>
    <p:sldId id="262" r:id="rId6"/>
    <p:sldId id="279" r:id="rId7"/>
    <p:sldId id="268" r:id="rId8"/>
    <p:sldId id="273" r:id="rId9"/>
    <p:sldId id="269" r:id="rId10"/>
    <p:sldId id="270" r:id="rId11"/>
    <p:sldId id="271" r:id="rId12"/>
    <p:sldId id="272" r:id="rId13"/>
    <p:sldId id="280" r:id="rId14"/>
    <p:sldId id="282" r:id="rId15"/>
    <p:sldId id="259" r:id="rId16"/>
    <p:sldId id="274" r:id="rId17"/>
    <p:sldId id="275" r:id="rId18"/>
    <p:sldId id="276" r:id="rId19"/>
    <p:sldId id="277" r:id="rId20"/>
    <p:sldId id="287" r:id="rId21"/>
    <p:sldId id="260" r:id="rId22"/>
    <p:sldId id="283" r:id="rId23"/>
    <p:sldId id="284" r:id="rId24"/>
    <p:sldId id="285" r:id="rId25"/>
    <p:sldId id="286" r:id="rId26"/>
    <p:sldId id="261" r:id="rId27"/>
  </p:sldIdLst>
  <p:sldSz cx="13004800" cy="9753600"/>
  <p:notesSz cx="13004800"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40B54D-B184-4DE5-8FD1-3770111CBB7D}">
          <p14:sldIdLst>
            <p14:sldId id="256"/>
            <p14:sldId id="278"/>
            <p14:sldId id="257"/>
            <p14:sldId id="263"/>
            <p14:sldId id="262"/>
            <p14:sldId id="279"/>
            <p14:sldId id="268"/>
            <p14:sldId id="273"/>
            <p14:sldId id="269"/>
            <p14:sldId id="270"/>
            <p14:sldId id="271"/>
            <p14:sldId id="272"/>
            <p14:sldId id="280"/>
            <p14:sldId id="282"/>
            <p14:sldId id="259"/>
            <p14:sldId id="274"/>
            <p14:sldId id="275"/>
            <p14:sldId id="276"/>
            <p14:sldId id="277"/>
            <p14:sldId id="287"/>
            <p14:sldId id="260"/>
            <p14:sldId id="283"/>
            <p14:sldId id="284"/>
            <p14:sldId id="285"/>
            <p14:sldId id="286"/>
            <p14:sldId id="26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232C"/>
    <a:srgbClr val="E9D4BF"/>
    <a:srgbClr val="5ABAB9"/>
    <a:srgbClr val="D2232E"/>
    <a:srgbClr val="CA985C"/>
    <a:srgbClr val="393F7C"/>
    <a:srgbClr val="0D0D0B"/>
    <a:srgbClr val="4EAC4B"/>
    <a:srgbClr val="5BBABA"/>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2BD81D-F978-472B-8219-9507690F9F5C}" v="25" dt="2025-10-29T16:35:51.64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18" autoAdjust="0"/>
    <p:restoredTop sz="71301" autoAdjust="0"/>
  </p:normalViewPr>
  <p:slideViewPr>
    <p:cSldViewPr>
      <p:cViewPr varScale="1">
        <p:scale>
          <a:sx n="32" d="100"/>
          <a:sy n="32" d="100"/>
        </p:scale>
        <p:origin x="2274" y="264"/>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DB9BCF8B-E91B-491C-8171-92D39BBC1534}"/>
    <pc:docChg chg="custSel addSld delSld modSld modSection">
      <pc:chgData name="Jonathan Mah" userId="5261b2f2f3e51194" providerId="LiveId" clId="{DB9BCF8B-E91B-491C-8171-92D39BBC1534}" dt="2025-10-29T17:58:58.718" v="1705" actId="20577"/>
      <pc:docMkLst>
        <pc:docMk/>
      </pc:docMkLst>
      <pc:sldChg chg="addSp modSp mod">
        <pc:chgData name="Jonathan Mah" userId="5261b2f2f3e51194" providerId="LiveId" clId="{DB9BCF8B-E91B-491C-8171-92D39BBC1534}" dt="2025-10-29T16:14:43.244" v="165" actId="14100"/>
        <pc:sldMkLst>
          <pc:docMk/>
          <pc:sldMk cId="484017263" sldId="260"/>
        </pc:sldMkLst>
        <pc:spChg chg="add mod">
          <ac:chgData name="Jonathan Mah" userId="5261b2f2f3e51194" providerId="LiveId" clId="{DB9BCF8B-E91B-491C-8171-92D39BBC1534}" dt="2025-10-29T16:14:43.244" v="165" actId="14100"/>
          <ac:spMkLst>
            <pc:docMk/>
            <pc:sldMk cId="484017263" sldId="260"/>
            <ac:spMk id="3" creationId="{F3BF4A4F-27E6-B51C-3299-D4E4D83D3A24}"/>
          </ac:spMkLst>
        </pc:spChg>
      </pc:sldChg>
      <pc:sldChg chg="modNotesTx">
        <pc:chgData name="Jonathan Mah" userId="5261b2f2f3e51194" providerId="LiveId" clId="{DB9BCF8B-E91B-491C-8171-92D39BBC1534}" dt="2025-10-29T17:35:38.909" v="1399" actId="20577"/>
        <pc:sldMkLst>
          <pc:docMk/>
          <pc:sldMk cId="3505525078" sldId="271"/>
        </pc:sldMkLst>
      </pc:sldChg>
      <pc:sldChg chg="addSp modSp mod">
        <pc:chgData name="Jonathan Mah" userId="5261b2f2f3e51194" providerId="LiveId" clId="{DB9BCF8B-E91B-491C-8171-92D39BBC1534}" dt="2025-10-29T16:34:59.747" v="460" actId="1076"/>
        <pc:sldMkLst>
          <pc:docMk/>
          <pc:sldMk cId="3060462361" sldId="277"/>
        </pc:sldMkLst>
        <pc:spChg chg="add mod">
          <ac:chgData name="Jonathan Mah" userId="5261b2f2f3e51194" providerId="LiveId" clId="{DB9BCF8B-E91B-491C-8171-92D39BBC1534}" dt="2025-10-29T16:34:59.747" v="460" actId="1076"/>
          <ac:spMkLst>
            <pc:docMk/>
            <pc:sldMk cId="3060462361" sldId="277"/>
            <ac:spMk id="5" creationId="{DEC07660-772E-B1A8-D653-5BCDA87F6921}"/>
          </ac:spMkLst>
        </pc:spChg>
      </pc:sldChg>
      <pc:sldChg chg="addSp delSp modSp add mod">
        <pc:chgData name="Jonathan Mah" userId="5261b2f2f3e51194" providerId="LiveId" clId="{DB9BCF8B-E91B-491C-8171-92D39BBC1534}" dt="2025-10-29T16:11:13.092" v="27" actId="478"/>
        <pc:sldMkLst>
          <pc:docMk/>
          <pc:sldMk cId="3386928176" sldId="278"/>
        </pc:sldMkLst>
        <pc:spChg chg="add del mod">
          <ac:chgData name="Jonathan Mah" userId="5261b2f2f3e51194" providerId="LiveId" clId="{DB9BCF8B-E91B-491C-8171-92D39BBC1534}" dt="2025-10-29T16:11:13.092" v="27" actId="478"/>
          <ac:spMkLst>
            <pc:docMk/>
            <pc:sldMk cId="3386928176" sldId="278"/>
            <ac:spMk id="5" creationId="{D474183D-8648-AF2F-229F-6A5FF2AA7E1C}"/>
          </ac:spMkLst>
        </pc:spChg>
      </pc:sldChg>
      <pc:sldChg chg="addSp delSp modSp new mod modNotesTx">
        <pc:chgData name="Jonathan Mah" userId="5261b2f2f3e51194" providerId="LiveId" clId="{DB9BCF8B-E91B-491C-8171-92D39BBC1534}" dt="2025-10-29T17:27:21.678" v="1286" actId="20577"/>
        <pc:sldMkLst>
          <pc:docMk/>
          <pc:sldMk cId="906888221" sldId="279"/>
        </pc:sldMkLst>
        <pc:spChg chg="del">
          <ac:chgData name="Jonathan Mah" userId="5261b2f2f3e51194" providerId="LiveId" clId="{DB9BCF8B-E91B-491C-8171-92D39BBC1534}" dt="2025-10-29T16:11:39.437" v="29" actId="478"/>
          <ac:spMkLst>
            <pc:docMk/>
            <pc:sldMk cId="906888221" sldId="279"/>
            <ac:spMk id="2" creationId="{255FD701-C572-1869-7A38-C32D5B68DCFB}"/>
          </ac:spMkLst>
        </pc:spChg>
        <pc:spChg chg="del">
          <ac:chgData name="Jonathan Mah" userId="5261b2f2f3e51194" providerId="LiveId" clId="{DB9BCF8B-E91B-491C-8171-92D39BBC1534}" dt="2025-10-29T16:11:39.437" v="29" actId="478"/>
          <ac:spMkLst>
            <pc:docMk/>
            <pc:sldMk cId="906888221" sldId="279"/>
            <ac:spMk id="3" creationId="{D0EDDC14-00D9-F3A8-57C8-852C9A0058BC}"/>
          </ac:spMkLst>
        </pc:spChg>
        <pc:spChg chg="add mod">
          <ac:chgData name="Jonathan Mah" userId="5261b2f2f3e51194" providerId="LiveId" clId="{DB9BCF8B-E91B-491C-8171-92D39BBC1534}" dt="2025-10-29T16:12:17.287" v="74" actId="20577"/>
          <ac:spMkLst>
            <pc:docMk/>
            <pc:sldMk cId="906888221" sldId="279"/>
            <ac:spMk id="6" creationId="{04557DE6-709D-55AE-ED08-D241CA09FA5A}"/>
          </ac:spMkLst>
        </pc:spChg>
        <pc:picChg chg="add mod">
          <ac:chgData name="Jonathan Mah" userId="5261b2f2f3e51194" providerId="LiveId" clId="{DB9BCF8B-E91B-491C-8171-92D39BBC1534}" dt="2025-10-29T16:12:06.868" v="32" actId="1076"/>
          <ac:picMkLst>
            <pc:docMk/>
            <pc:sldMk cId="906888221" sldId="279"/>
            <ac:picMk id="5" creationId="{EDAE871E-AFE0-8DF8-D4BF-7FF6A73A6A21}"/>
          </ac:picMkLst>
        </pc:picChg>
      </pc:sldChg>
      <pc:sldChg chg="addSp delSp modSp add mod modNotesTx">
        <pc:chgData name="Jonathan Mah" userId="5261b2f2f3e51194" providerId="LiveId" clId="{DB9BCF8B-E91B-491C-8171-92D39BBC1534}" dt="2025-10-29T17:37:37.644" v="1421" actId="20577"/>
        <pc:sldMkLst>
          <pc:docMk/>
          <pc:sldMk cId="4215348371" sldId="280"/>
        </pc:sldMkLst>
        <pc:spChg chg="del">
          <ac:chgData name="Jonathan Mah" userId="5261b2f2f3e51194" providerId="LiveId" clId="{DB9BCF8B-E91B-491C-8171-92D39BBC1534}" dt="2025-10-29T16:13:04.014" v="76" actId="478"/>
          <ac:spMkLst>
            <pc:docMk/>
            <pc:sldMk cId="4215348371" sldId="280"/>
            <ac:spMk id="3" creationId="{2F5BB3D0-739E-A2A2-5867-DBC9C0883EC3}"/>
          </ac:spMkLst>
        </pc:spChg>
        <pc:spChg chg="del">
          <ac:chgData name="Jonathan Mah" userId="5261b2f2f3e51194" providerId="LiveId" clId="{DB9BCF8B-E91B-491C-8171-92D39BBC1534}" dt="2025-10-29T16:13:07.569" v="78" actId="478"/>
          <ac:spMkLst>
            <pc:docMk/>
            <pc:sldMk cId="4215348371" sldId="280"/>
            <ac:spMk id="4" creationId="{EA362F2C-BCF2-62E8-1127-14A00BFBB2BD}"/>
          </ac:spMkLst>
        </pc:spChg>
        <pc:spChg chg="del">
          <ac:chgData name="Jonathan Mah" userId="5261b2f2f3e51194" providerId="LiveId" clId="{DB9BCF8B-E91B-491C-8171-92D39BBC1534}" dt="2025-10-29T16:13:07.569" v="78" actId="478"/>
          <ac:spMkLst>
            <pc:docMk/>
            <pc:sldMk cId="4215348371" sldId="280"/>
            <ac:spMk id="5" creationId="{2F36A568-1B83-01FE-5A5B-800DB9090BDF}"/>
          </ac:spMkLst>
        </pc:spChg>
        <pc:spChg chg="del">
          <ac:chgData name="Jonathan Mah" userId="5261b2f2f3e51194" providerId="LiveId" clId="{DB9BCF8B-E91B-491C-8171-92D39BBC1534}" dt="2025-10-29T16:13:07.569" v="78" actId="478"/>
          <ac:spMkLst>
            <pc:docMk/>
            <pc:sldMk cId="4215348371" sldId="280"/>
            <ac:spMk id="10" creationId="{1DF289D2-4CA6-5D14-78DB-FAD28E07887D}"/>
          </ac:spMkLst>
        </pc:spChg>
        <pc:spChg chg="del">
          <ac:chgData name="Jonathan Mah" userId="5261b2f2f3e51194" providerId="LiveId" clId="{DB9BCF8B-E91B-491C-8171-92D39BBC1534}" dt="2025-10-29T16:13:07.569" v="78" actId="478"/>
          <ac:spMkLst>
            <pc:docMk/>
            <pc:sldMk cId="4215348371" sldId="280"/>
            <ac:spMk id="11" creationId="{0619CE82-85E9-F77A-5E36-01B1007B2947}"/>
          </ac:spMkLst>
        </pc:spChg>
        <pc:spChg chg="del">
          <ac:chgData name="Jonathan Mah" userId="5261b2f2f3e51194" providerId="LiveId" clId="{DB9BCF8B-E91B-491C-8171-92D39BBC1534}" dt="2025-10-29T16:13:07.569" v="78" actId="478"/>
          <ac:spMkLst>
            <pc:docMk/>
            <pc:sldMk cId="4215348371" sldId="280"/>
            <ac:spMk id="12" creationId="{DE47F860-AA35-F0A5-B9C6-3FF5CE9B79F6}"/>
          </ac:spMkLst>
        </pc:spChg>
        <pc:spChg chg="del">
          <ac:chgData name="Jonathan Mah" userId="5261b2f2f3e51194" providerId="LiveId" clId="{DB9BCF8B-E91B-491C-8171-92D39BBC1534}" dt="2025-10-29T16:13:08.693" v="79" actId="478"/>
          <ac:spMkLst>
            <pc:docMk/>
            <pc:sldMk cId="4215348371" sldId="280"/>
            <ac:spMk id="13" creationId="{ABD10E35-4810-BD81-A82D-E85D8D827558}"/>
          </ac:spMkLst>
        </pc:spChg>
        <pc:spChg chg="del">
          <ac:chgData name="Jonathan Mah" userId="5261b2f2f3e51194" providerId="LiveId" clId="{DB9BCF8B-E91B-491C-8171-92D39BBC1534}" dt="2025-10-29T16:13:07.569" v="78" actId="478"/>
          <ac:spMkLst>
            <pc:docMk/>
            <pc:sldMk cId="4215348371" sldId="280"/>
            <ac:spMk id="14" creationId="{B56FB055-B64A-C4EB-9E7C-0E74E0EB4922}"/>
          </ac:spMkLst>
        </pc:spChg>
        <pc:spChg chg="del">
          <ac:chgData name="Jonathan Mah" userId="5261b2f2f3e51194" providerId="LiveId" clId="{DB9BCF8B-E91B-491C-8171-92D39BBC1534}" dt="2025-10-29T16:13:07.569" v="78" actId="478"/>
          <ac:spMkLst>
            <pc:docMk/>
            <pc:sldMk cId="4215348371" sldId="280"/>
            <ac:spMk id="15" creationId="{2A51A9C5-E523-B758-DBC5-60E973083756}"/>
          </ac:spMkLst>
        </pc:spChg>
        <pc:spChg chg="del">
          <ac:chgData name="Jonathan Mah" userId="5261b2f2f3e51194" providerId="LiveId" clId="{DB9BCF8B-E91B-491C-8171-92D39BBC1534}" dt="2025-10-29T16:13:07.569" v="78" actId="478"/>
          <ac:spMkLst>
            <pc:docMk/>
            <pc:sldMk cId="4215348371" sldId="280"/>
            <ac:spMk id="17" creationId="{6D582972-400E-DE19-1D4B-8170738791E8}"/>
          </ac:spMkLst>
        </pc:spChg>
        <pc:spChg chg="del">
          <ac:chgData name="Jonathan Mah" userId="5261b2f2f3e51194" providerId="LiveId" clId="{DB9BCF8B-E91B-491C-8171-92D39BBC1534}" dt="2025-10-29T16:13:07.569" v="78" actId="478"/>
          <ac:spMkLst>
            <pc:docMk/>
            <pc:sldMk cId="4215348371" sldId="280"/>
            <ac:spMk id="18" creationId="{F8D7267F-D601-47B4-41F6-CFA28AC9494A}"/>
          </ac:spMkLst>
        </pc:spChg>
        <pc:spChg chg="del">
          <ac:chgData name="Jonathan Mah" userId="5261b2f2f3e51194" providerId="LiveId" clId="{DB9BCF8B-E91B-491C-8171-92D39BBC1534}" dt="2025-10-29T16:13:07.569" v="78" actId="478"/>
          <ac:spMkLst>
            <pc:docMk/>
            <pc:sldMk cId="4215348371" sldId="280"/>
            <ac:spMk id="19" creationId="{A6B9A404-91EA-7FA8-EF45-F25CC32DD9EE}"/>
          </ac:spMkLst>
        </pc:spChg>
        <pc:spChg chg="add mod">
          <ac:chgData name="Jonathan Mah" userId="5261b2f2f3e51194" providerId="LiveId" clId="{DB9BCF8B-E91B-491C-8171-92D39BBC1534}" dt="2025-10-29T16:13:46.899" v="156" actId="14100"/>
          <ac:spMkLst>
            <pc:docMk/>
            <pc:sldMk cId="4215348371" sldId="280"/>
            <ac:spMk id="20" creationId="{EB4FA0F0-3146-277F-7FFE-AA0F070557FB}"/>
          </ac:spMkLst>
        </pc:spChg>
        <pc:picChg chg="mod modCrop">
          <ac:chgData name="Jonathan Mah" userId="5261b2f2f3e51194" providerId="LiveId" clId="{DB9BCF8B-E91B-491C-8171-92D39BBC1534}" dt="2025-10-29T16:13:15.001" v="80" actId="732"/>
          <ac:picMkLst>
            <pc:docMk/>
            <pc:sldMk cId="4215348371" sldId="280"/>
            <ac:picMk id="7" creationId="{F1C58346-E094-EDC8-8E0D-43666832BC9B}"/>
          </ac:picMkLst>
        </pc:picChg>
        <pc:cxnChg chg="del">
          <ac:chgData name="Jonathan Mah" userId="5261b2f2f3e51194" providerId="LiveId" clId="{DB9BCF8B-E91B-491C-8171-92D39BBC1534}" dt="2025-10-29T16:13:04.905" v="77" actId="478"/>
          <ac:cxnSpMkLst>
            <pc:docMk/>
            <pc:sldMk cId="4215348371" sldId="280"/>
            <ac:cxnSpMk id="9" creationId="{52C4956C-95D4-F60D-8D05-A4C110D92C8D}"/>
          </ac:cxnSpMkLst>
        </pc:cxnChg>
      </pc:sldChg>
      <pc:sldChg chg="add del">
        <pc:chgData name="Jonathan Mah" userId="5261b2f2f3e51194" providerId="LiveId" clId="{DB9BCF8B-E91B-491C-8171-92D39BBC1534}" dt="2025-10-29T16:13:55.367" v="157" actId="47"/>
        <pc:sldMkLst>
          <pc:docMk/>
          <pc:sldMk cId="179884064" sldId="281"/>
        </pc:sldMkLst>
      </pc:sldChg>
      <pc:sldChg chg="addSp modSp add mod modNotesTx">
        <pc:chgData name="Jonathan Mah" userId="5261b2f2f3e51194" providerId="LiveId" clId="{DB9BCF8B-E91B-491C-8171-92D39BBC1534}" dt="2025-10-29T17:53:37.753" v="1530" actId="20577"/>
        <pc:sldMkLst>
          <pc:docMk/>
          <pc:sldMk cId="4057643359" sldId="282"/>
        </pc:sldMkLst>
        <pc:spChg chg="add mod">
          <ac:chgData name="Jonathan Mah" userId="5261b2f2f3e51194" providerId="LiveId" clId="{DB9BCF8B-E91B-491C-8171-92D39BBC1534}" dt="2025-10-29T16:14:07.122" v="161" actId="14100"/>
          <ac:spMkLst>
            <pc:docMk/>
            <pc:sldMk cId="4057643359" sldId="282"/>
            <ac:spMk id="3" creationId="{9E81DC7F-B177-61B4-D120-F3E62FBA6232}"/>
          </ac:spMkLst>
        </pc:spChg>
      </pc:sldChg>
      <pc:sldChg chg="add del">
        <pc:chgData name="Jonathan Mah" userId="5261b2f2f3e51194" providerId="LiveId" clId="{DB9BCF8B-E91B-491C-8171-92D39BBC1534}" dt="2025-10-29T16:13:31.986" v="84" actId="47"/>
        <pc:sldMkLst>
          <pc:docMk/>
          <pc:sldMk cId="2461029206" sldId="283"/>
        </pc:sldMkLst>
      </pc:sldChg>
      <pc:sldChg chg="modSp add mod">
        <pc:chgData name="Jonathan Mah" userId="5261b2f2f3e51194" providerId="LiveId" clId="{DB9BCF8B-E91B-491C-8171-92D39BBC1534}" dt="2025-10-29T16:15:13.599" v="201" actId="14100"/>
        <pc:sldMkLst>
          <pc:docMk/>
          <pc:sldMk cId="3825104854" sldId="283"/>
        </pc:sldMkLst>
        <pc:spChg chg="mod">
          <ac:chgData name="Jonathan Mah" userId="5261b2f2f3e51194" providerId="LiveId" clId="{DB9BCF8B-E91B-491C-8171-92D39BBC1534}" dt="2025-10-29T16:15:13.599" v="201" actId="14100"/>
          <ac:spMkLst>
            <pc:docMk/>
            <pc:sldMk cId="3825104854" sldId="283"/>
            <ac:spMk id="3" creationId="{453C50AF-3B3F-148D-31EF-609990F489D2}"/>
          </ac:spMkLst>
        </pc:spChg>
      </pc:sldChg>
      <pc:sldChg chg="modSp add mod">
        <pc:chgData name="Jonathan Mah" userId="5261b2f2f3e51194" providerId="LiveId" clId="{DB9BCF8B-E91B-491C-8171-92D39BBC1534}" dt="2025-10-29T16:15:23.164" v="263" actId="1036"/>
        <pc:sldMkLst>
          <pc:docMk/>
          <pc:sldMk cId="1923374833" sldId="284"/>
        </pc:sldMkLst>
        <pc:spChg chg="mod">
          <ac:chgData name="Jonathan Mah" userId="5261b2f2f3e51194" providerId="LiveId" clId="{DB9BCF8B-E91B-491C-8171-92D39BBC1534}" dt="2025-10-29T16:15:23.164" v="263" actId="1036"/>
          <ac:spMkLst>
            <pc:docMk/>
            <pc:sldMk cId="1923374833" sldId="284"/>
            <ac:spMk id="3" creationId="{3779ABE6-BC78-E7AA-1151-8E81FAAF3C1F}"/>
          </ac:spMkLst>
        </pc:spChg>
      </pc:sldChg>
      <pc:sldChg chg="addSp delSp modSp add mod">
        <pc:chgData name="Jonathan Mah" userId="5261b2f2f3e51194" providerId="LiveId" clId="{DB9BCF8B-E91B-491C-8171-92D39BBC1534}" dt="2025-10-29T16:16:41.179" v="277" actId="14100"/>
        <pc:sldMkLst>
          <pc:docMk/>
          <pc:sldMk cId="858095048" sldId="285"/>
        </pc:sldMkLst>
        <pc:spChg chg="del">
          <ac:chgData name="Jonathan Mah" userId="5261b2f2f3e51194" providerId="LiveId" clId="{DB9BCF8B-E91B-491C-8171-92D39BBC1534}" dt="2025-10-29T16:16:07.884" v="270" actId="478"/>
          <ac:spMkLst>
            <pc:docMk/>
            <pc:sldMk cId="858095048" sldId="285"/>
            <ac:spMk id="3" creationId="{87525807-A55B-147D-A318-7EDD98A6B034}"/>
          </ac:spMkLst>
        </pc:spChg>
        <pc:spChg chg="add mod">
          <ac:chgData name="Jonathan Mah" userId="5261b2f2f3e51194" providerId="LiveId" clId="{DB9BCF8B-E91B-491C-8171-92D39BBC1534}" dt="2025-10-29T16:16:41.179" v="277" actId="14100"/>
          <ac:spMkLst>
            <pc:docMk/>
            <pc:sldMk cId="858095048" sldId="285"/>
            <ac:spMk id="4" creationId="{829D75DB-0791-7A45-575C-D981EFB8E4FB}"/>
          </ac:spMkLst>
        </pc:spChg>
        <pc:picChg chg="mod modCrop">
          <ac:chgData name="Jonathan Mah" userId="5261b2f2f3e51194" providerId="LiveId" clId="{DB9BCF8B-E91B-491C-8171-92D39BBC1534}" dt="2025-10-29T16:16:29.938" v="274" actId="1076"/>
          <ac:picMkLst>
            <pc:docMk/>
            <pc:sldMk cId="858095048" sldId="285"/>
            <ac:picMk id="5" creationId="{74B06DC8-9D7C-F336-C1E7-E6E434B771F3}"/>
          </ac:picMkLst>
        </pc:picChg>
        <pc:picChg chg="mod modCrop">
          <ac:chgData name="Jonathan Mah" userId="5261b2f2f3e51194" providerId="LiveId" clId="{DB9BCF8B-E91B-491C-8171-92D39BBC1534}" dt="2025-10-29T16:16:05.440" v="269" actId="1076"/>
          <ac:picMkLst>
            <pc:docMk/>
            <pc:sldMk cId="858095048" sldId="285"/>
            <ac:picMk id="6" creationId="{59833184-44C7-F5D6-04FD-627E11AD08D2}"/>
          </ac:picMkLst>
        </pc:picChg>
      </pc:sldChg>
      <pc:sldChg chg="modSp add mod">
        <pc:chgData name="Jonathan Mah" userId="5261b2f2f3e51194" providerId="LiveId" clId="{DB9BCF8B-E91B-491C-8171-92D39BBC1534}" dt="2025-10-29T16:16:55.387" v="281" actId="14100"/>
        <pc:sldMkLst>
          <pc:docMk/>
          <pc:sldMk cId="452414961" sldId="286"/>
        </pc:sldMkLst>
        <pc:spChg chg="mod">
          <ac:chgData name="Jonathan Mah" userId="5261b2f2f3e51194" providerId="LiveId" clId="{DB9BCF8B-E91B-491C-8171-92D39BBC1534}" dt="2025-10-29T16:16:55.387" v="281" actId="14100"/>
          <ac:spMkLst>
            <pc:docMk/>
            <pc:sldMk cId="452414961" sldId="286"/>
            <ac:spMk id="4" creationId="{CF85924E-A2C1-4AE8-4F86-E718A593E020}"/>
          </ac:spMkLst>
        </pc:spChg>
      </pc:sldChg>
      <pc:sldChg chg="addSp delSp modSp new mod modNotesTx">
        <pc:chgData name="Jonathan Mah" userId="5261b2f2f3e51194" providerId="LiveId" clId="{DB9BCF8B-E91B-491C-8171-92D39BBC1534}" dt="2025-10-29T17:58:58.718" v="1705" actId="20577"/>
        <pc:sldMkLst>
          <pc:docMk/>
          <pc:sldMk cId="2157627388" sldId="287"/>
        </pc:sldMkLst>
        <pc:spChg chg="mod">
          <ac:chgData name="Jonathan Mah" userId="5261b2f2f3e51194" providerId="LiveId" clId="{DB9BCF8B-E91B-491C-8171-92D39BBC1534}" dt="2025-10-29T16:18:58.747" v="404" actId="20577"/>
          <ac:spMkLst>
            <pc:docMk/>
            <pc:sldMk cId="2157627388" sldId="287"/>
            <ac:spMk id="2" creationId="{3101163A-2B5D-B9C6-3F6C-A4BCFCF6EBC8}"/>
          </ac:spMkLst>
        </pc:spChg>
        <pc:spChg chg="del">
          <ac:chgData name="Jonathan Mah" userId="5261b2f2f3e51194" providerId="LiveId" clId="{DB9BCF8B-E91B-491C-8171-92D39BBC1534}" dt="2025-10-29T16:19:02.061" v="405" actId="478"/>
          <ac:spMkLst>
            <pc:docMk/>
            <pc:sldMk cId="2157627388" sldId="287"/>
            <ac:spMk id="3" creationId="{CC3F5CBC-2C8D-46AF-7865-00F18D692F46}"/>
          </ac:spMkLst>
        </pc:spChg>
        <pc:picChg chg="add mod">
          <ac:chgData name="Jonathan Mah" userId="5261b2f2f3e51194" providerId="LiveId" clId="{DB9BCF8B-E91B-491C-8171-92D39BBC1534}" dt="2025-10-29T16:19:09.731" v="409" actId="1076"/>
          <ac:picMkLst>
            <pc:docMk/>
            <pc:sldMk cId="2157627388" sldId="287"/>
            <ac:picMk id="5" creationId="{45989E6F-04FF-7090-A838-81AE305A884B}"/>
          </ac:picMkLst>
        </pc:picChg>
      </pc:sldChg>
      <pc:sldChg chg="modSp new del mod">
        <pc:chgData name="Jonathan Mah" userId="5261b2f2f3e51194" providerId="LiveId" clId="{DB9BCF8B-E91B-491C-8171-92D39BBC1534}" dt="2025-10-29T16:45:27.470" v="522" actId="47"/>
        <pc:sldMkLst>
          <pc:docMk/>
          <pc:sldMk cId="2544667207" sldId="288"/>
        </pc:sldMkLst>
        <pc:spChg chg="mod">
          <ac:chgData name="Jonathan Mah" userId="5261b2f2f3e51194" providerId="LiveId" clId="{DB9BCF8B-E91B-491C-8171-92D39BBC1534}" dt="2025-10-29T16:35:43.884" v="514" actId="20577"/>
          <ac:spMkLst>
            <pc:docMk/>
            <pc:sldMk cId="2544667207" sldId="288"/>
            <ac:spMk id="2" creationId="{75459F4F-02B3-7F7F-66B4-B7FCC8FC366B}"/>
          </ac:spMkLst>
        </pc:spChg>
      </pc:sldChg>
      <pc:sldChg chg="add del">
        <pc:chgData name="Jonathan Mah" userId="5261b2f2f3e51194" providerId="LiveId" clId="{DB9BCF8B-E91B-491C-8171-92D39BBC1534}" dt="2025-10-29T16:45:27.862" v="523" actId="47"/>
        <pc:sldMkLst>
          <pc:docMk/>
          <pc:sldMk cId="738131211" sldId="289"/>
        </pc:sldMkLst>
      </pc:sldChg>
      <pc:sldChg chg="add del">
        <pc:chgData name="Jonathan Mah" userId="5261b2f2f3e51194" providerId="LiveId" clId="{DB9BCF8B-E91B-491C-8171-92D39BBC1534}" dt="2025-10-29T16:45:28.263" v="524" actId="47"/>
        <pc:sldMkLst>
          <pc:docMk/>
          <pc:sldMk cId="1705734731" sldId="290"/>
        </pc:sldMkLst>
      </pc:sldChg>
      <pc:sldChg chg="add del">
        <pc:chgData name="Jonathan Mah" userId="5261b2f2f3e51194" providerId="LiveId" clId="{DB9BCF8B-E91B-491C-8171-92D39BBC1534}" dt="2025-10-29T16:45:29.447" v="525" actId="47"/>
        <pc:sldMkLst>
          <pc:docMk/>
          <pc:sldMk cId="232401744" sldId="291"/>
        </pc:sldMkLst>
      </pc:sldChg>
      <pc:sldChg chg="add del">
        <pc:chgData name="Jonathan Mah" userId="5261b2f2f3e51194" providerId="LiveId" clId="{DB9BCF8B-E91B-491C-8171-92D39BBC1534}" dt="2025-10-29T16:45:29.622" v="526" actId="47"/>
        <pc:sldMkLst>
          <pc:docMk/>
          <pc:sldMk cId="3391892535" sldId="292"/>
        </pc:sldMkLst>
      </pc:sldChg>
      <pc:sldChg chg="add del">
        <pc:chgData name="Jonathan Mah" userId="5261b2f2f3e51194" providerId="LiveId" clId="{DB9BCF8B-E91B-491C-8171-92D39BBC1534}" dt="2025-10-29T16:45:30.774" v="527" actId="47"/>
        <pc:sldMkLst>
          <pc:docMk/>
          <pc:sldMk cId="4106770564" sldId="293"/>
        </pc:sldMkLst>
      </pc:sldChg>
      <pc:sldChg chg="add del">
        <pc:chgData name="Jonathan Mah" userId="5261b2f2f3e51194" providerId="LiveId" clId="{DB9BCF8B-E91B-491C-8171-92D39BBC1534}" dt="2025-10-29T16:45:31.505" v="528" actId="47"/>
        <pc:sldMkLst>
          <pc:docMk/>
          <pc:sldMk cId="389775563" sldId="294"/>
        </pc:sldMkLst>
      </pc:sldChg>
      <pc:sldChg chg="add del">
        <pc:chgData name="Jonathan Mah" userId="5261b2f2f3e51194" providerId="LiveId" clId="{DB9BCF8B-E91B-491C-8171-92D39BBC1534}" dt="2025-10-29T16:45:32.196" v="529" actId="47"/>
        <pc:sldMkLst>
          <pc:docMk/>
          <pc:sldMk cId="1283015497"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366000" y="0"/>
            <a:ext cx="5635625" cy="488950"/>
          </a:xfrm>
          <a:prstGeom prst="rect">
            <a:avLst/>
          </a:prstGeom>
        </p:spPr>
        <p:txBody>
          <a:bodyPr vert="horz" lIns="91440" tIns="45720" rIns="91440" bIns="45720" rtlCol="0"/>
          <a:lstStyle>
            <a:lvl1pPr algn="r">
              <a:defRPr sz="1200"/>
            </a:lvl1pPr>
          </a:lstStyle>
          <a:p>
            <a:fld id="{ECB849DA-4571-48AE-B108-B012171980BD}" type="datetimeFigureOut">
              <a:rPr lang="en-US" smtClean="0"/>
              <a:t>10/29/2025</a:t>
            </a:fld>
            <a:endParaRPr lang="en-US"/>
          </a:p>
        </p:txBody>
      </p:sp>
      <p:sp>
        <p:nvSpPr>
          <p:cNvPr id="4" name="Slide Image Placeholder 3"/>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563562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366000" y="9264650"/>
            <a:ext cx="5635625" cy="488950"/>
          </a:xfrm>
          <a:prstGeom prst="rect">
            <a:avLst/>
          </a:prstGeom>
        </p:spPr>
        <p:txBody>
          <a:bodyPr vert="horz" lIns="91440" tIns="45720" rIns="91440" bIns="45720" rtlCol="0" anchor="b"/>
          <a:lstStyle>
            <a:lvl1pPr algn="r">
              <a:defRPr sz="1200"/>
            </a:lvl1pPr>
          </a:lstStyle>
          <a:p>
            <a:fld id="{599CC9A3-A707-4B34-82D4-E64BA4C5A8D1}" type="slidenum">
              <a:rPr lang="en-US" smtClean="0"/>
              <a:t>‹#›</a:t>
            </a:fld>
            <a:endParaRPr lang="en-US"/>
          </a:p>
        </p:txBody>
      </p:sp>
    </p:spTree>
    <p:extLst>
      <p:ext uri="{BB962C8B-B14F-4D97-AF65-F5344CB8AC3E}">
        <p14:creationId xmlns:p14="http://schemas.microsoft.com/office/powerpoint/2010/main" val="376042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How’s it going guys, gals, and non-binary pals, my name is Jonathan Mah, I’m a Bioinformatics Doctoral candidate here at UCLA co-advised by Professor Kirk Lohmueller and Professor Nandita Garud, and time permitted, today I’ll be talking about my #soon to be submitted work investigating how the number of individuals in a data set can influence the evolutionary stories that we infer from population genetic data.</a:t>
            </a:r>
          </a:p>
        </p:txBody>
      </p:sp>
      <p:sp>
        <p:nvSpPr>
          <p:cNvPr id="4" name="Slide Number Placeholder 3"/>
          <p:cNvSpPr>
            <a:spLocks noGrp="1"/>
          </p:cNvSpPr>
          <p:nvPr>
            <p:ph type="sldNum" sz="quarter" idx="5"/>
          </p:nvPr>
        </p:nvSpPr>
        <p:spPr/>
        <p:txBody>
          <a:bodyPr/>
          <a:lstStyle/>
          <a:p>
            <a:fld id="{599CC9A3-A707-4B34-82D4-E64BA4C5A8D1}" type="slidenum">
              <a:rPr lang="en-US" smtClean="0"/>
              <a:t>1</a:t>
            </a:fld>
            <a:endParaRPr lang="en-US" dirty="0"/>
          </a:p>
        </p:txBody>
      </p:sp>
    </p:spTree>
    <p:extLst>
      <p:ext uri="{BB962C8B-B14F-4D97-AF65-F5344CB8AC3E}">
        <p14:creationId xmlns:p14="http://schemas.microsoft.com/office/powerpoint/2010/main" val="196592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B144C-E413-E999-1E9D-49D9BE518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09C0A-8010-10E8-F6EF-57939CD66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61FC2-E3D1-6EF2-6663-1EDE14DA2036}"/>
              </a:ext>
            </a:extLst>
          </p:cNvPr>
          <p:cNvSpPr>
            <a:spLocks noGrp="1"/>
          </p:cNvSpPr>
          <p:nvPr>
            <p:ph type="body" idx="1"/>
          </p:nvPr>
        </p:nvSpPr>
        <p:spPr/>
        <p:txBody>
          <a:bodyPr/>
          <a:lstStyle/>
          <a:p>
            <a:r>
              <a:rPr lang="en-US" dirty="0"/>
              <a:t>How’s it going guys, gals, and non-binary pals, my name is Jonathan Mah, I’m a Bioinformatics Doctoral candidate here at UCLA co-advised by Professor Kirk Lohmueller and Professor Nandita Garud, and time permitted, today I’ll be talking about my #soon to be submitted work investigating how the number of individuals in a data set can influence the evolutionary stories that we infer from population genetic data.</a:t>
            </a:r>
          </a:p>
        </p:txBody>
      </p:sp>
      <p:sp>
        <p:nvSpPr>
          <p:cNvPr id="4" name="Slide Number Placeholder 3">
            <a:extLst>
              <a:ext uri="{FF2B5EF4-FFF2-40B4-BE49-F238E27FC236}">
                <a16:creationId xmlns:a16="http://schemas.microsoft.com/office/drawing/2014/main" id="{2D2B8AAA-8F99-EE30-0C50-75ECA8B8E18A}"/>
              </a:ext>
            </a:extLst>
          </p:cNvPr>
          <p:cNvSpPr>
            <a:spLocks noGrp="1"/>
          </p:cNvSpPr>
          <p:nvPr>
            <p:ph type="sldNum" sz="quarter" idx="5"/>
          </p:nvPr>
        </p:nvSpPr>
        <p:spPr/>
        <p:txBody>
          <a:bodyPr/>
          <a:lstStyle/>
          <a:p>
            <a:fld id="{599CC9A3-A707-4B34-82D4-E64BA4C5A8D1}" type="slidenum">
              <a:rPr lang="en-US" smtClean="0"/>
              <a:t>2</a:t>
            </a:fld>
            <a:endParaRPr lang="en-US" dirty="0"/>
          </a:p>
        </p:txBody>
      </p:sp>
    </p:spTree>
    <p:extLst>
      <p:ext uri="{BB962C8B-B14F-4D97-AF65-F5344CB8AC3E}">
        <p14:creationId xmlns:p14="http://schemas.microsoft.com/office/powerpoint/2010/main" val="1704891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 particular interest in the case of complex demographic histories, such as the story of modern human populations. Here on the top I show the classic Tennessen demographic model for human demographic history, which consists of two bottleneck events and then a population demographic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3</a:t>
            </a:fld>
            <a:endParaRPr lang="en-US"/>
          </a:p>
        </p:txBody>
      </p:sp>
    </p:spTree>
    <p:extLst>
      <p:ext uri="{BB962C8B-B14F-4D97-AF65-F5344CB8AC3E}">
        <p14:creationId xmlns:p14="http://schemas.microsoft.com/office/powerpoint/2010/main" val="3311405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B680-8081-8E3A-9178-534380385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87311-F82B-29D3-DAC0-6201BAD65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7E25E-86A4-653D-6C15-2AB7D54F3C54}"/>
              </a:ext>
            </a:extLst>
          </p:cNvPr>
          <p:cNvSpPr>
            <a:spLocks noGrp="1"/>
          </p:cNvSpPr>
          <p:nvPr>
            <p:ph type="body" idx="1"/>
          </p:nvPr>
        </p:nvSpPr>
        <p:spPr/>
        <p:txBody>
          <a:bodyPr/>
          <a:lstStyle/>
          <a:p>
            <a:r>
              <a:rPr lang="en-US" dirty="0"/>
              <a:t>However, in part due to a need for computational feasibility, the standard approach in population genetics is to fit simpler demographic models which capture the most important evolutionary signals. As an example, here on the top right I show a three-epoch model, which consists of two instantaneous size changes, and a two-epoch demographic model which consists of a single instantaneous size change. Neither of these models will ever fully capture the intricacies of true history, but as we like to say in statistics: all models are wrong, but some useful.</a:t>
            </a:r>
          </a:p>
        </p:txBody>
      </p:sp>
      <p:sp>
        <p:nvSpPr>
          <p:cNvPr id="4" name="Slide Number Placeholder 3">
            <a:extLst>
              <a:ext uri="{FF2B5EF4-FFF2-40B4-BE49-F238E27FC236}">
                <a16:creationId xmlns:a16="http://schemas.microsoft.com/office/drawing/2014/main" id="{3251FD9A-3515-A69C-2F1C-970B12EF1B6B}"/>
              </a:ext>
            </a:extLst>
          </p:cNvPr>
          <p:cNvSpPr>
            <a:spLocks noGrp="1"/>
          </p:cNvSpPr>
          <p:nvPr>
            <p:ph type="sldNum" sz="quarter" idx="5"/>
          </p:nvPr>
        </p:nvSpPr>
        <p:spPr/>
        <p:txBody>
          <a:bodyPr/>
          <a:lstStyle/>
          <a:p>
            <a:fld id="{599CC9A3-A707-4B34-82D4-E64BA4C5A8D1}" type="slidenum">
              <a:rPr lang="en-US" smtClean="0"/>
              <a:t>4</a:t>
            </a:fld>
            <a:endParaRPr lang="en-US"/>
          </a:p>
        </p:txBody>
      </p:sp>
    </p:spTree>
    <p:extLst>
      <p:ext uri="{BB962C8B-B14F-4D97-AF65-F5344CB8AC3E}">
        <p14:creationId xmlns:p14="http://schemas.microsoft.com/office/powerpoint/2010/main" val="1808917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CF0-7F69-E145-869B-8F53CAC71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68D23-1E71-4B88-B00F-BC79F9F55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38D32-5665-4727-9A65-BC918FA58D63}"/>
              </a:ext>
            </a:extLst>
          </p:cNvPr>
          <p:cNvSpPr>
            <a:spLocks noGrp="1"/>
          </p:cNvSpPr>
          <p:nvPr>
            <p:ph type="body" idx="1"/>
          </p:nvPr>
        </p:nvSpPr>
        <p:spPr/>
        <p:txBody>
          <a:bodyPr/>
          <a:lstStyle/>
          <a:p>
            <a:r>
              <a:rPr lang="en-US" dirty="0"/>
              <a:t>The motivation for our study comes from work by Kryukov et al. 2008 and </a:t>
            </a:r>
            <a:r>
              <a:rPr lang="en-US" dirty="0" err="1"/>
              <a:t>Gazave</a:t>
            </a:r>
            <a:r>
              <a:rPr lang="en-US" dirty="0"/>
              <a:t> et al. 2014 in which these studies essentially found that when analyzing either empirical or simulated human data sets, different evolutionary signals are inferred from a two-epoch model depending on the number of individuals. We sought to investigate this further by more closely evaluating the outcomes of two-epoch demographic model inference while varying the number of individuals analyzed.</a:t>
            </a:r>
          </a:p>
        </p:txBody>
      </p:sp>
      <p:sp>
        <p:nvSpPr>
          <p:cNvPr id="4" name="Slide Number Placeholder 3">
            <a:extLst>
              <a:ext uri="{FF2B5EF4-FFF2-40B4-BE49-F238E27FC236}">
                <a16:creationId xmlns:a16="http://schemas.microsoft.com/office/drawing/2014/main" id="{46E09B6A-B9F8-C01A-BE8E-010E060AD915}"/>
              </a:ext>
            </a:extLst>
          </p:cNvPr>
          <p:cNvSpPr>
            <a:spLocks noGrp="1"/>
          </p:cNvSpPr>
          <p:nvPr>
            <p:ph type="sldNum" sz="quarter" idx="5"/>
          </p:nvPr>
        </p:nvSpPr>
        <p:spPr/>
        <p:txBody>
          <a:bodyPr/>
          <a:lstStyle/>
          <a:p>
            <a:fld id="{599CC9A3-A707-4B34-82D4-E64BA4C5A8D1}" type="slidenum">
              <a:rPr lang="en-US" smtClean="0"/>
              <a:t>5</a:t>
            </a:fld>
            <a:endParaRPr lang="en-US"/>
          </a:p>
        </p:txBody>
      </p:sp>
    </p:spTree>
    <p:extLst>
      <p:ext uri="{BB962C8B-B14F-4D97-AF65-F5344CB8AC3E}">
        <p14:creationId xmlns:p14="http://schemas.microsoft.com/office/powerpoint/2010/main" val="2848393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let’s put this in the Discussion section (specifically the coalescent part)</a:t>
            </a:r>
          </a:p>
          <a:p>
            <a:endParaRPr lang="en-US" dirty="0"/>
          </a:p>
          <a:p>
            <a:r>
              <a:rPr lang="en-US" dirty="0"/>
              <a:t>Change the label on the three-epoch schematic to “true”  demography or something like that</a:t>
            </a:r>
          </a:p>
          <a:p>
            <a:endParaRPr lang="en-US" dirty="0"/>
          </a:p>
          <a:p>
            <a:r>
              <a:rPr lang="en-US" dirty="0"/>
              <a:t>Change the label on the two-epoch schematic to “assumed” two epoch per model</a:t>
            </a:r>
          </a:p>
          <a:p>
            <a:endParaRPr lang="en-US" dirty="0"/>
          </a:p>
          <a:p>
            <a:r>
              <a:rPr lang="en-US" dirty="0"/>
              <a:t>Emma suggestion for legibility: Workflow diagram from three-epoch to two two-epoch models</a:t>
            </a:r>
          </a:p>
          <a:p>
            <a:endParaRPr lang="en-US" dirty="0"/>
          </a:p>
          <a:p>
            <a:r>
              <a:rPr lang="en-US" dirty="0"/>
              <a:t>On the right we can put N=5 and N=100 or something, e.g., small and large population size</a:t>
            </a:r>
          </a:p>
          <a:p>
            <a:endParaRPr lang="en-US" dirty="0"/>
          </a:p>
          <a:p>
            <a:r>
              <a:rPr lang="en-US" dirty="0"/>
              <a:t>Sneha suggestion for intro figure: can we do a 2x2 table for like true/false positive signal – what signal are we trying to pick up on?</a:t>
            </a:r>
          </a:p>
          <a:p>
            <a:endParaRPr lang="en-US" dirty="0"/>
          </a:p>
          <a:p>
            <a:r>
              <a:rPr lang="en-US" dirty="0"/>
              <a:t>Time interval vs. branch length illustrations</a:t>
            </a:r>
          </a:p>
          <a:p>
            <a:pPr marL="171450" indent="-171450">
              <a:buFont typeface="Arial" panose="020B0604020202020204" pitchFamily="34" charset="0"/>
              <a:buChar char="•"/>
            </a:pPr>
            <a:r>
              <a:rPr lang="en-US" dirty="0"/>
              <a:t>Cute thing with branch lengths summation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99CC9A3-A707-4B34-82D4-E64BA4C5A8D1}" type="slidenum">
              <a:rPr lang="en-US" smtClean="0"/>
              <a:t>6</a:t>
            </a:fld>
            <a:endParaRPr lang="en-US"/>
          </a:p>
        </p:txBody>
      </p:sp>
    </p:spTree>
    <p:extLst>
      <p:ext uri="{BB962C8B-B14F-4D97-AF65-F5344CB8AC3E}">
        <p14:creationId xmlns:p14="http://schemas.microsoft.com/office/powerpoint/2010/main" val="1706472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D760-764A-91D8-CCFC-4CE14B4C2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28C04-B15F-0B4B-B1B4-7A79A5168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50263-0115-4749-9F7F-CCF23A8446B0}"/>
              </a:ext>
            </a:extLst>
          </p:cNvPr>
          <p:cNvSpPr>
            <a:spLocks noGrp="1"/>
          </p:cNvSpPr>
          <p:nvPr>
            <p:ph type="body" idx="1"/>
          </p:nvPr>
        </p:nvSpPr>
        <p:spPr/>
        <p:txBody>
          <a:bodyPr/>
          <a:lstStyle/>
          <a:p>
            <a:r>
              <a:rPr lang="en-US" dirty="0"/>
              <a:t>We started by simulating a three-epoch bottleneck scenario consisting of an ancient contraction and a recent expansion, generally matching the pattern of human demographic history. We simulated this scenario using two different software packages: Dadi shown in blue and </a:t>
            </a:r>
            <a:r>
              <a:rPr lang="en-US" dirty="0" err="1"/>
              <a:t>MSPrime</a:t>
            </a:r>
            <a:r>
              <a:rPr lang="en-US" dirty="0"/>
              <a:t> shown in yellow. As is standard in population genetics, we then fit a simple two-epoch model to determine whether the ancient contraction or the recent expansion was the dominant evolutionary signal.</a:t>
            </a:r>
          </a:p>
          <a:p>
            <a:endParaRPr lang="en-US" dirty="0"/>
          </a:p>
          <a:p>
            <a:r>
              <a:rPr lang="en-US" dirty="0"/>
              <a:t>Here I show on the x-axis the number of individuals analyzed in the dataset, while on the y-axis I respectively show the ratio of current to ancestral population size, the timing of the inferred instantaneous size change given in units of generations per 2NAncestral, and Tajima’s D.</a:t>
            </a:r>
          </a:p>
        </p:txBody>
      </p:sp>
      <p:sp>
        <p:nvSpPr>
          <p:cNvPr id="4" name="Slide Number Placeholder 3">
            <a:extLst>
              <a:ext uri="{FF2B5EF4-FFF2-40B4-BE49-F238E27FC236}">
                <a16:creationId xmlns:a16="http://schemas.microsoft.com/office/drawing/2014/main" id="{67A69D2D-EC3B-6A6A-738A-655E1D91CD6F}"/>
              </a:ext>
            </a:extLst>
          </p:cNvPr>
          <p:cNvSpPr>
            <a:spLocks noGrp="1"/>
          </p:cNvSpPr>
          <p:nvPr>
            <p:ph type="sldNum" sz="quarter" idx="5"/>
          </p:nvPr>
        </p:nvSpPr>
        <p:spPr/>
        <p:txBody>
          <a:bodyPr/>
          <a:lstStyle/>
          <a:p>
            <a:fld id="{599CC9A3-A707-4B34-82D4-E64BA4C5A8D1}" type="slidenum">
              <a:rPr lang="en-US" smtClean="0"/>
              <a:t>7</a:t>
            </a:fld>
            <a:endParaRPr lang="en-US"/>
          </a:p>
        </p:txBody>
      </p:sp>
    </p:spTree>
    <p:extLst>
      <p:ext uri="{BB962C8B-B14F-4D97-AF65-F5344CB8AC3E}">
        <p14:creationId xmlns:p14="http://schemas.microsoft.com/office/powerpoint/2010/main" val="4145390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98F4-DAD5-867F-5FCC-E61358EF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C04F8-3920-05A1-69D9-C2E1BAB76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E6328-D487-0785-DBAA-5B03A94C4A0D}"/>
              </a:ext>
            </a:extLst>
          </p:cNvPr>
          <p:cNvSpPr>
            <a:spLocks noGrp="1"/>
          </p:cNvSpPr>
          <p:nvPr>
            <p:ph type="body" idx="1"/>
          </p:nvPr>
        </p:nvSpPr>
        <p:spPr/>
        <p:txBody>
          <a:bodyPr/>
          <a:lstStyle/>
          <a:p>
            <a:r>
              <a:rPr lang="en-US" dirty="0"/>
              <a:t>Here I show on the x-axis the number of individuals analyzed in the dataset, while on the y-axis I respectively show the ratio of current to ancestral population size, the timing of the inferred instantaneous size change, and Tajima’s D.</a:t>
            </a:r>
          </a:p>
        </p:txBody>
      </p:sp>
      <p:sp>
        <p:nvSpPr>
          <p:cNvPr id="4" name="Slide Number Placeholder 3">
            <a:extLst>
              <a:ext uri="{FF2B5EF4-FFF2-40B4-BE49-F238E27FC236}">
                <a16:creationId xmlns:a16="http://schemas.microsoft.com/office/drawing/2014/main" id="{6A42A2B1-AA09-7405-71D3-D0EF98B16D23}"/>
              </a:ext>
            </a:extLst>
          </p:cNvPr>
          <p:cNvSpPr>
            <a:spLocks noGrp="1"/>
          </p:cNvSpPr>
          <p:nvPr>
            <p:ph type="sldNum" sz="quarter" idx="5"/>
          </p:nvPr>
        </p:nvSpPr>
        <p:spPr/>
        <p:txBody>
          <a:bodyPr/>
          <a:lstStyle/>
          <a:p>
            <a:fld id="{599CC9A3-A707-4B34-82D4-E64BA4C5A8D1}" type="slidenum">
              <a:rPr lang="en-US" smtClean="0"/>
              <a:t>8</a:t>
            </a:fld>
            <a:endParaRPr lang="en-US"/>
          </a:p>
        </p:txBody>
      </p:sp>
    </p:spTree>
    <p:extLst>
      <p:ext uri="{BB962C8B-B14F-4D97-AF65-F5344CB8AC3E}">
        <p14:creationId xmlns:p14="http://schemas.microsoft.com/office/powerpoint/2010/main" val="3397917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8FB2-ACB8-AC80-7658-0D179966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A8D82-F26F-9C18-AAED-A1028D215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D8A16-D789-E413-AA94-F4575C0AC41F}"/>
              </a:ext>
            </a:extLst>
          </p:cNvPr>
          <p:cNvSpPr>
            <a:spLocks noGrp="1"/>
          </p:cNvSpPr>
          <p:nvPr>
            <p:ph type="body" idx="1"/>
          </p:nvPr>
        </p:nvSpPr>
        <p:spPr/>
        <p:txBody>
          <a:bodyPr/>
          <a:lstStyle/>
          <a:p>
            <a:r>
              <a:rPr lang="en-US" dirty="0"/>
              <a:t>First I want to draw your attention to this top left panel. The dotted black line indicates a ratio of 1; thus, data below the line indicates a population contraction, while data above the line indicates a population expansion. Notably, the dominant inferred signal for both simulations does indeed change from a contraction to an expansion.</a:t>
            </a:r>
          </a:p>
          <a:p>
            <a:endParaRPr lang="en-US" dirty="0"/>
          </a:p>
          <a:p>
            <a:r>
              <a:rPr lang="en-US" dirty="0"/>
              <a:t>Swetha suggestion: simplify description</a:t>
            </a:r>
          </a:p>
          <a:p>
            <a:r>
              <a:rPr lang="en-US" dirty="0"/>
              <a:t>Kirk: only show </a:t>
            </a:r>
            <a:r>
              <a:rPr lang="en-US" dirty="0" err="1"/>
              <a:t>MSPrime</a:t>
            </a:r>
            <a:r>
              <a:rPr lang="en-US" dirty="0"/>
              <a:t> data</a:t>
            </a:r>
          </a:p>
          <a:p>
            <a:endParaRPr lang="en-US" dirty="0"/>
          </a:p>
        </p:txBody>
      </p:sp>
      <p:sp>
        <p:nvSpPr>
          <p:cNvPr id="4" name="Slide Number Placeholder 3">
            <a:extLst>
              <a:ext uri="{FF2B5EF4-FFF2-40B4-BE49-F238E27FC236}">
                <a16:creationId xmlns:a16="http://schemas.microsoft.com/office/drawing/2014/main" id="{A388C466-6120-6A8E-A3EA-FDBBC49F7766}"/>
              </a:ext>
            </a:extLst>
          </p:cNvPr>
          <p:cNvSpPr>
            <a:spLocks noGrp="1"/>
          </p:cNvSpPr>
          <p:nvPr>
            <p:ph type="sldNum" sz="quarter" idx="5"/>
          </p:nvPr>
        </p:nvSpPr>
        <p:spPr/>
        <p:txBody>
          <a:bodyPr/>
          <a:lstStyle/>
          <a:p>
            <a:fld id="{599CC9A3-A707-4B34-82D4-E64BA4C5A8D1}" type="slidenum">
              <a:rPr lang="en-US" smtClean="0"/>
              <a:t>9</a:t>
            </a:fld>
            <a:endParaRPr lang="en-US"/>
          </a:p>
        </p:txBody>
      </p:sp>
    </p:spTree>
    <p:extLst>
      <p:ext uri="{BB962C8B-B14F-4D97-AF65-F5344CB8AC3E}">
        <p14:creationId xmlns:p14="http://schemas.microsoft.com/office/powerpoint/2010/main" val="1453035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20401-1E54-256D-172B-D5062FB0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86242-C30D-01F8-1445-80EEECF82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1F54D-9DC0-A7D6-C7F2-2411D4A958FE}"/>
              </a:ext>
            </a:extLst>
          </p:cNvPr>
          <p:cNvSpPr>
            <a:spLocks noGrp="1"/>
          </p:cNvSpPr>
          <p:nvPr>
            <p:ph type="body" idx="1"/>
          </p:nvPr>
        </p:nvSpPr>
        <p:spPr/>
        <p:txBody>
          <a:bodyPr/>
          <a:lstStyle/>
          <a:p>
            <a:r>
              <a:rPr lang="en-US" dirty="0"/>
              <a:t>Furthermore, this middle panel on the left also tells a story about how the timing of the inferred population size change is ancient for a lower number of individuals analyzed and more generally more recent for a higher number of individuals analyzed</a:t>
            </a:r>
          </a:p>
          <a:p>
            <a:endParaRPr lang="en-US" dirty="0"/>
          </a:p>
        </p:txBody>
      </p:sp>
      <p:sp>
        <p:nvSpPr>
          <p:cNvPr id="4" name="Slide Number Placeholder 3">
            <a:extLst>
              <a:ext uri="{FF2B5EF4-FFF2-40B4-BE49-F238E27FC236}">
                <a16:creationId xmlns:a16="http://schemas.microsoft.com/office/drawing/2014/main" id="{E37F0399-2B80-34D6-C954-93070835895E}"/>
              </a:ext>
            </a:extLst>
          </p:cNvPr>
          <p:cNvSpPr>
            <a:spLocks noGrp="1"/>
          </p:cNvSpPr>
          <p:nvPr>
            <p:ph type="sldNum" sz="quarter" idx="5"/>
          </p:nvPr>
        </p:nvSpPr>
        <p:spPr/>
        <p:txBody>
          <a:bodyPr/>
          <a:lstStyle/>
          <a:p>
            <a:fld id="{599CC9A3-A707-4B34-82D4-E64BA4C5A8D1}" type="slidenum">
              <a:rPr lang="en-US" smtClean="0"/>
              <a:t>10</a:t>
            </a:fld>
            <a:endParaRPr lang="en-US"/>
          </a:p>
        </p:txBody>
      </p:sp>
    </p:spTree>
    <p:extLst>
      <p:ext uri="{BB962C8B-B14F-4D97-AF65-F5344CB8AC3E}">
        <p14:creationId xmlns:p14="http://schemas.microsoft.com/office/powerpoint/2010/main" val="1351332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19F4-1497-AC44-3FFB-50FDA332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16701-49C0-E8D4-F159-88A4FE846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F3CEE-0B0A-EEE6-1E92-2830E9B4AA8A}"/>
              </a:ext>
            </a:extLst>
          </p:cNvPr>
          <p:cNvSpPr>
            <a:spLocks noGrp="1"/>
          </p:cNvSpPr>
          <p:nvPr>
            <p:ph type="body" idx="1"/>
          </p:nvPr>
        </p:nvSpPr>
        <p:spPr/>
        <p:txBody>
          <a:bodyPr/>
          <a:lstStyle/>
          <a:p>
            <a:r>
              <a:rPr lang="en-US" dirty="0"/>
              <a:t>Lastly, this bottom left panel indicates that Tajima’s D generally decreases as the number of individuals increases. As a friendly refresher, a positive Tajima’s D would indicate an excess of common variants, potentially suggestive of a contraction, while a negative Tajima’s D would indicate an excess of rare variants, potentially suggestive of an expansion.</a:t>
            </a:r>
          </a:p>
          <a:p>
            <a:endParaRPr lang="en-US" dirty="0"/>
          </a:p>
          <a:p>
            <a:r>
              <a:rPr lang="en-US" dirty="0"/>
              <a:t>Kirk suggestion: plot SNM Tajima’s D</a:t>
            </a:r>
          </a:p>
          <a:p>
            <a:endParaRPr lang="en-US" dirty="0"/>
          </a:p>
          <a:p>
            <a:r>
              <a:rPr lang="en-US" dirty="0"/>
              <a:t>Supplemental figure: demography plots vs. ground truth (polished)</a:t>
            </a:r>
          </a:p>
        </p:txBody>
      </p:sp>
      <p:sp>
        <p:nvSpPr>
          <p:cNvPr id="4" name="Slide Number Placeholder 3">
            <a:extLst>
              <a:ext uri="{FF2B5EF4-FFF2-40B4-BE49-F238E27FC236}">
                <a16:creationId xmlns:a16="http://schemas.microsoft.com/office/drawing/2014/main" id="{8D47CAE4-1D96-D1E1-7FC6-42719E343EDC}"/>
              </a:ext>
            </a:extLst>
          </p:cNvPr>
          <p:cNvSpPr>
            <a:spLocks noGrp="1"/>
          </p:cNvSpPr>
          <p:nvPr>
            <p:ph type="sldNum" sz="quarter" idx="5"/>
          </p:nvPr>
        </p:nvSpPr>
        <p:spPr/>
        <p:txBody>
          <a:bodyPr/>
          <a:lstStyle/>
          <a:p>
            <a:fld id="{599CC9A3-A707-4B34-82D4-E64BA4C5A8D1}" type="slidenum">
              <a:rPr lang="en-US" smtClean="0"/>
              <a:t>11</a:t>
            </a:fld>
            <a:endParaRPr lang="en-US"/>
          </a:p>
        </p:txBody>
      </p:sp>
    </p:spTree>
    <p:extLst>
      <p:ext uri="{BB962C8B-B14F-4D97-AF65-F5344CB8AC3E}">
        <p14:creationId xmlns:p14="http://schemas.microsoft.com/office/powerpoint/2010/main" val="2995073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6828-B6AB-338B-4514-C595EB78B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D30D9-16CD-8E1C-CC85-A26372A06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F766E-DE20-0F02-5CE8-6D818BE219E5}"/>
              </a:ext>
            </a:extLst>
          </p:cNvPr>
          <p:cNvSpPr>
            <a:spLocks noGrp="1"/>
          </p:cNvSpPr>
          <p:nvPr>
            <p:ph type="body" idx="1"/>
          </p:nvPr>
        </p:nvSpPr>
        <p:spPr/>
        <p:txBody>
          <a:bodyPr/>
          <a:lstStyle/>
          <a:p>
            <a:r>
              <a:rPr lang="en-US" dirty="0"/>
              <a:t>Taken together these points all indicate that when analyzing a low number of individuals, two-epoch inference of this scenario captures an ancient contraction, while when analyzing a high number of individuals, two-epoch inference instead captures a recent expansion.</a:t>
            </a:r>
          </a:p>
        </p:txBody>
      </p:sp>
      <p:sp>
        <p:nvSpPr>
          <p:cNvPr id="4" name="Slide Number Placeholder 3">
            <a:extLst>
              <a:ext uri="{FF2B5EF4-FFF2-40B4-BE49-F238E27FC236}">
                <a16:creationId xmlns:a16="http://schemas.microsoft.com/office/drawing/2014/main" id="{32E958DE-45D9-94A1-4DF8-9E4300A10B1E}"/>
              </a:ext>
            </a:extLst>
          </p:cNvPr>
          <p:cNvSpPr>
            <a:spLocks noGrp="1"/>
          </p:cNvSpPr>
          <p:nvPr>
            <p:ph type="sldNum" sz="quarter" idx="5"/>
          </p:nvPr>
        </p:nvSpPr>
        <p:spPr/>
        <p:txBody>
          <a:bodyPr/>
          <a:lstStyle/>
          <a:p>
            <a:fld id="{599CC9A3-A707-4B34-82D4-E64BA4C5A8D1}" type="slidenum">
              <a:rPr lang="en-US" smtClean="0"/>
              <a:t>12</a:t>
            </a:fld>
            <a:endParaRPr lang="en-US"/>
          </a:p>
        </p:txBody>
      </p:sp>
    </p:spTree>
    <p:extLst>
      <p:ext uri="{BB962C8B-B14F-4D97-AF65-F5344CB8AC3E}">
        <p14:creationId xmlns:p14="http://schemas.microsoft.com/office/powerpoint/2010/main" val="3247236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3641C-538E-269C-1462-F0D997570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23F02-975A-7D38-CBBA-7FC75ECF9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8AD86-8EF3-25D0-C7A8-DB9F14856C86}"/>
              </a:ext>
            </a:extLst>
          </p:cNvPr>
          <p:cNvSpPr>
            <a:spLocks noGrp="1"/>
          </p:cNvSpPr>
          <p:nvPr>
            <p:ph type="body" idx="1"/>
          </p:nvPr>
        </p:nvSpPr>
        <p:spPr/>
        <p:txBody>
          <a:bodyPr/>
          <a:lstStyle/>
          <a:p>
            <a:r>
              <a:rPr lang="en-US" dirty="0"/>
              <a:t>Taken together these points all indicate that when analyzing a low number of individuals, two-epoch inference of this scenario captures an ancient contraction, while when analyzing a high number of individuals, two-epoch inference instead captures a recent expansion.</a:t>
            </a:r>
          </a:p>
          <a:p>
            <a:endParaRPr lang="en-US" dirty="0"/>
          </a:p>
          <a:p>
            <a:r>
              <a:rPr lang="en-US" dirty="0"/>
              <a:t>Current to Ancestral</a:t>
            </a:r>
          </a:p>
        </p:txBody>
      </p:sp>
      <p:sp>
        <p:nvSpPr>
          <p:cNvPr id="4" name="Slide Number Placeholder 3">
            <a:extLst>
              <a:ext uri="{FF2B5EF4-FFF2-40B4-BE49-F238E27FC236}">
                <a16:creationId xmlns:a16="http://schemas.microsoft.com/office/drawing/2014/main" id="{8468E2FB-DBD7-306E-7AA8-956135304A71}"/>
              </a:ext>
            </a:extLst>
          </p:cNvPr>
          <p:cNvSpPr>
            <a:spLocks noGrp="1"/>
          </p:cNvSpPr>
          <p:nvPr>
            <p:ph type="sldNum" sz="quarter" idx="5"/>
          </p:nvPr>
        </p:nvSpPr>
        <p:spPr/>
        <p:txBody>
          <a:bodyPr/>
          <a:lstStyle/>
          <a:p>
            <a:fld id="{599CC9A3-A707-4B34-82D4-E64BA4C5A8D1}" type="slidenum">
              <a:rPr lang="en-US" smtClean="0"/>
              <a:t>13</a:t>
            </a:fld>
            <a:endParaRPr lang="en-US"/>
          </a:p>
        </p:txBody>
      </p:sp>
    </p:spTree>
    <p:extLst>
      <p:ext uri="{BB962C8B-B14F-4D97-AF65-F5344CB8AC3E}">
        <p14:creationId xmlns:p14="http://schemas.microsoft.com/office/powerpoint/2010/main" val="3533265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594A-BCFE-99DF-D569-43369FDF2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A2EEC-53B4-4170-81D0-CEC8CB55B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33CDC-D3E4-F72D-581B-EFE054FA3694}"/>
              </a:ext>
            </a:extLst>
          </p:cNvPr>
          <p:cNvSpPr>
            <a:spLocks noGrp="1"/>
          </p:cNvSpPr>
          <p:nvPr>
            <p:ph type="body" idx="1"/>
          </p:nvPr>
        </p:nvSpPr>
        <p:spPr/>
        <p:txBody>
          <a:bodyPr/>
          <a:lstStyle/>
          <a:p>
            <a:r>
              <a:rPr lang="en-US" dirty="0"/>
              <a:t>Taken together these points all indicate that when analyzing a low number of individuals, two-epoch inference of this scenario captures an ancient contraction, while when analyzing a high number of individuals, two-epoch inference instead captures a recent expansion.</a:t>
            </a:r>
          </a:p>
          <a:p>
            <a:endParaRPr lang="en-US" dirty="0"/>
          </a:p>
          <a:p>
            <a:r>
              <a:rPr lang="en-US" dirty="0"/>
              <a:t>Kirk suggestion: zoom in on 2Lambda small sample size</a:t>
            </a:r>
          </a:p>
          <a:p>
            <a:endParaRPr lang="en-US" dirty="0"/>
          </a:p>
          <a:p>
            <a:r>
              <a:rPr lang="en-US" dirty="0"/>
              <a:t>Emma suggestion: title change on top right</a:t>
            </a:r>
          </a:p>
        </p:txBody>
      </p:sp>
      <p:sp>
        <p:nvSpPr>
          <p:cNvPr id="4" name="Slide Number Placeholder 3">
            <a:extLst>
              <a:ext uri="{FF2B5EF4-FFF2-40B4-BE49-F238E27FC236}">
                <a16:creationId xmlns:a16="http://schemas.microsoft.com/office/drawing/2014/main" id="{9AE529D5-1AE2-6D10-EA09-972DBB5860E4}"/>
              </a:ext>
            </a:extLst>
          </p:cNvPr>
          <p:cNvSpPr>
            <a:spLocks noGrp="1"/>
          </p:cNvSpPr>
          <p:nvPr>
            <p:ph type="sldNum" sz="quarter" idx="5"/>
          </p:nvPr>
        </p:nvSpPr>
        <p:spPr/>
        <p:txBody>
          <a:bodyPr/>
          <a:lstStyle/>
          <a:p>
            <a:fld id="{599CC9A3-A707-4B34-82D4-E64BA4C5A8D1}" type="slidenum">
              <a:rPr lang="en-US" smtClean="0"/>
              <a:t>14</a:t>
            </a:fld>
            <a:endParaRPr lang="en-US"/>
          </a:p>
        </p:txBody>
      </p:sp>
    </p:spTree>
    <p:extLst>
      <p:ext uri="{BB962C8B-B14F-4D97-AF65-F5344CB8AC3E}">
        <p14:creationId xmlns:p14="http://schemas.microsoft.com/office/powerpoint/2010/main" val="1882571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sought to investigate further as to how and why this phenomenon of changing evolutionary signal arose based on the number of individuals. To do so, we considered the coalescent tree and its properties.</a:t>
            </a:r>
          </a:p>
        </p:txBody>
      </p:sp>
      <p:sp>
        <p:nvSpPr>
          <p:cNvPr id="4" name="Slide Number Placeholder 3"/>
          <p:cNvSpPr>
            <a:spLocks noGrp="1"/>
          </p:cNvSpPr>
          <p:nvPr>
            <p:ph type="sldNum" sz="quarter" idx="5"/>
          </p:nvPr>
        </p:nvSpPr>
        <p:spPr/>
        <p:txBody>
          <a:bodyPr/>
          <a:lstStyle/>
          <a:p>
            <a:fld id="{599CC9A3-A707-4B34-82D4-E64BA4C5A8D1}" type="slidenum">
              <a:rPr lang="en-US" smtClean="0"/>
              <a:t>15</a:t>
            </a:fld>
            <a:endParaRPr lang="en-US"/>
          </a:p>
        </p:txBody>
      </p:sp>
    </p:spTree>
    <p:extLst>
      <p:ext uri="{BB962C8B-B14F-4D97-AF65-F5344CB8AC3E}">
        <p14:creationId xmlns:p14="http://schemas.microsoft.com/office/powerpoint/2010/main" val="1593064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E57D-8DB6-FCF1-B623-DCBE24442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FF62C-B171-95DA-66E8-7E3F551E6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EB49-09EB-88A7-19B6-55660A61C350}"/>
              </a:ext>
            </a:extLst>
          </p:cNvPr>
          <p:cNvSpPr>
            <a:spLocks noGrp="1"/>
          </p:cNvSpPr>
          <p:nvPr>
            <p:ph type="body" idx="1"/>
          </p:nvPr>
        </p:nvSpPr>
        <p:spPr/>
        <p:txBody>
          <a:bodyPr/>
          <a:lstStyle/>
          <a:p>
            <a:r>
              <a:rPr lang="en-US" dirty="0"/>
              <a:t>Quite nicely, because we used, </a:t>
            </a:r>
            <a:r>
              <a:rPr lang="en-US" dirty="0" err="1"/>
              <a:t>MSPrime</a:t>
            </a:r>
            <a:r>
              <a:rPr lang="en-US" dirty="0"/>
              <a:t>, which is a coalescent-based simulator, we knew the ground-truth of our simulated history, and calculated both the proportion of coalescent events per epoch, as well as the proportion of branch length per epoch.</a:t>
            </a:r>
          </a:p>
          <a:p>
            <a:endParaRPr lang="en-US" dirty="0"/>
          </a:p>
          <a:p>
            <a:endParaRPr lang="en-US" dirty="0"/>
          </a:p>
        </p:txBody>
      </p:sp>
      <p:sp>
        <p:nvSpPr>
          <p:cNvPr id="4" name="Slide Number Placeholder 3">
            <a:extLst>
              <a:ext uri="{FF2B5EF4-FFF2-40B4-BE49-F238E27FC236}">
                <a16:creationId xmlns:a16="http://schemas.microsoft.com/office/drawing/2014/main" id="{595D411A-9FA9-B413-552B-E0B055E78E77}"/>
              </a:ext>
            </a:extLst>
          </p:cNvPr>
          <p:cNvSpPr>
            <a:spLocks noGrp="1"/>
          </p:cNvSpPr>
          <p:nvPr>
            <p:ph type="sldNum" sz="quarter" idx="5"/>
          </p:nvPr>
        </p:nvSpPr>
        <p:spPr/>
        <p:txBody>
          <a:bodyPr/>
          <a:lstStyle/>
          <a:p>
            <a:fld id="{599CC9A3-A707-4B34-82D4-E64BA4C5A8D1}" type="slidenum">
              <a:rPr lang="en-US" smtClean="0"/>
              <a:t>16</a:t>
            </a:fld>
            <a:endParaRPr lang="en-US"/>
          </a:p>
        </p:txBody>
      </p:sp>
    </p:spTree>
    <p:extLst>
      <p:ext uri="{BB962C8B-B14F-4D97-AF65-F5344CB8AC3E}">
        <p14:creationId xmlns:p14="http://schemas.microsoft.com/office/powerpoint/2010/main" val="2366492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2F71-2C46-8FC1-3522-DF626CA96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396B3-005E-6B68-F965-DB7CE05F4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5F71F-301D-FD13-C2FA-6A0F9495CC25}"/>
              </a:ext>
            </a:extLst>
          </p:cNvPr>
          <p:cNvSpPr>
            <a:spLocks noGrp="1"/>
          </p:cNvSpPr>
          <p:nvPr>
            <p:ph type="body" idx="1"/>
          </p:nvPr>
        </p:nvSpPr>
        <p:spPr/>
        <p:txBody>
          <a:bodyPr/>
          <a:lstStyle/>
          <a:p>
            <a:r>
              <a:rPr lang="en-US" dirty="0"/>
              <a:t>Data points which are solid and filled in indicate the samples from which a two-epoch demographic model inferred a population contraction, while hollow points indicate a population expansion.</a:t>
            </a:r>
          </a:p>
        </p:txBody>
      </p:sp>
      <p:sp>
        <p:nvSpPr>
          <p:cNvPr id="4" name="Slide Number Placeholder 3">
            <a:extLst>
              <a:ext uri="{FF2B5EF4-FFF2-40B4-BE49-F238E27FC236}">
                <a16:creationId xmlns:a16="http://schemas.microsoft.com/office/drawing/2014/main" id="{BA1EADFA-4DF3-99FC-FC1D-7E780815D2AC}"/>
              </a:ext>
            </a:extLst>
          </p:cNvPr>
          <p:cNvSpPr>
            <a:spLocks noGrp="1"/>
          </p:cNvSpPr>
          <p:nvPr>
            <p:ph type="sldNum" sz="quarter" idx="5"/>
          </p:nvPr>
        </p:nvSpPr>
        <p:spPr/>
        <p:txBody>
          <a:bodyPr/>
          <a:lstStyle/>
          <a:p>
            <a:fld id="{599CC9A3-A707-4B34-82D4-E64BA4C5A8D1}" type="slidenum">
              <a:rPr lang="en-US" smtClean="0"/>
              <a:t>17</a:t>
            </a:fld>
            <a:endParaRPr lang="en-US"/>
          </a:p>
        </p:txBody>
      </p:sp>
    </p:spTree>
    <p:extLst>
      <p:ext uri="{BB962C8B-B14F-4D97-AF65-F5344CB8AC3E}">
        <p14:creationId xmlns:p14="http://schemas.microsoft.com/office/powerpoint/2010/main" val="2067574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ABE5-3BD6-62E2-ACB4-3C2CCC26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DE14C-21B6-2E70-AFA8-D32DFA75D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CC5F7-0575-8602-EFCB-3009C1A43061}"/>
              </a:ext>
            </a:extLst>
          </p:cNvPr>
          <p:cNvSpPr>
            <a:spLocks noGrp="1"/>
          </p:cNvSpPr>
          <p:nvPr>
            <p:ph type="body" idx="1"/>
          </p:nvPr>
        </p:nvSpPr>
        <p:spPr/>
        <p:txBody>
          <a:bodyPr/>
          <a:lstStyle/>
          <a:p>
            <a:r>
              <a:rPr lang="en-US" dirty="0"/>
              <a:t>Additionally, data are color-coded by the ground truth epoch in which a coalescent event or branch proportion fell upon the coalescent tree.</a:t>
            </a:r>
          </a:p>
          <a:p>
            <a:endParaRPr lang="en-US" dirty="0"/>
          </a:p>
          <a:p>
            <a:r>
              <a:rPr lang="en-US" dirty="0"/>
              <a:t>Kirk suggestion: remove error bars</a:t>
            </a:r>
          </a:p>
          <a:p>
            <a:r>
              <a:rPr lang="en-US" dirty="0"/>
              <a:t>Kirk suggestion: maybe remove top figure</a:t>
            </a:r>
          </a:p>
          <a:p>
            <a:endParaRPr lang="en-US" dirty="0"/>
          </a:p>
          <a:p>
            <a:r>
              <a:rPr lang="en-US" dirty="0"/>
              <a:t>Swetha suggestion: description should summarize</a:t>
            </a:r>
          </a:p>
          <a:p>
            <a:r>
              <a:rPr lang="en-US" dirty="0"/>
              <a:t>Chen Lu comment: contraction vs. expansion confusion?</a:t>
            </a:r>
          </a:p>
          <a:p>
            <a:endParaRPr lang="en-US" dirty="0"/>
          </a:p>
          <a:p>
            <a:r>
              <a:rPr lang="en-US" dirty="0"/>
              <a:t>Kirk suggestion: colored-in diagram of three-epoch (orange, green, violet)</a:t>
            </a:r>
          </a:p>
        </p:txBody>
      </p:sp>
      <p:sp>
        <p:nvSpPr>
          <p:cNvPr id="4" name="Slide Number Placeholder 3">
            <a:extLst>
              <a:ext uri="{FF2B5EF4-FFF2-40B4-BE49-F238E27FC236}">
                <a16:creationId xmlns:a16="http://schemas.microsoft.com/office/drawing/2014/main" id="{B5639E59-B44D-CC61-00FF-E9AF302A43C9}"/>
              </a:ext>
            </a:extLst>
          </p:cNvPr>
          <p:cNvSpPr>
            <a:spLocks noGrp="1"/>
          </p:cNvSpPr>
          <p:nvPr>
            <p:ph type="sldNum" sz="quarter" idx="5"/>
          </p:nvPr>
        </p:nvSpPr>
        <p:spPr/>
        <p:txBody>
          <a:bodyPr/>
          <a:lstStyle/>
          <a:p>
            <a:fld id="{599CC9A3-A707-4B34-82D4-E64BA4C5A8D1}" type="slidenum">
              <a:rPr lang="en-US" smtClean="0"/>
              <a:t>18</a:t>
            </a:fld>
            <a:endParaRPr lang="en-US"/>
          </a:p>
        </p:txBody>
      </p:sp>
    </p:spTree>
    <p:extLst>
      <p:ext uri="{BB962C8B-B14F-4D97-AF65-F5344CB8AC3E}">
        <p14:creationId xmlns:p14="http://schemas.microsoft.com/office/powerpoint/2010/main" val="3660836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ADB5-7F43-AFC8-2721-454845C29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8C0-F498-3A84-B9BA-C9CE0C23E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C642-4D61-C1E2-3D8E-493DF3F21498}"/>
              </a:ext>
            </a:extLst>
          </p:cNvPr>
          <p:cNvSpPr>
            <a:spLocks noGrp="1"/>
          </p:cNvSpPr>
          <p:nvPr>
            <p:ph type="body" idx="1"/>
          </p:nvPr>
        </p:nvSpPr>
        <p:spPr/>
        <p:txBody>
          <a:bodyPr/>
          <a:lstStyle/>
          <a:p>
            <a:r>
              <a:rPr lang="en-US" dirty="0"/>
              <a:t>Of extreme interest, we found that the </a:t>
            </a:r>
            <a:r>
              <a:rPr lang="en-US" sz="1200" b="0" i="0" u="none" strike="noStrike" kern="1200" dirty="0">
                <a:solidFill>
                  <a:schemeClr val="tx1"/>
                </a:solidFill>
                <a:effectLst/>
                <a:latin typeface="+mn-lt"/>
                <a:ea typeface="+mn-ea"/>
                <a:cs typeface="+mn-cs"/>
              </a:rPr>
              <a:t>highest mean proportion of branch lengths corresponded to the epoch whose evolutionary signal dominated the two-epoch model. As an example, here when the teal data points overtake the orange data points is when the dominant evolutionary signal changes from an ancient bottleneck to a recent expansion.</a:t>
            </a:r>
            <a:endParaRPr lang="en-US" dirty="0"/>
          </a:p>
        </p:txBody>
      </p:sp>
      <p:sp>
        <p:nvSpPr>
          <p:cNvPr id="4" name="Slide Number Placeholder 3">
            <a:extLst>
              <a:ext uri="{FF2B5EF4-FFF2-40B4-BE49-F238E27FC236}">
                <a16:creationId xmlns:a16="http://schemas.microsoft.com/office/drawing/2014/main" id="{4F1D98E3-6F80-0CEC-C3BD-85FF91A2AE01}"/>
              </a:ext>
            </a:extLst>
          </p:cNvPr>
          <p:cNvSpPr>
            <a:spLocks noGrp="1"/>
          </p:cNvSpPr>
          <p:nvPr>
            <p:ph type="sldNum" sz="quarter" idx="5"/>
          </p:nvPr>
        </p:nvSpPr>
        <p:spPr/>
        <p:txBody>
          <a:bodyPr/>
          <a:lstStyle/>
          <a:p>
            <a:fld id="{599CC9A3-A707-4B34-82D4-E64BA4C5A8D1}" type="slidenum">
              <a:rPr lang="en-US" smtClean="0"/>
              <a:t>19</a:t>
            </a:fld>
            <a:endParaRPr lang="en-US"/>
          </a:p>
        </p:txBody>
      </p:sp>
    </p:spTree>
    <p:extLst>
      <p:ext uri="{BB962C8B-B14F-4D97-AF65-F5344CB8AC3E}">
        <p14:creationId xmlns:p14="http://schemas.microsoft.com/office/powerpoint/2010/main" val="21329186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Singletons don’t explain the whole story; but they are generally concordant with some of the story.</a:t>
            </a:r>
          </a:p>
          <a:p>
            <a:endParaRPr lang="en-US" dirty="0"/>
          </a:p>
          <a:p>
            <a:r>
              <a:rPr lang="en-US" dirty="0"/>
              <a:t>Maybe try for singletons and for doubletons and for </a:t>
            </a:r>
            <a:r>
              <a:rPr lang="en-US" dirty="0" err="1"/>
              <a:t>singletons+doubletons</a:t>
            </a:r>
            <a:endParaRPr lang="en-US" dirty="0"/>
          </a:p>
        </p:txBody>
      </p:sp>
      <p:sp>
        <p:nvSpPr>
          <p:cNvPr id="4" name="Slide Number Placeholder 3"/>
          <p:cNvSpPr>
            <a:spLocks noGrp="1"/>
          </p:cNvSpPr>
          <p:nvPr>
            <p:ph type="sldNum" sz="quarter" idx="5"/>
          </p:nvPr>
        </p:nvSpPr>
        <p:spPr/>
        <p:txBody>
          <a:bodyPr/>
          <a:lstStyle/>
          <a:p>
            <a:fld id="{599CC9A3-A707-4B34-82D4-E64BA4C5A8D1}" type="slidenum">
              <a:rPr lang="en-US" smtClean="0"/>
              <a:t>20</a:t>
            </a:fld>
            <a:endParaRPr lang="en-US"/>
          </a:p>
        </p:txBody>
      </p:sp>
    </p:spTree>
    <p:extLst>
      <p:ext uri="{BB962C8B-B14F-4D97-AF65-F5344CB8AC3E}">
        <p14:creationId xmlns:p14="http://schemas.microsoft.com/office/powerpoint/2010/main" val="3977280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with what little time I have left, I just want to share that we did in fact also apply this analysis to empirical human data, shown, finding similarly that data sets with fewer individuals infer an ancient contraction while data sets with more individuals infer a recent expansion.</a:t>
            </a:r>
          </a:p>
          <a:p>
            <a:endParaRPr lang="en-US" dirty="0"/>
          </a:p>
          <a:p>
            <a:r>
              <a:rPr lang="en-US" dirty="0"/>
              <a:t>Aina comment: cut down on subfigures</a:t>
            </a:r>
          </a:p>
        </p:txBody>
      </p:sp>
      <p:sp>
        <p:nvSpPr>
          <p:cNvPr id="4" name="Slide Number Placeholder 3"/>
          <p:cNvSpPr>
            <a:spLocks noGrp="1"/>
          </p:cNvSpPr>
          <p:nvPr>
            <p:ph type="sldNum" sz="quarter" idx="5"/>
          </p:nvPr>
        </p:nvSpPr>
        <p:spPr/>
        <p:txBody>
          <a:bodyPr/>
          <a:lstStyle/>
          <a:p>
            <a:fld id="{599CC9A3-A707-4B34-82D4-E64BA4C5A8D1}" type="slidenum">
              <a:rPr lang="en-US" smtClean="0"/>
              <a:t>21</a:t>
            </a:fld>
            <a:endParaRPr lang="en-US"/>
          </a:p>
        </p:txBody>
      </p:sp>
    </p:spTree>
    <p:extLst>
      <p:ext uri="{BB962C8B-B14F-4D97-AF65-F5344CB8AC3E}">
        <p14:creationId xmlns:p14="http://schemas.microsoft.com/office/powerpoint/2010/main" val="1890164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00A46-5793-4435-A6E2-3F4BC5238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DEAFC-068A-2E01-7E69-3509021A1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44B46-DD1D-8409-E006-1F4FDE0ED8D1}"/>
              </a:ext>
            </a:extLst>
          </p:cNvPr>
          <p:cNvSpPr>
            <a:spLocks noGrp="1"/>
          </p:cNvSpPr>
          <p:nvPr>
            <p:ph type="body" idx="1"/>
          </p:nvPr>
        </p:nvSpPr>
        <p:spPr/>
        <p:txBody>
          <a:bodyPr/>
          <a:lstStyle/>
          <a:p>
            <a:r>
              <a:rPr lang="en-US" dirty="0"/>
              <a:t>Lastly, with what little time I have left, I just want to share that we did in fact also apply this analysis to empirical human data, shown, finding similarly that data sets with fewer individuals infer an ancient contraction while data sets with more individuals infer a recent expansion.</a:t>
            </a:r>
          </a:p>
          <a:p>
            <a:endParaRPr lang="en-US" dirty="0"/>
          </a:p>
          <a:p>
            <a:r>
              <a:rPr lang="en-US" dirty="0"/>
              <a:t>Aina comment: cut down on subfigures</a:t>
            </a:r>
          </a:p>
        </p:txBody>
      </p:sp>
      <p:sp>
        <p:nvSpPr>
          <p:cNvPr id="4" name="Slide Number Placeholder 3">
            <a:extLst>
              <a:ext uri="{FF2B5EF4-FFF2-40B4-BE49-F238E27FC236}">
                <a16:creationId xmlns:a16="http://schemas.microsoft.com/office/drawing/2014/main" id="{E706ACD1-9D50-4FA3-2ADB-E72CFFED11AB}"/>
              </a:ext>
            </a:extLst>
          </p:cNvPr>
          <p:cNvSpPr>
            <a:spLocks noGrp="1"/>
          </p:cNvSpPr>
          <p:nvPr>
            <p:ph type="sldNum" sz="quarter" idx="5"/>
          </p:nvPr>
        </p:nvSpPr>
        <p:spPr/>
        <p:txBody>
          <a:bodyPr/>
          <a:lstStyle/>
          <a:p>
            <a:fld id="{599CC9A3-A707-4B34-82D4-E64BA4C5A8D1}" type="slidenum">
              <a:rPr lang="en-US" smtClean="0"/>
              <a:t>22</a:t>
            </a:fld>
            <a:endParaRPr lang="en-US"/>
          </a:p>
        </p:txBody>
      </p:sp>
    </p:spTree>
    <p:extLst>
      <p:ext uri="{BB962C8B-B14F-4D97-AF65-F5344CB8AC3E}">
        <p14:creationId xmlns:p14="http://schemas.microsoft.com/office/powerpoint/2010/main" val="265059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82F11-B055-587D-3CEE-C19282629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2FAD8-02F0-8AA8-9DF6-BDF061CAB8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7E480-F81B-7423-7571-C8F07CEE3D99}"/>
              </a:ext>
            </a:extLst>
          </p:cNvPr>
          <p:cNvSpPr>
            <a:spLocks noGrp="1"/>
          </p:cNvSpPr>
          <p:nvPr>
            <p:ph type="body" idx="1"/>
          </p:nvPr>
        </p:nvSpPr>
        <p:spPr/>
        <p:txBody>
          <a:bodyPr/>
          <a:lstStyle/>
          <a:p>
            <a:r>
              <a:rPr lang="en-US" dirty="0"/>
              <a:t>Lastly, with what little time I have left, I just want to share that we did in fact also apply this analysis to empirical human data, shown, finding similarly that data sets with fewer individuals infer an ancient contraction while data sets with more individuals infer a recent expansion.</a:t>
            </a:r>
          </a:p>
          <a:p>
            <a:endParaRPr lang="en-US" dirty="0"/>
          </a:p>
          <a:p>
            <a:r>
              <a:rPr lang="en-US" dirty="0"/>
              <a:t>Aina comment: cut down on subfigures</a:t>
            </a:r>
          </a:p>
        </p:txBody>
      </p:sp>
      <p:sp>
        <p:nvSpPr>
          <p:cNvPr id="4" name="Slide Number Placeholder 3">
            <a:extLst>
              <a:ext uri="{FF2B5EF4-FFF2-40B4-BE49-F238E27FC236}">
                <a16:creationId xmlns:a16="http://schemas.microsoft.com/office/drawing/2014/main" id="{AF872D52-31E7-97D5-60F4-939CA6B79A1B}"/>
              </a:ext>
            </a:extLst>
          </p:cNvPr>
          <p:cNvSpPr>
            <a:spLocks noGrp="1"/>
          </p:cNvSpPr>
          <p:nvPr>
            <p:ph type="sldNum" sz="quarter" idx="5"/>
          </p:nvPr>
        </p:nvSpPr>
        <p:spPr/>
        <p:txBody>
          <a:bodyPr/>
          <a:lstStyle/>
          <a:p>
            <a:fld id="{599CC9A3-A707-4B34-82D4-E64BA4C5A8D1}" type="slidenum">
              <a:rPr lang="en-US" smtClean="0"/>
              <a:t>23</a:t>
            </a:fld>
            <a:endParaRPr lang="en-US"/>
          </a:p>
        </p:txBody>
      </p:sp>
    </p:spTree>
    <p:extLst>
      <p:ext uri="{BB962C8B-B14F-4D97-AF65-F5344CB8AC3E}">
        <p14:creationId xmlns:p14="http://schemas.microsoft.com/office/powerpoint/2010/main" val="1747758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EBDF4-7903-9AE2-8A4B-AE67F8DCA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4AAB1-6677-CEBF-EDAE-4990A4983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6B210-F5E4-6516-2493-9393717CEFEE}"/>
              </a:ext>
            </a:extLst>
          </p:cNvPr>
          <p:cNvSpPr>
            <a:spLocks noGrp="1"/>
          </p:cNvSpPr>
          <p:nvPr>
            <p:ph type="body" idx="1"/>
          </p:nvPr>
        </p:nvSpPr>
        <p:spPr/>
        <p:txBody>
          <a:bodyPr/>
          <a:lstStyle/>
          <a:p>
            <a:r>
              <a:rPr lang="en-US" dirty="0"/>
              <a:t>Lastly, with what little time I have left, I just want to share that we did in fact also apply this analysis to empirical human data, shown, finding similarly that data sets with fewer individuals infer an ancient contraction while data sets with more individuals infer a recent expansion.</a:t>
            </a:r>
          </a:p>
          <a:p>
            <a:endParaRPr lang="en-US" dirty="0"/>
          </a:p>
          <a:p>
            <a:r>
              <a:rPr lang="en-US" dirty="0"/>
              <a:t>Aina comment: cut down on subfigures</a:t>
            </a:r>
          </a:p>
        </p:txBody>
      </p:sp>
      <p:sp>
        <p:nvSpPr>
          <p:cNvPr id="4" name="Slide Number Placeholder 3">
            <a:extLst>
              <a:ext uri="{FF2B5EF4-FFF2-40B4-BE49-F238E27FC236}">
                <a16:creationId xmlns:a16="http://schemas.microsoft.com/office/drawing/2014/main" id="{B11AD200-6264-5EF3-F97A-306B4206915A}"/>
              </a:ext>
            </a:extLst>
          </p:cNvPr>
          <p:cNvSpPr>
            <a:spLocks noGrp="1"/>
          </p:cNvSpPr>
          <p:nvPr>
            <p:ph type="sldNum" sz="quarter" idx="5"/>
          </p:nvPr>
        </p:nvSpPr>
        <p:spPr/>
        <p:txBody>
          <a:bodyPr/>
          <a:lstStyle/>
          <a:p>
            <a:fld id="{599CC9A3-A707-4B34-82D4-E64BA4C5A8D1}" type="slidenum">
              <a:rPr lang="en-US" smtClean="0"/>
              <a:t>24</a:t>
            </a:fld>
            <a:endParaRPr lang="en-US"/>
          </a:p>
        </p:txBody>
      </p:sp>
    </p:spTree>
    <p:extLst>
      <p:ext uri="{BB962C8B-B14F-4D97-AF65-F5344CB8AC3E}">
        <p14:creationId xmlns:p14="http://schemas.microsoft.com/office/powerpoint/2010/main" val="33326717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2071-7319-F71F-47F0-1E2652C4F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27B4E-59A3-1A1F-A0A1-125BC41BF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EEE67-8C98-8E31-8826-A5AE90657E2E}"/>
              </a:ext>
            </a:extLst>
          </p:cNvPr>
          <p:cNvSpPr>
            <a:spLocks noGrp="1"/>
          </p:cNvSpPr>
          <p:nvPr>
            <p:ph type="body" idx="1"/>
          </p:nvPr>
        </p:nvSpPr>
        <p:spPr/>
        <p:txBody>
          <a:bodyPr/>
          <a:lstStyle/>
          <a:p>
            <a:r>
              <a:rPr lang="en-US" dirty="0"/>
              <a:t>Lastly, with what little time I have left, I just want to share that we did in fact also apply this analysis to empirical human data, shown, finding similarly that data sets with fewer individuals infer an ancient contraction while data sets with more individuals infer a recent expansion.</a:t>
            </a:r>
          </a:p>
          <a:p>
            <a:endParaRPr lang="en-US" dirty="0"/>
          </a:p>
          <a:p>
            <a:r>
              <a:rPr lang="en-US" dirty="0"/>
              <a:t>Aina comment: cut down on subfigures</a:t>
            </a:r>
          </a:p>
        </p:txBody>
      </p:sp>
      <p:sp>
        <p:nvSpPr>
          <p:cNvPr id="4" name="Slide Number Placeholder 3">
            <a:extLst>
              <a:ext uri="{FF2B5EF4-FFF2-40B4-BE49-F238E27FC236}">
                <a16:creationId xmlns:a16="http://schemas.microsoft.com/office/drawing/2014/main" id="{0C9B4F38-E50A-3938-E2A4-802A82F81AC8}"/>
              </a:ext>
            </a:extLst>
          </p:cNvPr>
          <p:cNvSpPr>
            <a:spLocks noGrp="1"/>
          </p:cNvSpPr>
          <p:nvPr>
            <p:ph type="sldNum" sz="quarter" idx="5"/>
          </p:nvPr>
        </p:nvSpPr>
        <p:spPr/>
        <p:txBody>
          <a:bodyPr/>
          <a:lstStyle/>
          <a:p>
            <a:fld id="{599CC9A3-A707-4B34-82D4-E64BA4C5A8D1}" type="slidenum">
              <a:rPr lang="en-US" smtClean="0"/>
              <a:t>25</a:t>
            </a:fld>
            <a:endParaRPr lang="en-US"/>
          </a:p>
        </p:txBody>
      </p:sp>
    </p:spTree>
    <p:extLst>
      <p:ext uri="{BB962C8B-B14F-4D97-AF65-F5344CB8AC3E}">
        <p14:creationId xmlns:p14="http://schemas.microsoft.com/office/powerpoint/2010/main" val="8908525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my work, population genetics inference is sensitive to the number of individuals in the data set.</a:t>
            </a:r>
          </a:p>
          <a:p>
            <a:r>
              <a:rPr lang="en-US" dirty="0"/>
              <a:t>We suspect, and are testing, that the dominant evolutionary signal in a two-epoch model is determined by the epoch with the highest proportion of coalescent branch lengths</a:t>
            </a:r>
          </a:p>
          <a:p>
            <a:r>
              <a:rPr lang="en-US" dirty="0"/>
              <a:t>And lastly, this work has important implications for future population genetics studies which similarly infer demography – analyzing data sets of different sample sizes may yield complementary insights into the evolutionary history.</a:t>
            </a:r>
          </a:p>
          <a:p>
            <a:endParaRPr lang="en-US" dirty="0"/>
          </a:p>
          <a:p>
            <a:r>
              <a:rPr lang="en-US" dirty="0"/>
              <a:t>Happy to take questions but probably at my poster!</a:t>
            </a:r>
          </a:p>
        </p:txBody>
      </p:sp>
      <p:sp>
        <p:nvSpPr>
          <p:cNvPr id="4" name="Slide Number Placeholder 3"/>
          <p:cNvSpPr>
            <a:spLocks noGrp="1"/>
          </p:cNvSpPr>
          <p:nvPr>
            <p:ph type="sldNum" sz="quarter" idx="5"/>
          </p:nvPr>
        </p:nvSpPr>
        <p:spPr/>
        <p:txBody>
          <a:bodyPr/>
          <a:lstStyle/>
          <a:p>
            <a:fld id="{599CC9A3-A707-4B34-82D4-E64BA4C5A8D1}" type="slidenum">
              <a:rPr lang="en-US" smtClean="0"/>
              <a:t>26</a:t>
            </a:fld>
            <a:endParaRPr lang="en-US"/>
          </a:p>
        </p:txBody>
      </p:sp>
    </p:spTree>
    <p:extLst>
      <p:ext uri="{BB962C8B-B14F-4D97-AF65-F5344CB8AC3E}">
        <p14:creationId xmlns:p14="http://schemas.microsoft.com/office/powerpoint/2010/main" val="788477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43479" y="1981200"/>
            <a:ext cx="8117840" cy="467360"/>
          </a:xfrm>
          <a:prstGeom prst="rect">
            <a:avLst/>
          </a:prstGeom>
        </p:spPr>
        <p:txBody>
          <a:bodyPr wrap="square" lIns="0" tIns="0" rIns="0" bIns="0">
            <a:spAutoFit/>
          </a:bodyPr>
          <a:lstStyle>
            <a:lvl1pPr>
              <a:defRPr sz="2900" b="1"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63550" y="965200"/>
            <a:ext cx="12077700" cy="726439"/>
          </a:xfrm>
          <a:prstGeom prst="rect">
            <a:avLst/>
          </a:prstGeom>
        </p:spPr>
        <p:txBody>
          <a:bodyPr wrap="square" lIns="0" tIns="0" rIns="0" bIns="0">
            <a:spAutoFit/>
          </a:bodyPr>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a:xfrm>
            <a:off x="825500" y="2889468"/>
            <a:ext cx="11353800" cy="46977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10/29/2025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601210" y="7206902"/>
            <a:ext cx="4187190" cy="474489"/>
          </a:xfrm>
          <a:prstGeom prst="rect">
            <a:avLst/>
          </a:prstGeom>
        </p:spPr>
        <p:txBody>
          <a:bodyPr vert="horz" wrap="square" lIns="0" tIns="12700" rIns="0" bIns="0" rtlCol="0">
            <a:spAutoFit/>
          </a:bodyPr>
          <a:lstStyle/>
          <a:p>
            <a:pPr marL="12700">
              <a:lnSpc>
                <a:spcPct val="100000"/>
              </a:lnSpc>
              <a:spcBef>
                <a:spcPts val="100"/>
              </a:spcBef>
            </a:pPr>
            <a:r>
              <a:rPr lang="en-US" sz="3000" spc="-5" dirty="0">
                <a:solidFill>
                  <a:srgbClr val="929292"/>
                </a:solidFill>
                <a:latin typeface="Yu Gothic" panose="020B0400000000000000" pitchFamily="34" charset="-128"/>
                <a:ea typeface="Yu Gothic" panose="020B0400000000000000" pitchFamily="34" charset="-128"/>
                <a:cs typeface="Arial"/>
              </a:rPr>
              <a:t>November 1</a:t>
            </a:r>
            <a:r>
              <a:rPr lang="en-US" sz="3000" spc="-5" baseline="30000" dirty="0">
                <a:solidFill>
                  <a:srgbClr val="929292"/>
                </a:solidFill>
                <a:latin typeface="Yu Gothic" panose="020B0400000000000000" pitchFamily="34" charset="-128"/>
                <a:ea typeface="Yu Gothic" panose="020B0400000000000000" pitchFamily="34" charset="-128"/>
                <a:cs typeface="Arial"/>
              </a:rPr>
              <a:t>st</a:t>
            </a:r>
            <a:r>
              <a:rPr lang="en-US" sz="3000" spc="-5" dirty="0">
                <a:solidFill>
                  <a:srgbClr val="929292"/>
                </a:solidFill>
                <a:latin typeface="Yu Gothic" panose="020B0400000000000000" pitchFamily="34" charset="-128"/>
                <a:ea typeface="Yu Gothic" panose="020B0400000000000000" pitchFamily="34" charset="-128"/>
                <a:cs typeface="Arial"/>
              </a:rPr>
              <a:t>, 2025</a:t>
            </a:r>
            <a:endParaRPr lang="en-US" sz="3000" spc="-5" baseline="30000" dirty="0">
              <a:solidFill>
                <a:srgbClr val="929292"/>
              </a:solidFill>
              <a:latin typeface="Yu Gothic" panose="020B0400000000000000" pitchFamily="34" charset="-128"/>
              <a:ea typeface="Yu Gothic" panose="020B0400000000000000" pitchFamily="34" charset="-128"/>
              <a:cs typeface="Arial"/>
            </a:endParaRPr>
          </a:p>
        </p:txBody>
      </p:sp>
      <p:sp>
        <p:nvSpPr>
          <p:cNvPr id="7" name="object 7"/>
          <p:cNvSpPr/>
          <p:nvPr/>
        </p:nvSpPr>
        <p:spPr>
          <a:xfrm>
            <a:off x="0" y="9078486"/>
            <a:ext cx="864887" cy="602562"/>
          </a:xfrm>
          <a:prstGeom prst="rect">
            <a:avLst/>
          </a:prstGeom>
          <a:blipFill>
            <a:blip r:embed="rId3" cstate="print"/>
            <a:stretch>
              <a:fillRect/>
            </a:stretch>
          </a:blipFill>
        </p:spPr>
        <p:txBody>
          <a:bodyPr wrap="square" lIns="0" tIns="0" rIns="0" bIns="0" rtlCol="0"/>
          <a:lstStyle/>
          <a:p>
            <a:endParaRPr dirty="0"/>
          </a:p>
        </p:txBody>
      </p:sp>
      <p:sp>
        <p:nvSpPr>
          <p:cNvPr id="8" name="object 8"/>
          <p:cNvSpPr txBox="1"/>
          <p:nvPr/>
        </p:nvSpPr>
        <p:spPr>
          <a:xfrm>
            <a:off x="749300" y="8636000"/>
            <a:ext cx="3070860" cy="901700"/>
          </a:xfrm>
          <a:prstGeom prst="rect">
            <a:avLst/>
          </a:prstGeom>
        </p:spPr>
        <p:txBody>
          <a:bodyPr vert="horz" wrap="square" lIns="0" tIns="12700" rIns="0" bIns="0" rtlCol="0">
            <a:spAutoFit/>
          </a:bodyPr>
          <a:lstStyle/>
          <a:p>
            <a:pPr marL="12700">
              <a:lnSpc>
                <a:spcPct val="100000"/>
              </a:lnSpc>
              <a:spcBef>
                <a:spcPts val="100"/>
              </a:spcBef>
            </a:pPr>
            <a:r>
              <a:rPr sz="2200" spc="-35" dirty="0">
                <a:latin typeface="Arial"/>
                <a:cs typeface="Arial"/>
              </a:rPr>
              <a:t>@</a:t>
            </a:r>
            <a:r>
              <a:rPr lang="en-US" sz="2200" spc="-35" dirty="0">
                <a:latin typeface="Arial"/>
                <a:cs typeface="Arial"/>
              </a:rPr>
              <a:t>jonmah_compbio</a:t>
            </a:r>
            <a:endParaRPr sz="2200" dirty="0">
              <a:latin typeface="Arial"/>
              <a:cs typeface="Arial"/>
            </a:endParaRPr>
          </a:p>
          <a:p>
            <a:pPr marL="12700">
              <a:lnSpc>
                <a:spcPct val="100000"/>
              </a:lnSpc>
              <a:spcBef>
                <a:spcPts val="1860"/>
              </a:spcBef>
            </a:pPr>
            <a:r>
              <a:rPr lang="en-US" sz="2000" spc="-15" dirty="0">
                <a:latin typeface="Arial"/>
                <a:cs typeface="Arial"/>
              </a:rPr>
              <a:t>jonmah@g.ucla.edu</a:t>
            </a:r>
            <a:endParaRPr sz="2000" dirty="0">
              <a:latin typeface="Arial"/>
              <a:cs typeface="Arial"/>
            </a:endParaRPr>
          </a:p>
        </p:txBody>
      </p:sp>
      <p:sp>
        <p:nvSpPr>
          <p:cNvPr id="10" name="Title 9">
            <a:extLst>
              <a:ext uri="{FF2B5EF4-FFF2-40B4-BE49-F238E27FC236}">
                <a16:creationId xmlns:a16="http://schemas.microsoft.com/office/drawing/2014/main" id="{AD6DB52D-17F9-4306-A1FC-B865C5238BD0}"/>
              </a:ext>
            </a:extLst>
          </p:cNvPr>
          <p:cNvSpPr>
            <a:spLocks noGrp="1"/>
          </p:cNvSpPr>
          <p:nvPr>
            <p:ph type="title"/>
          </p:nvPr>
        </p:nvSpPr>
        <p:spPr>
          <a:xfrm>
            <a:off x="463550" y="3962400"/>
            <a:ext cx="12077700" cy="2123658"/>
          </a:xfrm>
        </p:spPr>
        <p:txBody>
          <a:bodyPr/>
          <a:lstStyle/>
          <a:p>
            <a:pPr algn="ctr"/>
            <a:r>
              <a:rPr lang="en-US"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p>
        </p:txBody>
      </p:sp>
      <p:sp>
        <p:nvSpPr>
          <p:cNvPr id="11" name="TextBox 10">
            <a:extLst>
              <a:ext uri="{FF2B5EF4-FFF2-40B4-BE49-F238E27FC236}">
                <a16:creationId xmlns:a16="http://schemas.microsoft.com/office/drawing/2014/main" id="{B48B4FF3-A434-4072-B1FF-5978C4B2E3EE}"/>
              </a:ext>
            </a:extLst>
          </p:cNvPr>
          <p:cNvSpPr txBox="1"/>
          <p:nvPr/>
        </p:nvSpPr>
        <p:spPr>
          <a:xfrm>
            <a:off x="3780352" y="6129684"/>
            <a:ext cx="5444119" cy="1077218"/>
          </a:xfrm>
          <a:prstGeom prst="rect">
            <a:avLst/>
          </a:prstGeom>
          <a:noFill/>
        </p:spPr>
        <p:txBody>
          <a:bodyPr wrap="none" rtlCol="0">
            <a:spAutoFit/>
          </a:bodyPr>
          <a:lstStyle/>
          <a:p>
            <a:pPr algn="ctr"/>
            <a:r>
              <a:rPr lang="en-US" sz="3200" b="1" dirty="0">
                <a:latin typeface="Yu Gothic" panose="020B0400000000000000" pitchFamily="34" charset="-128"/>
                <a:ea typeface="Yu Gothic" panose="020B0400000000000000" pitchFamily="34" charset="-128"/>
                <a:cs typeface="Arial" panose="020B0604020202020204" pitchFamily="34" charset="0"/>
              </a:rPr>
              <a:t>Jonathan Mah</a:t>
            </a:r>
          </a:p>
          <a:p>
            <a:pPr algn="ctr"/>
            <a:r>
              <a:rPr lang="en-US" sz="3200" dirty="0">
                <a:latin typeface="Yu Gothic" panose="020B0400000000000000" pitchFamily="34" charset="-128"/>
                <a:ea typeface="Yu Gothic" panose="020B0400000000000000" pitchFamily="34" charset="-128"/>
                <a:cs typeface="Arial" panose="020B0604020202020204" pitchFamily="34" charset="0"/>
              </a:rPr>
              <a:t>Lohmueller and Garud Labs</a:t>
            </a:r>
          </a:p>
        </p:txBody>
      </p:sp>
      <p:pic>
        <p:nvPicPr>
          <p:cNvPr id="14" name="Picture 13">
            <a:extLst>
              <a:ext uri="{FF2B5EF4-FFF2-40B4-BE49-F238E27FC236}">
                <a16:creationId xmlns:a16="http://schemas.microsoft.com/office/drawing/2014/main" id="{FD5B8C46-7892-4332-A912-BB42DBE8689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543" t="2183" r="14988" b="11079"/>
          <a:stretch/>
        </p:blipFill>
        <p:spPr>
          <a:xfrm>
            <a:off x="1265729" y="496006"/>
            <a:ext cx="3962400" cy="3352800"/>
          </a:xfrm>
          <a:prstGeom prst="rect">
            <a:avLst/>
          </a:prstGeom>
          <a:ln w="38100">
            <a:solidFill>
              <a:srgbClr val="FF0000"/>
            </a:solidFill>
          </a:ln>
        </p:spPr>
      </p:pic>
      <p:pic>
        <p:nvPicPr>
          <p:cNvPr id="1026" name="Picture 2" descr="UCLA Script logo">
            <a:extLst>
              <a:ext uri="{FF2B5EF4-FFF2-40B4-BE49-F238E27FC236}">
                <a16:creationId xmlns:a16="http://schemas.microsoft.com/office/drawing/2014/main" id="{50AB20AC-74B1-4E05-A141-D9EEC5E65B6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633" t="23014" r="22461" b="21865"/>
          <a:stretch/>
        </p:blipFill>
        <p:spPr bwMode="auto">
          <a:xfrm>
            <a:off x="5465222" y="205027"/>
            <a:ext cx="1943085" cy="10349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4B711CA-D11E-48FF-B2D9-E567242ECE59}"/>
              </a:ext>
            </a:extLst>
          </p:cNvPr>
          <p:cNvPicPr>
            <a:picLocks noChangeAspect="1"/>
          </p:cNvPicPr>
          <p:nvPr/>
        </p:nvPicPr>
        <p:blipFill>
          <a:blip r:embed="rId6"/>
          <a:stretch>
            <a:fillRect/>
          </a:stretch>
        </p:blipFill>
        <p:spPr>
          <a:xfrm>
            <a:off x="7645400" y="141857"/>
            <a:ext cx="2286000" cy="3703320"/>
          </a:xfrm>
          <a:prstGeom prst="rect">
            <a:avLst/>
          </a:prstGeom>
        </p:spPr>
      </p:pic>
      <p:pic>
        <p:nvPicPr>
          <p:cNvPr id="2" name="Picture 1" descr="A black and white symbol&#10;&#10;Description automatically generated">
            <a:extLst>
              <a:ext uri="{FF2B5EF4-FFF2-40B4-BE49-F238E27FC236}">
                <a16:creationId xmlns:a16="http://schemas.microsoft.com/office/drawing/2014/main" id="{1C74A550-D954-E2EA-D13E-E68BB8DCF71A}"/>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7800" y="8564880"/>
            <a:ext cx="432262"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0677E-4FD9-6784-24DD-A170148A039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B87554-FDD9-3B24-0E36-0B5F0D05B488}"/>
              </a:ext>
            </a:extLst>
          </p:cNvPr>
          <p:cNvSpPr txBox="1"/>
          <p:nvPr/>
        </p:nvSpPr>
        <p:spPr>
          <a:xfrm>
            <a:off x="4601210" y="7206902"/>
            <a:ext cx="4187190" cy="474489"/>
          </a:xfrm>
          <a:prstGeom prst="rect">
            <a:avLst/>
          </a:prstGeom>
        </p:spPr>
        <p:txBody>
          <a:bodyPr vert="horz" wrap="square" lIns="0" tIns="12700" rIns="0" bIns="0" rtlCol="0">
            <a:spAutoFit/>
          </a:bodyPr>
          <a:lstStyle/>
          <a:p>
            <a:pPr marL="12700">
              <a:lnSpc>
                <a:spcPct val="100000"/>
              </a:lnSpc>
              <a:spcBef>
                <a:spcPts val="100"/>
              </a:spcBef>
            </a:pPr>
            <a:r>
              <a:rPr lang="en-US" sz="3000" spc="-5" dirty="0">
                <a:solidFill>
                  <a:srgbClr val="929292"/>
                </a:solidFill>
                <a:latin typeface="Yu Gothic" panose="020B0400000000000000" pitchFamily="34" charset="-128"/>
                <a:ea typeface="Yu Gothic" panose="020B0400000000000000" pitchFamily="34" charset="-128"/>
                <a:cs typeface="Arial"/>
              </a:rPr>
              <a:t>November 1</a:t>
            </a:r>
            <a:r>
              <a:rPr lang="en-US" sz="3000" spc="-5" baseline="30000" dirty="0">
                <a:solidFill>
                  <a:srgbClr val="929292"/>
                </a:solidFill>
                <a:latin typeface="Yu Gothic" panose="020B0400000000000000" pitchFamily="34" charset="-128"/>
                <a:ea typeface="Yu Gothic" panose="020B0400000000000000" pitchFamily="34" charset="-128"/>
                <a:cs typeface="Arial"/>
              </a:rPr>
              <a:t>st</a:t>
            </a:r>
            <a:r>
              <a:rPr lang="en-US" sz="3000" spc="-5" dirty="0">
                <a:solidFill>
                  <a:srgbClr val="929292"/>
                </a:solidFill>
                <a:latin typeface="Yu Gothic" panose="020B0400000000000000" pitchFamily="34" charset="-128"/>
                <a:ea typeface="Yu Gothic" panose="020B0400000000000000" pitchFamily="34" charset="-128"/>
                <a:cs typeface="Arial"/>
              </a:rPr>
              <a:t>, 2025</a:t>
            </a:r>
            <a:endParaRPr lang="en-US" sz="3000" spc="-5" baseline="30000" dirty="0">
              <a:solidFill>
                <a:srgbClr val="929292"/>
              </a:solidFill>
              <a:latin typeface="Yu Gothic" panose="020B0400000000000000" pitchFamily="34" charset="-128"/>
              <a:ea typeface="Yu Gothic" panose="020B0400000000000000" pitchFamily="34" charset="-128"/>
              <a:cs typeface="Arial"/>
            </a:endParaRPr>
          </a:p>
        </p:txBody>
      </p:sp>
      <p:sp>
        <p:nvSpPr>
          <p:cNvPr id="7" name="object 7">
            <a:extLst>
              <a:ext uri="{FF2B5EF4-FFF2-40B4-BE49-F238E27FC236}">
                <a16:creationId xmlns:a16="http://schemas.microsoft.com/office/drawing/2014/main" id="{74F27A83-02D1-84C1-664B-4857FCCE5D5C}"/>
              </a:ext>
            </a:extLst>
          </p:cNvPr>
          <p:cNvSpPr/>
          <p:nvPr/>
        </p:nvSpPr>
        <p:spPr>
          <a:xfrm>
            <a:off x="0" y="9078486"/>
            <a:ext cx="864887" cy="602562"/>
          </a:xfrm>
          <a:prstGeom prst="rect">
            <a:avLst/>
          </a:prstGeom>
          <a:blipFill>
            <a:blip r:embed="rId3" cstate="print"/>
            <a:stretch>
              <a:fillRect/>
            </a:stretch>
          </a:blipFill>
        </p:spPr>
        <p:txBody>
          <a:bodyPr wrap="square" lIns="0" tIns="0" rIns="0" bIns="0" rtlCol="0"/>
          <a:lstStyle/>
          <a:p>
            <a:endParaRPr dirty="0"/>
          </a:p>
        </p:txBody>
      </p:sp>
      <p:sp>
        <p:nvSpPr>
          <p:cNvPr id="8" name="object 8">
            <a:extLst>
              <a:ext uri="{FF2B5EF4-FFF2-40B4-BE49-F238E27FC236}">
                <a16:creationId xmlns:a16="http://schemas.microsoft.com/office/drawing/2014/main" id="{6FF12EA4-4B53-65BB-AACF-E039F3CC242D}"/>
              </a:ext>
            </a:extLst>
          </p:cNvPr>
          <p:cNvSpPr txBox="1"/>
          <p:nvPr/>
        </p:nvSpPr>
        <p:spPr>
          <a:xfrm>
            <a:off x="749300" y="8636000"/>
            <a:ext cx="3070860" cy="901700"/>
          </a:xfrm>
          <a:prstGeom prst="rect">
            <a:avLst/>
          </a:prstGeom>
        </p:spPr>
        <p:txBody>
          <a:bodyPr vert="horz" wrap="square" lIns="0" tIns="12700" rIns="0" bIns="0" rtlCol="0">
            <a:spAutoFit/>
          </a:bodyPr>
          <a:lstStyle/>
          <a:p>
            <a:pPr marL="12700">
              <a:lnSpc>
                <a:spcPct val="100000"/>
              </a:lnSpc>
              <a:spcBef>
                <a:spcPts val="100"/>
              </a:spcBef>
            </a:pPr>
            <a:r>
              <a:rPr sz="2200" spc="-35" dirty="0">
                <a:latin typeface="Arial"/>
                <a:cs typeface="Arial"/>
              </a:rPr>
              <a:t>@</a:t>
            </a:r>
            <a:r>
              <a:rPr lang="en-US" sz="2200" spc="-35" dirty="0">
                <a:latin typeface="Arial"/>
                <a:cs typeface="Arial"/>
              </a:rPr>
              <a:t>jonmah_compbio</a:t>
            </a:r>
            <a:endParaRPr sz="2200" dirty="0">
              <a:latin typeface="Arial"/>
              <a:cs typeface="Arial"/>
            </a:endParaRPr>
          </a:p>
          <a:p>
            <a:pPr marL="12700">
              <a:lnSpc>
                <a:spcPct val="100000"/>
              </a:lnSpc>
              <a:spcBef>
                <a:spcPts val="1860"/>
              </a:spcBef>
            </a:pPr>
            <a:r>
              <a:rPr lang="en-US" sz="2000" spc="-15" dirty="0">
                <a:latin typeface="Arial"/>
                <a:cs typeface="Arial"/>
              </a:rPr>
              <a:t>jonmah@g.ucla.edu</a:t>
            </a:r>
            <a:endParaRPr sz="2000" dirty="0">
              <a:latin typeface="Arial"/>
              <a:cs typeface="Arial"/>
            </a:endParaRPr>
          </a:p>
        </p:txBody>
      </p:sp>
      <p:sp>
        <p:nvSpPr>
          <p:cNvPr id="10" name="Title 9">
            <a:extLst>
              <a:ext uri="{FF2B5EF4-FFF2-40B4-BE49-F238E27FC236}">
                <a16:creationId xmlns:a16="http://schemas.microsoft.com/office/drawing/2014/main" id="{36830F6C-E78F-E07A-FCF6-74F61FDDB703}"/>
              </a:ext>
            </a:extLst>
          </p:cNvPr>
          <p:cNvSpPr>
            <a:spLocks noGrp="1"/>
          </p:cNvSpPr>
          <p:nvPr>
            <p:ph type="title"/>
          </p:nvPr>
        </p:nvSpPr>
        <p:spPr>
          <a:xfrm>
            <a:off x="463550" y="3962400"/>
            <a:ext cx="12077700" cy="2123658"/>
          </a:xfrm>
        </p:spPr>
        <p:txBody>
          <a:bodyPr/>
          <a:lstStyle/>
          <a:p>
            <a:pPr algn="ctr"/>
            <a:r>
              <a:rPr lang="en-US"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p>
        </p:txBody>
      </p:sp>
      <p:sp>
        <p:nvSpPr>
          <p:cNvPr id="11" name="TextBox 10">
            <a:extLst>
              <a:ext uri="{FF2B5EF4-FFF2-40B4-BE49-F238E27FC236}">
                <a16:creationId xmlns:a16="http://schemas.microsoft.com/office/drawing/2014/main" id="{961272A2-C7AA-6AE6-4B4F-54041D15D124}"/>
              </a:ext>
            </a:extLst>
          </p:cNvPr>
          <p:cNvSpPr txBox="1"/>
          <p:nvPr/>
        </p:nvSpPr>
        <p:spPr>
          <a:xfrm>
            <a:off x="3780352" y="6129684"/>
            <a:ext cx="5444119" cy="1077218"/>
          </a:xfrm>
          <a:prstGeom prst="rect">
            <a:avLst/>
          </a:prstGeom>
          <a:noFill/>
        </p:spPr>
        <p:txBody>
          <a:bodyPr wrap="none" rtlCol="0">
            <a:spAutoFit/>
          </a:bodyPr>
          <a:lstStyle/>
          <a:p>
            <a:pPr algn="ctr"/>
            <a:r>
              <a:rPr lang="en-US" sz="3200" b="1" dirty="0">
                <a:latin typeface="Yu Gothic" panose="020B0400000000000000" pitchFamily="34" charset="-128"/>
                <a:ea typeface="Yu Gothic" panose="020B0400000000000000" pitchFamily="34" charset="-128"/>
                <a:cs typeface="Arial" panose="020B0604020202020204" pitchFamily="34" charset="0"/>
              </a:rPr>
              <a:t>Jonathan Mah</a:t>
            </a:r>
          </a:p>
          <a:p>
            <a:pPr algn="ctr"/>
            <a:r>
              <a:rPr lang="en-US" sz="3200" dirty="0">
                <a:latin typeface="Yu Gothic" panose="020B0400000000000000" pitchFamily="34" charset="-128"/>
                <a:ea typeface="Yu Gothic" panose="020B0400000000000000" pitchFamily="34" charset="-128"/>
                <a:cs typeface="Arial" panose="020B0604020202020204" pitchFamily="34" charset="0"/>
              </a:rPr>
              <a:t>Lohmueller and Garud Labs</a:t>
            </a:r>
          </a:p>
        </p:txBody>
      </p:sp>
      <p:pic>
        <p:nvPicPr>
          <p:cNvPr id="14" name="Picture 13">
            <a:extLst>
              <a:ext uri="{FF2B5EF4-FFF2-40B4-BE49-F238E27FC236}">
                <a16:creationId xmlns:a16="http://schemas.microsoft.com/office/drawing/2014/main" id="{72E30EFB-1E93-04DE-5EC4-38102753E9F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543" t="2183" r="14988" b="11079"/>
          <a:stretch/>
        </p:blipFill>
        <p:spPr>
          <a:xfrm>
            <a:off x="1265729" y="496006"/>
            <a:ext cx="3962400" cy="3352800"/>
          </a:xfrm>
          <a:prstGeom prst="rect">
            <a:avLst/>
          </a:prstGeom>
          <a:ln w="38100">
            <a:solidFill>
              <a:srgbClr val="FF0000"/>
            </a:solidFill>
          </a:ln>
        </p:spPr>
      </p:pic>
      <p:pic>
        <p:nvPicPr>
          <p:cNvPr id="1026" name="Picture 2" descr="UCLA Script logo">
            <a:extLst>
              <a:ext uri="{FF2B5EF4-FFF2-40B4-BE49-F238E27FC236}">
                <a16:creationId xmlns:a16="http://schemas.microsoft.com/office/drawing/2014/main" id="{9239E0A3-3012-14DE-9BE3-3E897C76108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633" t="23014" r="22461" b="21865"/>
          <a:stretch/>
        </p:blipFill>
        <p:spPr bwMode="auto">
          <a:xfrm>
            <a:off x="5465222" y="205027"/>
            <a:ext cx="1943085" cy="10349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326161F-FC84-C22A-3F8E-D160ACD95882}"/>
              </a:ext>
            </a:extLst>
          </p:cNvPr>
          <p:cNvPicPr>
            <a:picLocks noChangeAspect="1"/>
          </p:cNvPicPr>
          <p:nvPr/>
        </p:nvPicPr>
        <p:blipFill>
          <a:blip r:embed="rId6"/>
          <a:stretch>
            <a:fillRect/>
          </a:stretch>
        </p:blipFill>
        <p:spPr>
          <a:xfrm>
            <a:off x="7645400" y="141857"/>
            <a:ext cx="2286000" cy="3703320"/>
          </a:xfrm>
          <a:prstGeom prst="rect">
            <a:avLst/>
          </a:prstGeom>
        </p:spPr>
      </p:pic>
      <p:pic>
        <p:nvPicPr>
          <p:cNvPr id="2" name="Picture 1" descr="A black and white symbol&#10;&#10;Description automatically generated">
            <a:extLst>
              <a:ext uri="{FF2B5EF4-FFF2-40B4-BE49-F238E27FC236}">
                <a16:creationId xmlns:a16="http://schemas.microsoft.com/office/drawing/2014/main" id="{FC187748-0C56-DDD5-8773-B0A39340EBFF}"/>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7800" y="8564880"/>
            <a:ext cx="432262" cy="502920"/>
          </a:xfrm>
          <a:prstGeom prst="rect">
            <a:avLst/>
          </a:prstGeom>
        </p:spPr>
      </p:pic>
    </p:spTree>
    <p:extLst>
      <p:ext uri="{BB962C8B-B14F-4D97-AF65-F5344CB8AC3E}">
        <p14:creationId xmlns:p14="http://schemas.microsoft.com/office/powerpoint/2010/main" val="3386928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D1E6-21AE-5C5B-357B-8CDF78C269A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5" name="Picture 14">
            <a:extLst>
              <a:ext uri="{FF2B5EF4-FFF2-40B4-BE49-F238E27FC236}">
                <a16:creationId xmlns:a16="http://schemas.microsoft.com/office/drawing/2014/main" id="{6C63651E-ADAD-D7A6-E14E-B5CCD36234E2}"/>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27" name="TextBox 26">
            <a:extLst>
              <a:ext uri="{FF2B5EF4-FFF2-40B4-BE49-F238E27FC236}">
                <a16:creationId xmlns:a16="http://schemas.microsoft.com/office/drawing/2014/main" id="{8AE58726-3671-7029-C3AC-C46B99E729FC}"/>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80123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C025-9215-413D-4418-4DED7E79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43215-5809-96F6-A4B0-D9AC89AB330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4" name="Picture 13">
            <a:extLst>
              <a:ext uri="{FF2B5EF4-FFF2-40B4-BE49-F238E27FC236}">
                <a16:creationId xmlns:a16="http://schemas.microsoft.com/office/drawing/2014/main" id="{2B2ADDBB-C15C-13A0-EE04-FDE25C88EE45}"/>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3" name="TextBox 2">
            <a:extLst>
              <a:ext uri="{FF2B5EF4-FFF2-40B4-BE49-F238E27FC236}">
                <a16:creationId xmlns:a16="http://schemas.microsoft.com/office/drawing/2014/main" id="{7FE11778-2C55-C8E7-D3D0-86D712F67F33}"/>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DF0D1FC4-85A7-BA0F-BA0B-39C8253A9CB2}"/>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B94B0DC8-A33A-6ED8-EF36-AAFC952EB8AA}"/>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26048C6-A6C1-E272-B252-DA3BDAE2E584}"/>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FBAA6B6D-AA13-0EB0-828A-BC95E0BA867C}"/>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853ADDF-DBA0-7F75-350B-D5C5F14A0F40}"/>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9" name="TextBox 8">
            <a:extLst>
              <a:ext uri="{FF2B5EF4-FFF2-40B4-BE49-F238E27FC236}">
                <a16:creationId xmlns:a16="http://schemas.microsoft.com/office/drawing/2014/main" id="{FE511508-2871-C572-464B-9A9B2AC56E98}"/>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0" name="TextBox 9">
            <a:extLst>
              <a:ext uri="{FF2B5EF4-FFF2-40B4-BE49-F238E27FC236}">
                <a16:creationId xmlns:a16="http://schemas.microsoft.com/office/drawing/2014/main" id="{5EE4B1C6-CC33-5EB5-A508-624319B57BAD}"/>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1" name="TextBox 10">
            <a:extLst>
              <a:ext uri="{FF2B5EF4-FFF2-40B4-BE49-F238E27FC236}">
                <a16:creationId xmlns:a16="http://schemas.microsoft.com/office/drawing/2014/main" id="{D77AF1D9-B9F2-E1D0-CCA8-C91AF1A8D972}"/>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2" name="Rectangle 11">
            <a:extLst>
              <a:ext uri="{FF2B5EF4-FFF2-40B4-BE49-F238E27FC236}">
                <a16:creationId xmlns:a16="http://schemas.microsoft.com/office/drawing/2014/main" id="{356CE52B-1E65-D667-0F9E-923F4FCF5BD5}"/>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E87FAC5-9BDB-C881-AC9F-213AC3B8207C}"/>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4A8F31F-7704-74B0-681D-C6D24F412E97}"/>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12964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2E42-8138-AC99-07FE-FABB7F9A8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4C0F5-EC8B-06EF-966B-45F017E9FFA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7" name="Picture 6">
            <a:extLst>
              <a:ext uri="{FF2B5EF4-FFF2-40B4-BE49-F238E27FC236}">
                <a16:creationId xmlns:a16="http://schemas.microsoft.com/office/drawing/2014/main" id="{EBF9FBF0-BFF6-1C17-0EB6-FD1998C84573}"/>
              </a:ext>
            </a:extLst>
          </p:cNvPr>
          <p:cNvPicPr>
            <a:picLocks noChangeAspect="1"/>
          </p:cNvPicPr>
          <p:nvPr/>
        </p:nvPicPr>
        <p:blipFill>
          <a:blip r:embed="rId3"/>
          <a:stretch>
            <a:fillRect/>
          </a:stretch>
        </p:blipFill>
        <p:spPr>
          <a:xfrm>
            <a:off x="463549" y="6800572"/>
            <a:ext cx="9260545" cy="1415772"/>
          </a:xfrm>
          <a:prstGeom prst="rect">
            <a:avLst/>
          </a:prstGeom>
        </p:spPr>
      </p:pic>
      <p:pic>
        <p:nvPicPr>
          <p:cNvPr id="4" name="Picture 3">
            <a:extLst>
              <a:ext uri="{FF2B5EF4-FFF2-40B4-BE49-F238E27FC236}">
                <a16:creationId xmlns:a16="http://schemas.microsoft.com/office/drawing/2014/main" id="{7667B9D2-7346-61D8-681C-402FC8769A64}"/>
              </a:ext>
            </a:extLst>
          </p:cNvPr>
          <p:cNvPicPr>
            <a:picLocks noChangeAspect="1"/>
          </p:cNvPicPr>
          <p:nvPr/>
        </p:nvPicPr>
        <p:blipFill>
          <a:blip r:embed="rId4"/>
          <a:stretch>
            <a:fillRect/>
          </a:stretch>
        </p:blipFill>
        <p:spPr>
          <a:xfrm>
            <a:off x="463549" y="8467546"/>
            <a:ext cx="8087854" cy="1286054"/>
          </a:xfrm>
          <a:prstGeom prst="rect">
            <a:avLst/>
          </a:prstGeom>
        </p:spPr>
      </p:pic>
      <p:sp>
        <p:nvSpPr>
          <p:cNvPr id="5" name="TextBox 4">
            <a:extLst>
              <a:ext uri="{FF2B5EF4-FFF2-40B4-BE49-F238E27FC236}">
                <a16:creationId xmlns:a16="http://schemas.microsoft.com/office/drawing/2014/main" id="{F39475E8-F527-141B-22C8-78CC4AE0A529}"/>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pic>
        <p:nvPicPr>
          <p:cNvPr id="6" name="Picture 5">
            <a:extLst>
              <a:ext uri="{FF2B5EF4-FFF2-40B4-BE49-F238E27FC236}">
                <a16:creationId xmlns:a16="http://schemas.microsoft.com/office/drawing/2014/main" id="{E1F68A8A-0027-D817-CEB7-6D3D85FC6019}"/>
              </a:ext>
            </a:extLst>
          </p:cNvPr>
          <p:cNvPicPr>
            <a:picLocks noChangeAspect="1"/>
          </p:cNvPicPr>
          <p:nvPr/>
        </p:nvPicPr>
        <p:blipFill>
          <a:blip r:embed="rId5"/>
          <a:stretch>
            <a:fillRect/>
          </a:stretch>
        </p:blipFill>
        <p:spPr>
          <a:xfrm>
            <a:off x="139739" y="2486844"/>
            <a:ext cx="8194506" cy="4220394"/>
          </a:xfrm>
          <a:prstGeom prst="rect">
            <a:avLst/>
          </a:prstGeom>
        </p:spPr>
      </p:pic>
      <p:sp>
        <p:nvSpPr>
          <p:cNvPr id="8" name="TextBox 7">
            <a:extLst>
              <a:ext uri="{FF2B5EF4-FFF2-40B4-BE49-F238E27FC236}">
                <a16:creationId xmlns:a16="http://schemas.microsoft.com/office/drawing/2014/main" id="{3BA49B86-FBBB-30D3-2A2C-F0E090E70599}"/>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9" name="Rectangle 8">
            <a:extLst>
              <a:ext uri="{FF2B5EF4-FFF2-40B4-BE49-F238E27FC236}">
                <a16:creationId xmlns:a16="http://schemas.microsoft.com/office/drawing/2014/main" id="{0AA982FD-B25A-7E4C-B506-721FDCD086B1}"/>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4114B027-A007-1615-38F6-F423B57C6535}"/>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CE1E3C7-63A1-ACD3-700A-1E28707A1D41}"/>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1A948A9D-6C6A-0874-C4B6-AFCA6D11DF82}"/>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407D9EF-EDC4-4BDE-A53F-49EE892CC9F6}"/>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5" name="TextBox 14">
            <a:extLst>
              <a:ext uri="{FF2B5EF4-FFF2-40B4-BE49-F238E27FC236}">
                <a16:creationId xmlns:a16="http://schemas.microsoft.com/office/drawing/2014/main" id="{CAC82466-0ECD-3301-6E44-611C920DBD8A}"/>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6" name="TextBox 15">
            <a:extLst>
              <a:ext uri="{FF2B5EF4-FFF2-40B4-BE49-F238E27FC236}">
                <a16:creationId xmlns:a16="http://schemas.microsoft.com/office/drawing/2014/main" id="{E34A8F2A-7BF8-4498-2753-6C334174E50B}"/>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7" name="TextBox 16">
            <a:extLst>
              <a:ext uri="{FF2B5EF4-FFF2-40B4-BE49-F238E27FC236}">
                <a16:creationId xmlns:a16="http://schemas.microsoft.com/office/drawing/2014/main" id="{86CD7915-4926-79AD-EC32-EE21EF6D321D}"/>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8" name="Rectangle 17">
            <a:extLst>
              <a:ext uri="{FF2B5EF4-FFF2-40B4-BE49-F238E27FC236}">
                <a16:creationId xmlns:a16="http://schemas.microsoft.com/office/drawing/2014/main" id="{04416EB3-C8EF-C960-48E8-18AC15DE1AB4}"/>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6214B19-91FA-F0E0-F4C2-A2CD6CC2F2DA}"/>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988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DAE871E-AFE0-8DF8-D4BF-7FF6A73A6A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5472" y="1526111"/>
            <a:ext cx="9013855" cy="8210283"/>
          </a:xfrm>
          <a:prstGeom prst="rect">
            <a:avLst/>
          </a:prstGeom>
        </p:spPr>
      </p:pic>
      <p:sp>
        <p:nvSpPr>
          <p:cNvPr id="6" name="Title 1">
            <a:extLst>
              <a:ext uri="{FF2B5EF4-FFF2-40B4-BE49-F238E27FC236}">
                <a16:creationId xmlns:a16="http://schemas.microsoft.com/office/drawing/2014/main" id="{04557DE6-709D-55AE-ED08-D241CA09FA5A}"/>
              </a:ext>
            </a:extLst>
          </p:cNvPr>
          <p:cNvSpPr>
            <a:spLocks noGrp="1"/>
          </p:cNvSpPr>
          <p:nvPr>
            <p:ph type="title"/>
          </p:nvPr>
        </p:nvSpPr>
        <p:spPr>
          <a:xfrm>
            <a:off x="463549" y="110339"/>
            <a:ext cx="12077700" cy="707886"/>
          </a:xfrm>
        </p:spPr>
        <p:txBody>
          <a:bodyPr/>
          <a:lstStyle/>
          <a:p>
            <a:r>
              <a:rPr lang="en-US" dirty="0">
                <a:latin typeface="Yu Gothic" panose="020B0400000000000000" pitchFamily="34" charset="-128"/>
                <a:ea typeface="Yu Gothic" panose="020B0400000000000000" pitchFamily="34" charset="-128"/>
              </a:rPr>
              <a:t>How can we translate that into a figure?</a:t>
            </a:r>
          </a:p>
        </p:txBody>
      </p:sp>
    </p:spTree>
    <p:extLst>
      <p:ext uri="{BB962C8B-B14F-4D97-AF65-F5344CB8AC3E}">
        <p14:creationId xmlns:p14="http://schemas.microsoft.com/office/powerpoint/2010/main" val="90688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E0A6-77FF-A37E-E860-D07E4E7C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E664B-448C-34B5-0F5A-BD637E267420}"/>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33D7DD6-6282-6ACE-7DD8-05503B2166ED}"/>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5074DD06-9E22-B4F8-0053-FD7B85A3AEAC}"/>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648D608-B22A-0701-4A66-13859ED18DFB}"/>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D3F4BCA-5ECA-DC67-6D5B-C9830BBF79AD}"/>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12CDC3E-29B4-FCB2-84D2-879552A19387}"/>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52DF1E52-4DEB-CEAD-9C28-2C104E3C2EDA}"/>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F176FC13-5F59-C40E-72CE-FA0B0BA642A7}"/>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19FAF50-7ABE-37E8-2F2D-55352E9D6172}"/>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92167DB3-A572-46D7-6CFA-7EFA55A58846}"/>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71F8EBBC-0106-C6C5-ED8E-A420A536B044}"/>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28F7495A-0F96-D363-0ED1-DE7B30E9E567}"/>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D4D5E2-839B-8425-4DD0-8D9B8B89408A}"/>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00040B0-8724-CDF5-AAB7-979D6D469555}"/>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6CA14627-A2DA-3E38-52C7-202E859F9CF0}"/>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E73CF25-367A-F898-36F7-518E4B0E7BA0}"/>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573883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3076-4B1D-8A2B-5EB4-E71FD5C06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BB331-E26A-EEB4-FAF1-B9A0063C58B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pic>
        <p:nvPicPr>
          <p:cNvPr id="7" name="Picture 6" descr="A group of graphs showing different types of numbers&#10;&#10;AI-generated content may be incorrect.">
            <a:extLst>
              <a:ext uri="{FF2B5EF4-FFF2-40B4-BE49-F238E27FC236}">
                <a16:creationId xmlns:a16="http://schemas.microsoft.com/office/drawing/2014/main" id="{2D104A9D-E9FD-F94E-B6F8-CC9E1ABC7088}"/>
              </a:ext>
            </a:extLst>
          </p:cNvPr>
          <p:cNvPicPr>
            <a:picLocks noChangeAspect="1"/>
          </p:cNvPicPr>
          <p:nvPr/>
        </p:nvPicPr>
        <p:blipFill>
          <a:blip r:embed="rId3">
            <a:extLst>
              <a:ext uri="{28A0092B-C50C-407E-A947-70E740481C1C}">
                <a14:useLocalDpi xmlns:a14="http://schemas.microsoft.com/office/drawing/2010/main" val="0"/>
              </a:ext>
            </a:extLst>
          </a:blip>
          <a:srcRect t="-1" r="54973" b="-1"/>
          <a:stretch>
            <a:fillRect/>
          </a:stretch>
        </p:blipFill>
        <p:spPr>
          <a:xfrm>
            <a:off x="1139027" y="2602436"/>
            <a:ext cx="4829973" cy="7151164"/>
          </a:xfrm>
          <a:prstGeom prst="rect">
            <a:avLst/>
          </a:prstGeom>
        </p:spPr>
      </p:pic>
      <p:sp>
        <p:nvSpPr>
          <p:cNvPr id="3" name="TextBox 2">
            <a:extLst>
              <a:ext uri="{FF2B5EF4-FFF2-40B4-BE49-F238E27FC236}">
                <a16:creationId xmlns:a16="http://schemas.microsoft.com/office/drawing/2014/main" id="{F1E35B37-795E-3799-6E93-288AA4A14CFC}"/>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89FC6E9D-2275-7612-DA3F-0DC2A3D6650F}"/>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6754B9D-D795-F60E-8E96-4A12ED3D83CA}"/>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B434123-C0DC-ABA9-A7DD-DDAB5B4E247A}"/>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443251D-FEBD-65D1-C9C3-00056598FEEA}"/>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A85B04A-AE85-5233-721D-446554AC432F}"/>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671F2DFB-B415-9D7E-2889-19FD01DE7BDE}"/>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42F7899-07CD-272C-98AE-050C92200988}"/>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3D980BE5-DB01-D597-1AE8-4EA1A111D0A1}"/>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8D2B518C-97A9-E715-90F2-D0F16C16F163}"/>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C38BD50F-4195-C4C1-42FE-F7A902F67E74}"/>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FF88A39-3D02-415E-F332-19E3F5AE8FBC}"/>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9B8FE08-36F0-94FB-F99A-39ACFECE41DD}"/>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FA44A6E1-1F5E-6A49-E06A-337BAB46A8DC}"/>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75E87EE-9817-F767-2114-74C776B65904}"/>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452727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3298-E1AA-7FD9-B6B7-A9C498204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755F9-3266-B0CA-7024-F49DD2AF9B1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pic>
        <p:nvPicPr>
          <p:cNvPr id="7" name="Picture 6" descr="A group of graphs showing different types of numbers&#10;&#10;AI-generated content may be incorrect.">
            <a:extLst>
              <a:ext uri="{FF2B5EF4-FFF2-40B4-BE49-F238E27FC236}">
                <a16:creationId xmlns:a16="http://schemas.microsoft.com/office/drawing/2014/main" id="{D8329998-BAA8-9077-D9C1-A270A1F20051}"/>
              </a:ext>
            </a:extLst>
          </p:cNvPr>
          <p:cNvPicPr>
            <a:picLocks noChangeAspect="1"/>
          </p:cNvPicPr>
          <p:nvPr/>
        </p:nvPicPr>
        <p:blipFill>
          <a:blip r:embed="rId3">
            <a:extLst>
              <a:ext uri="{28A0092B-C50C-407E-A947-70E740481C1C}">
                <a14:useLocalDpi xmlns:a14="http://schemas.microsoft.com/office/drawing/2010/main" val="0"/>
              </a:ext>
            </a:extLst>
          </a:blip>
          <a:srcRect t="-1" r="54973" b="-1"/>
          <a:stretch>
            <a:fillRect/>
          </a:stretch>
        </p:blipFill>
        <p:spPr>
          <a:xfrm>
            <a:off x="1139027" y="2602436"/>
            <a:ext cx="4829973" cy="7151164"/>
          </a:xfrm>
          <a:prstGeom prst="rect">
            <a:avLst/>
          </a:prstGeom>
        </p:spPr>
      </p:pic>
      <p:sp>
        <p:nvSpPr>
          <p:cNvPr id="3" name="Rectangle 2">
            <a:extLst>
              <a:ext uri="{FF2B5EF4-FFF2-40B4-BE49-F238E27FC236}">
                <a16:creationId xmlns:a16="http://schemas.microsoft.com/office/drawing/2014/main" id="{44673768-C344-456F-C605-8F84D413E299}"/>
              </a:ext>
            </a:extLst>
          </p:cNvPr>
          <p:cNvSpPr/>
          <p:nvPr/>
        </p:nvSpPr>
        <p:spPr>
          <a:xfrm>
            <a:off x="1139027" y="2602436"/>
            <a:ext cx="48299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685991-2E4B-7C41-CECF-014CF76A9458}"/>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C6FB1BCF-3C64-2885-A1D2-8FE3B6C0FD30}"/>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70BA36-846C-EE04-FD6F-49068AAB800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2693CE-2B2F-E865-FF4F-64DD6F713CF7}"/>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4E9FEA35-6B57-A8D4-DC44-51E71673DC2D}"/>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DB802047-7246-F52A-9AA3-49F8D1BF3699}"/>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2E553E69-BC2D-297F-CF67-89BD1F3562D5}"/>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B4E5D356-ECEE-9DD3-882D-F1C7AB4E01A9}"/>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4F598E28-0EF9-DF29-F76C-042C60AB75AA}"/>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CA0D6575-2E19-EF0B-1ED4-B6538038DCD8}"/>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43C17504-7B04-5EB9-C41F-FEC905DE4E2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B0169C-2BBD-A1E3-FC4E-A92A272E7A2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F0471B80-EB77-EE79-A67A-BD8425A45741}"/>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E95334A5-2773-D46D-A617-DAED91CD2AC6}"/>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A72AEB83-3B0B-EE9C-67D9-163C2E0048C8}"/>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263723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E58F-C185-F7C0-0075-5C52EAD8B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781AB-6D24-ECF5-53A8-876425BCFB14}"/>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pic>
        <p:nvPicPr>
          <p:cNvPr id="7" name="Picture 6" descr="A group of graphs showing different types of numbers&#10;&#10;AI-generated content may be incorrect.">
            <a:extLst>
              <a:ext uri="{FF2B5EF4-FFF2-40B4-BE49-F238E27FC236}">
                <a16:creationId xmlns:a16="http://schemas.microsoft.com/office/drawing/2014/main" id="{51D6DD4D-E2C9-5870-1535-5D337D24CCE5}"/>
              </a:ext>
            </a:extLst>
          </p:cNvPr>
          <p:cNvPicPr>
            <a:picLocks noChangeAspect="1"/>
          </p:cNvPicPr>
          <p:nvPr/>
        </p:nvPicPr>
        <p:blipFill>
          <a:blip r:embed="rId3">
            <a:extLst>
              <a:ext uri="{28A0092B-C50C-407E-A947-70E740481C1C}">
                <a14:useLocalDpi xmlns:a14="http://schemas.microsoft.com/office/drawing/2010/main" val="0"/>
              </a:ext>
            </a:extLst>
          </a:blip>
          <a:srcRect t="-1" r="54973" b="-1"/>
          <a:stretch>
            <a:fillRect/>
          </a:stretch>
        </p:blipFill>
        <p:spPr>
          <a:xfrm>
            <a:off x="1139027" y="2602436"/>
            <a:ext cx="4829973" cy="7151164"/>
          </a:xfrm>
          <a:prstGeom prst="rect">
            <a:avLst/>
          </a:prstGeom>
        </p:spPr>
      </p:pic>
      <p:sp>
        <p:nvSpPr>
          <p:cNvPr id="3" name="Rectangle 2">
            <a:extLst>
              <a:ext uri="{FF2B5EF4-FFF2-40B4-BE49-F238E27FC236}">
                <a16:creationId xmlns:a16="http://schemas.microsoft.com/office/drawing/2014/main" id="{C042690A-5D9B-9730-B7B8-19115614A265}"/>
              </a:ext>
            </a:extLst>
          </p:cNvPr>
          <p:cNvSpPr/>
          <p:nvPr/>
        </p:nvSpPr>
        <p:spPr>
          <a:xfrm>
            <a:off x="1139027" y="4953000"/>
            <a:ext cx="48299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21418D5-2F82-B622-0C2F-EBACA279A4E9}"/>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6EAD5C32-8148-953C-CE3B-888EEFF586D9}"/>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979CD41-E06D-F431-9A16-70717D97B69B}"/>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3731E59-477B-09FB-6FCB-650163AE71C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32EE343D-CD19-6B8C-203D-C532C01B036E}"/>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51D42FB-ED5F-5599-1DC6-085F5D1ECF88}"/>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E47E0CD9-76DD-1D29-46F3-A7E2124E97F6}"/>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949435D5-C6B3-FF8D-F9D6-9A178F344DFE}"/>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561BD5B3-458B-E4DB-63F2-ABC84DAEDB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39B604D-940A-4E0D-FBA9-56DEC7193F27}"/>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E18273-76AB-03D6-3023-0AED28BF353A}"/>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318D5F-98B9-5244-6149-F94158AE6DE6}"/>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9237949-DB75-A534-B648-581CAC8F41D6}"/>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119FBB12-B387-440A-7BCF-05FD62DD7D9A}"/>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2639AECB-AFAC-EC51-21CD-AAC70374E64C}"/>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283752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3AE3-C0F1-DD76-C585-10A7EEA0D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A6C8A-EFFC-18D4-658D-09745BF8D47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pic>
        <p:nvPicPr>
          <p:cNvPr id="7" name="Picture 6" descr="A group of graphs showing different types of numbers&#10;&#10;AI-generated content may be incorrect.">
            <a:extLst>
              <a:ext uri="{FF2B5EF4-FFF2-40B4-BE49-F238E27FC236}">
                <a16:creationId xmlns:a16="http://schemas.microsoft.com/office/drawing/2014/main" id="{A0297EB6-6B75-AF30-6666-8F3C4A1014E8}"/>
              </a:ext>
            </a:extLst>
          </p:cNvPr>
          <p:cNvPicPr>
            <a:picLocks noChangeAspect="1"/>
          </p:cNvPicPr>
          <p:nvPr/>
        </p:nvPicPr>
        <p:blipFill>
          <a:blip r:embed="rId3">
            <a:extLst>
              <a:ext uri="{28A0092B-C50C-407E-A947-70E740481C1C}">
                <a14:useLocalDpi xmlns:a14="http://schemas.microsoft.com/office/drawing/2010/main" val="0"/>
              </a:ext>
            </a:extLst>
          </a:blip>
          <a:srcRect t="-1" r="54973" b="-1"/>
          <a:stretch>
            <a:fillRect/>
          </a:stretch>
        </p:blipFill>
        <p:spPr>
          <a:xfrm>
            <a:off x="1139027" y="2602436"/>
            <a:ext cx="4829973" cy="7151164"/>
          </a:xfrm>
          <a:prstGeom prst="rect">
            <a:avLst/>
          </a:prstGeom>
        </p:spPr>
      </p:pic>
      <p:sp>
        <p:nvSpPr>
          <p:cNvPr id="3" name="Rectangle 2">
            <a:extLst>
              <a:ext uri="{FF2B5EF4-FFF2-40B4-BE49-F238E27FC236}">
                <a16:creationId xmlns:a16="http://schemas.microsoft.com/office/drawing/2014/main" id="{007CBD3B-EC03-480F-7002-88A5C70E3ED5}"/>
              </a:ext>
            </a:extLst>
          </p:cNvPr>
          <p:cNvSpPr/>
          <p:nvPr/>
        </p:nvSpPr>
        <p:spPr>
          <a:xfrm>
            <a:off x="1139027" y="7315200"/>
            <a:ext cx="48299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D0A52F3-023E-CA9F-6166-2CC51DC6D2CE}"/>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3603E434-A010-A64C-4F96-403169D7CEB5}"/>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84D49EC-244E-A863-0ED3-01A7628735B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02785CA-89BB-1F74-3300-4FBAED07B48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DA0A26D3-5C18-54EB-BD9E-88ED9342700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13E9B4A-3C4E-70F5-FE41-103FD73E2CD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FD28BC4F-E698-6277-B8D6-C84EE66E8264}"/>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238575A9-CAD1-19DA-51E6-7A03078918FC}"/>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C9935C80-5EF0-1387-C97B-6DF1170B30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7F02A55-09C4-7A4F-2C4C-D7006A6CB260}"/>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CAA7218-3204-0C69-538C-CE9E2F6D9BE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3BD91A7-DA37-8FBF-ED84-D73F08AE4A01}"/>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1E854AED-A3BE-2B47-B22F-68E5CB65AD99}"/>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37338D96-8A17-FCF2-0FBD-309D3C329210}"/>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7C51CE0-70E0-FF16-97DC-E75B7D39365E}"/>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3505525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2DE1-4432-354D-187A-66C5B34AD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6E05-899A-436D-D6B0-BAB5F34301C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pic>
        <p:nvPicPr>
          <p:cNvPr id="7" name="Picture 6" descr="A group of graphs showing different types of numbers&#10;&#10;AI-generated content may be incorrect.">
            <a:extLst>
              <a:ext uri="{FF2B5EF4-FFF2-40B4-BE49-F238E27FC236}">
                <a16:creationId xmlns:a16="http://schemas.microsoft.com/office/drawing/2014/main" id="{46A40BB2-7200-F153-19C0-EBFC09BBF57C}"/>
              </a:ext>
            </a:extLst>
          </p:cNvPr>
          <p:cNvPicPr>
            <a:picLocks noChangeAspect="1"/>
          </p:cNvPicPr>
          <p:nvPr/>
        </p:nvPicPr>
        <p:blipFill>
          <a:blip r:embed="rId3">
            <a:extLst>
              <a:ext uri="{28A0092B-C50C-407E-A947-70E740481C1C}">
                <a14:useLocalDpi xmlns:a14="http://schemas.microsoft.com/office/drawing/2010/main" val="0"/>
              </a:ext>
            </a:extLst>
          </a:blip>
          <a:srcRect t="-1" r="54973" b="-1"/>
          <a:stretch>
            <a:fillRect/>
          </a:stretch>
        </p:blipFill>
        <p:spPr>
          <a:xfrm>
            <a:off x="1139027" y="2602436"/>
            <a:ext cx="4829973" cy="7151164"/>
          </a:xfrm>
          <a:prstGeom prst="rect">
            <a:avLst/>
          </a:prstGeom>
        </p:spPr>
      </p:pic>
      <p:sp>
        <p:nvSpPr>
          <p:cNvPr id="3" name="Rectangle 2">
            <a:extLst>
              <a:ext uri="{FF2B5EF4-FFF2-40B4-BE49-F238E27FC236}">
                <a16:creationId xmlns:a16="http://schemas.microsoft.com/office/drawing/2014/main" id="{175D5F19-0054-1E06-5F4C-AEEA617911F3}"/>
              </a:ext>
            </a:extLst>
          </p:cNvPr>
          <p:cNvSpPr/>
          <p:nvPr/>
        </p:nvSpPr>
        <p:spPr>
          <a:xfrm>
            <a:off x="1139027" y="2602436"/>
            <a:ext cx="4829973" cy="71395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4EA74EC-297A-2448-D3A0-2CDF6F55F087}"/>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B4B09915-9B5D-43C0-E9BA-D0463E39C49D}"/>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F7F2E53C-1185-1DEE-E29B-370C59344CDF}"/>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E962C81-24D6-D8A6-E1A5-D878EC2BCCEC}"/>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B45453E2-5B8D-325C-FC4E-60B72385601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65E320A-2D07-8DDB-7AF9-320322A81B1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88C8083F-F0C2-B714-AEF5-8049A80EB37E}"/>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A9D3D8C2-05E4-3962-143B-2380F411F9E0}"/>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BFE26096-B314-6895-6164-C02AF2B19BB7}"/>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F77CD5CE-40BC-9E98-D4E9-885DB2DAFA79}"/>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2FDDD02-2C1D-1039-4A01-EDFBA85DA709}"/>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9A5829B-32F1-1404-A248-DF7295DA03E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5C9C9791-3E2C-0391-9DA2-779E48E4BC94}"/>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512B9368-C3DF-D96A-631D-6B92366FB135}"/>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10E3D10-4759-0D45-823C-5BA302A79891}"/>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388751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D2EF6-509A-0670-2AEA-FBBC65AFD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B8F29-873E-6E33-6975-98B986AE3899}"/>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pic>
        <p:nvPicPr>
          <p:cNvPr id="7" name="Picture 6" descr="A group of graphs showing different types of numbers&#10;&#10;AI-generated content may be incorrect.">
            <a:extLst>
              <a:ext uri="{FF2B5EF4-FFF2-40B4-BE49-F238E27FC236}">
                <a16:creationId xmlns:a16="http://schemas.microsoft.com/office/drawing/2014/main" id="{F1C58346-E094-EDC8-8E0D-43666832BC9B}"/>
              </a:ext>
            </a:extLst>
          </p:cNvPr>
          <p:cNvPicPr>
            <a:picLocks noChangeAspect="1"/>
          </p:cNvPicPr>
          <p:nvPr/>
        </p:nvPicPr>
        <p:blipFill>
          <a:blip r:embed="rId3">
            <a:extLst>
              <a:ext uri="{28A0092B-C50C-407E-A947-70E740481C1C}">
                <a14:useLocalDpi xmlns:a14="http://schemas.microsoft.com/office/drawing/2010/main" val="0"/>
              </a:ext>
            </a:extLst>
          </a:blip>
          <a:srcRect l="1" t="-1" r="274" b="-1"/>
          <a:stretch>
            <a:fillRect/>
          </a:stretch>
        </p:blipFill>
        <p:spPr>
          <a:xfrm>
            <a:off x="1139027" y="2602436"/>
            <a:ext cx="10697373" cy="7151164"/>
          </a:xfrm>
          <a:prstGeom prst="rect">
            <a:avLst/>
          </a:prstGeom>
        </p:spPr>
      </p:pic>
      <p:sp>
        <p:nvSpPr>
          <p:cNvPr id="20" name="Rectangle 19">
            <a:extLst>
              <a:ext uri="{FF2B5EF4-FFF2-40B4-BE49-F238E27FC236}">
                <a16:creationId xmlns:a16="http://schemas.microsoft.com/office/drawing/2014/main" id="{EB4FA0F0-3146-277F-7FFE-AA0F070557FB}"/>
              </a:ext>
            </a:extLst>
          </p:cNvPr>
          <p:cNvSpPr/>
          <p:nvPr/>
        </p:nvSpPr>
        <p:spPr>
          <a:xfrm>
            <a:off x="5892800" y="2602436"/>
            <a:ext cx="5943600"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5348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9686-B1E9-143A-7D3E-AB295C73E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257DF-0319-8542-E5E4-832CB6CA836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pic>
        <p:nvPicPr>
          <p:cNvPr id="7" name="Picture 6" descr="A group of graphs showing different types of numbers&#10;&#10;AI-generated content may be incorrect.">
            <a:extLst>
              <a:ext uri="{FF2B5EF4-FFF2-40B4-BE49-F238E27FC236}">
                <a16:creationId xmlns:a16="http://schemas.microsoft.com/office/drawing/2014/main" id="{3CABD54E-A196-9BD1-47C9-94ABA4C4D624}"/>
              </a:ext>
            </a:extLst>
          </p:cNvPr>
          <p:cNvPicPr>
            <a:picLocks noChangeAspect="1"/>
          </p:cNvPicPr>
          <p:nvPr/>
        </p:nvPicPr>
        <p:blipFill>
          <a:blip r:embed="rId3">
            <a:extLst>
              <a:ext uri="{28A0092B-C50C-407E-A947-70E740481C1C}">
                <a14:useLocalDpi xmlns:a14="http://schemas.microsoft.com/office/drawing/2010/main" val="0"/>
              </a:ext>
            </a:extLst>
          </a:blip>
          <a:srcRect l="1" t="-1" r="274" b="-1"/>
          <a:stretch>
            <a:fillRect/>
          </a:stretch>
        </p:blipFill>
        <p:spPr>
          <a:xfrm>
            <a:off x="1139027" y="2602436"/>
            <a:ext cx="10697373" cy="7151164"/>
          </a:xfrm>
          <a:prstGeom prst="rect">
            <a:avLst/>
          </a:prstGeom>
        </p:spPr>
      </p:pic>
      <p:sp>
        <p:nvSpPr>
          <p:cNvPr id="3" name="Rectangle 2">
            <a:extLst>
              <a:ext uri="{FF2B5EF4-FFF2-40B4-BE49-F238E27FC236}">
                <a16:creationId xmlns:a16="http://schemas.microsoft.com/office/drawing/2014/main" id="{9E81DC7F-B177-61B4-D120-F3E62FBA6232}"/>
              </a:ext>
            </a:extLst>
          </p:cNvPr>
          <p:cNvSpPr/>
          <p:nvPr/>
        </p:nvSpPr>
        <p:spPr>
          <a:xfrm>
            <a:off x="5816600" y="4857750"/>
            <a:ext cx="6019800" cy="48958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7643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E6BB-58FE-A4D3-A46F-D958F01C11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Tree>
    <p:extLst>
      <p:ext uri="{BB962C8B-B14F-4D97-AF65-F5344CB8AC3E}">
        <p14:creationId xmlns:p14="http://schemas.microsoft.com/office/powerpoint/2010/main" val="2642475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E248-CC57-2F7D-5FB0-2DA48E918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B3ABF-80F0-4F28-1580-A959AADCFAF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pic>
        <p:nvPicPr>
          <p:cNvPr id="4" name="Picture 3" descr="A screenshot of a graph&#10;&#10;AI-generated content may be incorrect.">
            <a:extLst>
              <a:ext uri="{FF2B5EF4-FFF2-40B4-BE49-F238E27FC236}">
                <a16:creationId xmlns:a16="http://schemas.microsoft.com/office/drawing/2014/main" id="{6E476A8D-53EC-21E5-240C-3CCE90682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200" y="2408903"/>
            <a:ext cx="8534400" cy="7315200"/>
          </a:xfrm>
          <a:prstGeom prst="rect">
            <a:avLst/>
          </a:prstGeom>
        </p:spPr>
      </p:pic>
    </p:spTree>
    <p:extLst>
      <p:ext uri="{BB962C8B-B14F-4D97-AF65-F5344CB8AC3E}">
        <p14:creationId xmlns:p14="http://schemas.microsoft.com/office/powerpoint/2010/main" val="2013949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F679-9A07-FCD5-2709-C69F6BF38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40722-2106-129B-DE22-52EED731F59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pic>
        <p:nvPicPr>
          <p:cNvPr id="4" name="Picture 3" descr="A screenshot of a graph&#10;&#10;AI-generated content may be incorrect.">
            <a:extLst>
              <a:ext uri="{FF2B5EF4-FFF2-40B4-BE49-F238E27FC236}">
                <a16:creationId xmlns:a16="http://schemas.microsoft.com/office/drawing/2014/main" id="{F79005E7-CE5D-3672-8D61-5F403D7162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200" y="2408903"/>
            <a:ext cx="8534400" cy="7315200"/>
          </a:xfrm>
          <a:prstGeom prst="rect">
            <a:avLst/>
          </a:prstGeom>
        </p:spPr>
      </p:pic>
      <p:sp>
        <p:nvSpPr>
          <p:cNvPr id="3" name="Rectangle 2">
            <a:extLst>
              <a:ext uri="{FF2B5EF4-FFF2-40B4-BE49-F238E27FC236}">
                <a16:creationId xmlns:a16="http://schemas.microsoft.com/office/drawing/2014/main" id="{328DE4CF-6E03-4583-0166-A0DFA18C7691}"/>
              </a:ext>
            </a:extLst>
          </p:cNvPr>
          <p:cNvSpPr/>
          <p:nvPr/>
        </p:nvSpPr>
        <p:spPr>
          <a:xfrm>
            <a:off x="8354613" y="2743200"/>
            <a:ext cx="2414987" cy="1295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581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2519-7C8C-3B37-5D03-31E5528D6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9A76E-8A32-835E-FA57-C662886ED67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pic>
        <p:nvPicPr>
          <p:cNvPr id="4" name="Picture 3" descr="A screenshot of a graph&#10;&#10;AI-generated content may be incorrect.">
            <a:extLst>
              <a:ext uri="{FF2B5EF4-FFF2-40B4-BE49-F238E27FC236}">
                <a16:creationId xmlns:a16="http://schemas.microsoft.com/office/drawing/2014/main" id="{44168862-F858-23EB-64E9-818EE22B7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200" y="2408903"/>
            <a:ext cx="8534400" cy="7315200"/>
          </a:xfrm>
          <a:prstGeom prst="rect">
            <a:avLst/>
          </a:prstGeom>
        </p:spPr>
      </p:pic>
      <p:sp>
        <p:nvSpPr>
          <p:cNvPr id="3" name="Rectangle 2">
            <a:extLst>
              <a:ext uri="{FF2B5EF4-FFF2-40B4-BE49-F238E27FC236}">
                <a16:creationId xmlns:a16="http://schemas.microsoft.com/office/drawing/2014/main" id="{64B49562-DF46-5FCF-9124-6EF64D2064AA}"/>
              </a:ext>
            </a:extLst>
          </p:cNvPr>
          <p:cNvSpPr/>
          <p:nvPr/>
        </p:nvSpPr>
        <p:spPr>
          <a:xfrm>
            <a:off x="8354613" y="4114800"/>
            <a:ext cx="2414987" cy="1295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994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55C4-5025-BA11-2F9B-A96A46959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E8B85-0505-F360-03C0-4331D57F73FF}"/>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pic>
        <p:nvPicPr>
          <p:cNvPr id="4" name="Picture 3" descr="A screenshot of a graph&#10;&#10;AI-generated content may be incorrect.">
            <a:extLst>
              <a:ext uri="{FF2B5EF4-FFF2-40B4-BE49-F238E27FC236}">
                <a16:creationId xmlns:a16="http://schemas.microsoft.com/office/drawing/2014/main" id="{6DB1941D-4699-BA9D-B14E-9F999B6224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200" y="2408903"/>
            <a:ext cx="8534400" cy="7315200"/>
          </a:xfrm>
          <a:prstGeom prst="rect">
            <a:avLst/>
          </a:prstGeom>
        </p:spPr>
      </p:pic>
      <p:sp>
        <p:nvSpPr>
          <p:cNvPr id="3" name="Rectangle 2">
            <a:extLst>
              <a:ext uri="{FF2B5EF4-FFF2-40B4-BE49-F238E27FC236}">
                <a16:creationId xmlns:a16="http://schemas.microsoft.com/office/drawing/2014/main" id="{31B02DD6-5C9E-9C82-B4F6-1B92FB59BE9C}"/>
              </a:ext>
            </a:extLst>
          </p:cNvPr>
          <p:cNvSpPr/>
          <p:nvPr/>
        </p:nvSpPr>
        <p:spPr>
          <a:xfrm>
            <a:off x="3606801" y="6400800"/>
            <a:ext cx="533400" cy="2819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DEC07660-772E-B1A8-D653-5BCDA87F6921}"/>
              </a:ext>
            </a:extLst>
          </p:cNvPr>
          <p:cNvSpPr txBox="1">
            <a:spLocks/>
          </p:cNvSpPr>
          <p:nvPr/>
        </p:nvSpPr>
        <p:spPr>
          <a:xfrm>
            <a:off x="8331200" y="6636811"/>
            <a:ext cx="4673600" cy="1415772"/>
          </a:xfrm>
          <a:prstGeom prst="rect">
            <a:avLst/>
          </a:prstGeom>
        </p:spPr>
        <p:txBody>
          <a:bodyPr wrap="square" lIns="0" tIns="0" rIns="0" bIns="0">
            <a:spAutoFit/>
          </a:bodyPr>
          <a:lstStyle>
            <a:lvl1pPr>
              <a:defRPr sz="4600" b="0" i="0">
                <a:solidFill>
                  <a:schemeClr val="tx1"/>
                </a:solidFill>
                <a:latin typeface="Arial"/>
                <a:ea typeface="+mj-ea"/>
                <a:cs typeface="Arial"/>
              </a:defRPr>
            </a:lvl1pPr>
          </a:lstStyle>
          <a:p>
            <a:r>
              <a:rPr lang="en-US" kern="0" dirty="0">
                <a:latin typeface="Yu Gothic" panose="020B0400000000000000" pitchFamily="34" charset="-128"/>
                <a:ea typeface="Yu Gothic" panose="020B0400000000000000" pitchFamily="34" charset="-128"/>
              </a:rPr>
              <a:t>Let’s dive deeper </a:t>
            </a:r>
          </a:p>
          <a:p>
            <a:r>
              <a:rPr lang="en-US" kern="0" dirty="0">
                <a:latin typeface="Yu Gothic" panose="020B0400000000000000" pitchFamily="34" charset="-128"/>
                <a:ea typeface="Yu Gothic" panose="020B0400000000000000" pitchFamily="34" charset="-128"/>
              </a:rPr>
              <a:t>into this</a:t>
            </a:r>
          </a:p>
        </p:txBody>
      </p:sp>
    </p:spTree>
    <p:extLst>
      <p:ext uri="{BB962C8B-B14F-4D97-AF65-F5344CB8AC3E}">
        <p14:creationId xmlns:p14="http://schemas.microsoft.com/office/powerpoint/2010/main" val="3060462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1163A-2B5D-B9C6-3F6C-A4BCFCF6EBC8}"/>
              </a:ext>
            </a:extLst>
          </p:cNvPr>
          <p:cNvSpPr>
            <a:spLocks noGrp="1"/>
          </p:cNvSpPr>
          <p:nvPr>
            <p:ph type="title"/>
          </p:nvPr>
        </p:nvSpPr>
        <p:spPr>
          <a:xfrm>
            <a:off x="463550" y="965200"/>
            <a:ext cx="12077700" cy="707886"/>
          </a:xfrm>
        </p:spPr>
        <p:txBody>
          <a:bodyPr/>
          <a:lstStyle/>
          <a:p>
            <a:r>
              <a:rPr lang="en-US" dirty="0"/>
              <a:t>Singleton proportion changes with sample size</a:t>
            </a:r>
          </a:p>
        </p:txBody>
      </p:sp>
      <p:pic>
        <p:nvPicPr>
          <p:cNvPr id="5" name="Picture 4" descr="A graph of a function&#10;&#10;AI-generated content may be incorrect.">
            <a:extLst>
              <a:ext uri="{FF2B5EF4-FFF2-40B4-BE49-F238E27FC236}">
                <a16:creationId xmlns:a16="http://schemas.microsoft.com/office/drawing/2014/main" id="{45989E6F-04FF-7090-A838-81AE305A88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1868" y="2132536"/>
            <a:ext cx="7621064" cy="7621064"/>
          </a:xfrm>
          <a:prstGeom prst="rect">
            <a:avLst/>
          </a:prstGeom>
        </p:spPr>
      </p:pic>
    </p:spTree>
    <p:extLst>
      <p:ext uri="{BB962C8B-B14F-4D97-AF65-F5344CB8AC3E}">
        <p14:creationId xmlns:p14="http://schemas.microsoft.com/office/powerpoint/2010/main" val="2157627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8E197-DDC8-BDA6-3380-EE82CBB68E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pic>
        <p:nvPicPr>
          <p:cNvPr id="5" name="Picture 4" descr="A graph of different types of numbers&#10;&#10;AI-generated content may be incorrect.">
            <a:extLst>
              <a:ext uri="{FF2B5EF4-FFF2-40B4-BE49-F238E27FC236}">
                <a16:creationId xmlns:a16="http://schemas.microsoft.com/office/drawing/2014/main" id="{2BFA8A4A-8462-A920-5B78-57742EA62CA2}"/>
              </a:ext>
            </a:extLst>
          </p:cNvPr>
          <p:cNvPicPr>
            <a:picLocks noChangeAspect="1"/>
          </p:cNvPicPr>
          <p:nvPr/>
        </p:nvPicPr>
        <p:blipFill>
          <a:blip r:embed="rId3">
            <a:extLst>
              <a:ext uri="{28A0092B-C50C-407E-A947-70E740481C1C}">
                <a14:useLocalDpi xmlns:a14="http://schemas.microsoft.com/office/drawing/2010/main" val="0"/>
              </a:ext>
            </a:extLst>
          </a:blip>
          <a:srcRect r="53759"/>
          <a:stretch>
            <a:fillRect/>
          </a:stretch>
        </p:blipFill>
        <p:spPr>
          <a:xfrm>
            <a:off x="7416800" y="3273250"/>
            <a:ext cx="4439681" cy="6400800"/>
          </a:xfrm>
          <a:prstGeom prst="rect">
            <a:avLst/>
          </a:prstGeom>
        </p:spPr>
      </p:pic>
      <p:pic>
        <p:nvPicPr>
          <p:cNvPr id="6" name="Picture 5" descr="A group of graphs showing different types of numbers&#10;&#10;AI-generated content may be incorrect.">
            <a:extLst>
              <a:ext uri="{FF2B5EF4-FFF2-40B4-BE49-F238E27FC236}">
                <a16:creationId xmlns:a16="http://schemas.microsoft.com/office/drawing/2014/main" id="{7A4FC7E9-BD72-D813-CD9A-FF1C8880F352}"/>
              </a:ext>
            </a:extLst>
          </p:cNvPr>
          <p:cNvPicPr>
            <a:picLocks noChangeAspect="1"/>
          </p:cNvPicPr>
          <p:nvPr/>
        </p:nvPicPr>
        <p:blipFill>
          <a:blip r:embed="rId4">
            <a:extLst>
              <a:ext uri="{28A0092B-C50C-407E-A947-70E740481C1C}">
                <a14:useLocalDpi xmlns:a14="http://schemas.microsoft.com/office/drawing/2010/main" val="0"/>
              </a:ext>
            </a:extLst>
          </a:blip>
          <a:srcRect t="-1" r="54973" b="-1"/>
          <a:stretch>
            <a:fillRect/>
          </a:stretch>
        </p:blipFill>
        <p:spPr>
          <a:xfrm>
            <a:off x="793411" y="3347884"/>
            <a:ext cx="4323169" cy="6400800"/>
          </a:xfrm>
          <a:prstGeom prst="rect">
            <a:avLst/>
          </a:prstGeom>
        </p:spPr>
      </p:pic>
      <p:sp>
        <p:nvSpPr>
          <p:cNvPr id="7" name="TextBox 6">
            <a:extLst>
              <a:ext uri="{FF2B5EF4-FFF2-40B4-BE49-F238E27FC236}">
                <a16:creationId xmlns:a16="http://schemas.microsoft.com/office/drawing/2014/main" id="{D5EF7D0C-BE7F-9298-0047-1A7B1E8A8D65}"/>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F1CA0E8-652D-54C9-2F60-6535D9804687}"/>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sp>
        <p:nvSpPr>
          <p:cNvPr id="3" name="Rectangle 2">
            <a:extLst>
              <a:ext uri="{FF2B5EF4-FFF2-40B4-BE49-F238E27FC236}">
                <a16:creationId xmlns:a16="http://schemas.microsoft.com/office/drawing/2014/main" id="{F3BF4A4F-27E6-B51C-3299-D4E4D83D3A24}"/>
              </a:ext>
            </a:extLst>
          </p:cNvPr>
          <p:cNvSpPr/>
          <p:nvPr/>
        </p:nvSpPr>
        <p:spPr>
          <a:xfrm>
            <a:off x="728999" y="3273249"/>
            <a:ext cx="11260901" cy="22231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4017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C524F-23C5-0FF5-299F-5D66A95CA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346B0-042B-BE08-531D-EF3CE8373F0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pic>
        <p:nvPicPr>
          <p:cNvPr id="5" name="Picture 4" descr="A graph of different types of numbers&#10;&#10;AI-generated content may be incorrect.">
            <a:extLst>
              <a:ext uri="{FF2B5EF4-FFF2-40B4-BE49-F238E27FC236}">
                <a16:creationId xmlns:a16="http://schemas.microsoft.com/office/drawing/2014/main" id="{C9494EBA-D05F-4C4B-4034-6F489BD116D6}"/>
              </a:ext>
            </a:extLst>
          </p:cNvPr>
          <p:cNvPicPr>
            <a:picLocks noChangeAspect="1"/>
          </p:cNvPicPr>
          <p:nvPr/>
        </p:nvPicPr>
        <p:blipFill>
          <a:blip r:embed="rId3">
            <a:extLst>
              <a:ext uri="{28A0092B-C50C-407E-A947-70E740481C1C}">
                <a14:useLocalDpi xmlns:a14="http://schemas.microsoft.com/office/drawing/2010/main" val="0"/>
              </a:ext>
            </a:extLst>
          </a:blip>
          <a:srcRect r="53759"/>
          <a:stretch>
            <a:fillRect/>
          </a:stretch>
        </p:blipFill>
        <p:spPr>
          <a:xfrm>
            <a:off x="7416800" y="3273250"/>
            <a:ext cx="4439681" cy="6400800"/>
          </a:xfrm>
          <a:prstGeom prst="rect">
            <a:avLst/>
          </a:prstGeom>
        </p:spPr>
      </p:pic>
      <p:pic>
        <p:nvPicPr>
          <p:cNvPr id="6" name="Picture 5" descr="A group of graphs showing different types of numbers&#10;&#10;AI-generated content may be incorrect.">
            <a:extLst>
              <a:ext uri="{FF2B5EF4-FFF2-40B4-BE49-F238E27FC236}">
                <a16:creationId xmlns:a16="http://schemas.microsoft.com/office/drawing/2014/main" id="{83F3DDA9-2431-1232-6F93-D832D22888AC}"/>
              </a:ext>
            </a:extLst>
          </p:cNvPr>
          <p:cNvPicPr>
            <a:picLocks noChangeAspect="1"/>
          </p:cNvPicPr>
          <p:nvPr/>
        </p:nvPicPr>
        <p:blipFill>
          <a:blip r:embed="rId4">
            <a:extLst>
              <a:ext uri="{28A0092B-C50C-407E-A947-70E740481C1C}">
                <a14:useLocalDpi xmlns:a14="http://schemas.microsoft.com/office/drawing/2010/main" val="0"/>
              </a:ext>
            </a:extLst>
          </a:blip>
          <a:srcRect t="-1" r="54973" b="-1"/>
          <a:stretch>
            <a:fillRect/>
          </a:stretch>
        </p:blipFill>
        <p:spPr>
          <a:xfrm>
            <a:off x="793411" y="3347884"/>
            <a:ext cx="4323169" cy="6400800"/>
          </a:xfrm>
          <a:prstGeom prst="rect">
            <a:avLst/>
          </a:prstGeom>
        </p:spPr>
      </p:pic>
      <p:sp>
        <p:nvSpPr>
          <p:cNvPr id="7" name="TextBox 6">
            <a:extLst>
              <a:ext uri="{FF2B5EF4-FFF2-40B4-BE49-F238E27FC236}">
                <a16:creationId xmlns:a16="http://schemas.microsoft.com/office/drawing/2014/main" id="{70BE2040-024F-C38C-EF4F-9A04A7C79067}"/>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8E8565A-8524-E698-2066-51C6F678377E}"/>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sp>
        <p:nvSpPr>
          <p:cNvPr id="3" name="Rectangle 2">
            <a:extLst>
              <a:ext uri="{FF2B5EF4-FFF2-40B4-BE49-F238E27FC236}">
                <a16:creationId xmlns:a16="http://schemas.microsoft.com/office/drawing/2014/main" id="{453C50AF-3B3F-148D-31EF-609990F489D2}"/>
              </a:ext>
            </a:extLst>
          </p:cNvPr>
          <p:cNvSpPr/>
          <p:nvPr/>
        </p:nvSpPr>
        <p:spPr>
          <a:xfrm>
            <a:off x="728999" y="5486400"/>
            <a:ext cx="11260901" cy="2057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5104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78853-AADF-2330-982D-EFE6DD0DB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0AE33-B80E-4C9B-C7DC-87F18C005C6F}"/>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pic>
        <p:nvPicPr>
          <p:cNvPr id="5" name="Picture 4" descr="A graph of different types of numbers&#10;&#10;AI-generated content may be incorrect.">
            <a:extLst>
              <a:ext uri="{FF2B5EF4-FFF2-40B4-BE49-F238E27FC236}">
                <a16:creationId xmlns:a16="http://schemas.microsoft.com/office/drawing/2014/main" id="{36AD6189-EF11-028B-CC0E-22D13AEE1031}"/>
              </a:ext>
            </a:extLst>
          </p:cNvPr>
          <p:cNvPicPr>
            <a:picLocks noChangeAspect="1"/>
          </p:cNvPicPr>
          <p:nvPr/>
        </p:nvPicPr>
        <p:blipFill>
          <a:blip r:embed="rId3">
            <a:extLst>
              <a:ext uri="{28A0092B-C50C-407E-A947-70E740481C1C}">
                <a14:useLocalDpi xmlns:a14="http://schemas.microsoft.com/office/drawing/2010/main" val="0"/>
              </a:ext>
            </a:extLst>
          </a:blip>
          <a:srcRect r="53759"/>
          <a:stretch>
            <a:fillRect/>
          </a:stretch>
        </p:blipFill>
        <p:spPr>
          <a:xfrm>
            <a:off x="7416800" y="3273250"/>
            <a:ext cx="4439681" cy="6400800"/>
          </a:xfrm>
          <a:prstGeom prst="rect">
            <a:avLst/>
          </a:prstGeom>
        </p:spPr>
      </p:pic>
      <p:pic>
        <p:nvPicPr>
          <p:cNvPr id="6" name="Picture 5" descr="A group of graphs showing different types of numbers&#10;&#10;AI-generated content may be incorrect.">
            <a:extLst>
              <a:ext uri="{FF2B5EF4-FFF2-40B4-BE49-F238E27FC236}">
                <a16:creationId xmlns:a16="http://schemas.microsoft.com/office/drawing/2014/main" id="{8FA096A4-AC4E-6C8B-7117-C12588AA221B}"/>
              </a:ext>
            </a:extLst>
          </p:cNvPr>
          <p:cNvPicPr>
            <a:picLocks noChangeAspect="1"/>
          </p:cNvPicPr>
          <p:nvPr/>
        </p:nvPicPr>
        <p:blipFill>
          <a:blip r:embed="rId4">
            <a:extLst>
              <a:ext uri="{28A0092B-C50C-407E-A947-70E740481C1C}">
                <a14:useLocalDpi xmlns:a14="http://schemas.microsoft.com/office/drawing/2010/main" val="0"/>
              </a:ext>
            </a:extLst>
          </a:blip>
          <a:srcRect t="-1" r="54973" b="-1"/>
          <a:stretch>
            <a:fillRect/>
          </a:stretch>
        </p:blipFill>
        <p:spPr>
          <a:xfrm>
            <a:off x="793411" y="3347884"/>
            <a:ext cx="4323169" cy="6400800"/>
          </a:xfrm>
          <a:prstGeom prst="rect">
            <a:avLst/>
          </a:prstGeom>
        </p:spPr>
      </p:pic>
      <p:sp>
        <p:nvSpPr>
          <p:cNvPr id="7" name="TextBox 6">
            <a:extLst>
              <a:ext uri="{FF2B5EF4-FFF2-40B4-BE49-F238E27FC236}">
                <a16:creationId xmlns:a16="http://schemas.microsoft.com/office/drawing/2014/main" id="{54E6FEA6-83DC-DCFB-095A-4E382D8EC45A}"/>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C93E9B19-B3D8-3BF9-9277-1048C0179D7A}"/>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sp>
        <p:nvSpPr>
          <p:cNvPr id="3" name="Rectangle 2">
            <a:extLst>
              <a:ext uri="{FF2B5EF4-FFF2-40B4-BE49-F238E27FC236}">
                <a16:creationId xmlns:a16="http://schemas.microsoft.com/office/drawing/2014/main" id="{3779ABE6-BC78-E7AA-1151-8E81FAAF3C1F}"/>
              </a:ext>
            </a:extLst>
          </p:cNvPr>
          <p:cNvSpPr/>
          <p:nvPr/>
        </p:nvSpPr>
        <p:spPr>
          <a:xfrm>
            <a:off x="728999" y="7530463"/>
            <a:ext cx="11260901" cy="22231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3374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3E79F-14A4-11B6-C942-F192EB775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628B8-1C18-EE04-7828-055E2246499C}"/>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pic>
        <p:nvPicPr>
          <p:cNvPr id="5" name="Picture 4" descr="A graph of different types of numbers&#10;&#10;AI-generated content may be incorrect.">
            <a:extLst>
              <a:ext uri="{FF2B5EF4-FFF2-40B4-BE49-F238E27FC236}">
                <a16:creationId xmlns:a16="http://schemas.microsoft.com/office/drawing/2014/main" id="{74B06DC8-9D7C-F336-C1E7-E6E434B771F3}"/>
              </a:ext>
            </a:extLst>
          </p:cNvPr>
          <p:cNvPicPr>
            <a:picLocks noChangeAspect="1"/>
          </p:cNvPicPr>
          <p:nvPr/>
        </p:nvPicPr>
        <p:blipFill>
          <a:blip r:embed="rId3">
            <a:extLst>
              <a:ext uri="{28A0092B-C50C-407E-A947-70E740481C1C}">
                <a14:useLocalDpi xmlns:a14="http://schemas.microsoft.com/office/drawing/2010/main" val="0"/>
              </a:ext>
            </a:extLst>
          </a:blip>
          <a:srcRect l="45318" r="-688"/>
          <a:stretch>
            <a:fillRect/>
          </a:stretch>
        </p:blipFill>
        <p:spPr>
          <a:xfrm>
            <a:off x="7225049" y="3353004"/>
            <a:ext cx="5316201" cy="6400800"/>
          </a:xfrm>
          <a:prstGeom prst="rect">
            <a:avLst/>
          </a:prstGeom>
        </p:spPr>
      </p:pic>
      <p:pic>
        <p:nvPicPr>
          <p:cNvPr id="6" name="Picture 5" descr="A group of graphs showing different types of numbers&#10;&#10;AI-generated content may be incorrect.">
            <a:extLst>
              <a:ext uri="{FF2B5EF4-FFF2-40B4-BE49-F238E27FC236}">
                <a16:creationId xmlns:a16="http://schemas.microsoft.com/office/drawing/2014/main" id="{59833184-44C7-F5D6-04FD-627E11AD08D2}"/>
              </a:ext>
            </a:extLst>
          </p:cNvPr>
          <p:cNvPicPr>
            <a:picLocks noChangeAspect="1"/>
          </p:cNvPicPr>
          <p:nvPr/>
        </p:nvPicPr>
        <p:blipFill>
          <a:blip r:embed="rId4">
            <a:extLst>
              <a:ext uri="{28A0092B-C50C-407E-A947-70E740481C1C}">
                <a14:useLocalDpi xmlns:a14="http://schemas.microsoft.com/office/drawing/2010/main" val="0"/>
              </a:ext>
            </a:extLst>
          </a:blip>
          <a:srcRect l="43835" t="-80" r="796" b="78"/>
          <a:stretch>
            <a:fillRect/>
          </a:stretch>
        </p:blipFill>
        <p:spPr>
          <a:xfrm>
            <a:off x="716299" y="3353004"/>
            <a:ext cx="5316201" cy="6400800"/>
          </a:xfrm>
          <a:prstGeom prst="rect">
            <a:avLst/>
          </a:prstGeom>
        </p:spPr>
      </p:pic>
      <p:sp>
        <p:nvSpPr>
          <p:cNvPr id="7" name="TextBox 6">
            <a:extLst>
              <a:ext uri="{FF2B5EF4-FFF2-40B4-BE49-F238E27FC236}">
                <a16:creationId xmlns:a16="http://schemas.microsoft.com/office/drawing/2014/main" id="{2ED93CDC-3E66-FB48-B415-2B7475DC3AE7}"/>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08B7B0FB-2870-7837-CEDA-CEB02AFF05D3}"/>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sp>
        <p:nvSpPr>
          <p:cNvPr id="4" name="Rectangle 3">
            <a:extLst>
              <a:ext uri="{FF2B5EF4-FFF2-40B4-BE49-F238E27FC236}">
                <a16:creationId xmlns:a16="http://schemas.microsoft.com/office/drawing/2014/main" id="{829D75DB-0791-7A45-575C-D981EFB8E4FB}"/>
              </a:ext>
            </a:extLst>
          </p:cNvPr>
          <p:cNvSpPr/>
          <p:nvPr/>
        </p:nvSpPr>
        <p:spPr>
          <a:xfrm>
            <a:off x="716299" y="3273250"/>
            <a:ext cx="11572202" cy="22231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8095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E50CC-C133-A615-BB54-06C71DA5F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E2D71-C022-503A-7FFD-D7D89600753E}"/>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pic>
        <p:nvPicPr>
          <p:cNvPr id="5" name="Picture 4" descr="A graph of different types of numbers&#10;&#10;AI-generated content may be incorrect.">
            <a:extLst>
              <a:ext uri="{FF2B5EF4-FFF2-40B4-BE49-F238E27FC236}">
                <a16:creationId xmlns:a16="http://schemas.microsoft.com/office/drawing/2014/main" id="{DAF19A9F-9337-AB87-94A6-89321131EC85}"/>
              </a:ext>
            </a:extLst>
          </p:cNvPr>
          <p:cNvPicPr>
            <a:picLocks noChangeAspect="1"/>
          </p:cNvPicPr>
          <p:nvPr/>
        </p:nvPicPr>
        <p:blipFill>
          <a:blip r:embed="rId3">
            <a:extLst>
              <a:ext uri="{28A0092B-C50C-407E-A947-70E740481C1C}">
                <a14:useLocalDpi xmlns:a14="http://schemas.microsoft.com/office/drawing/2010/main" val="0"/>
              </a:ext>
            </a:extLst>
          </a:blip>
          <a:srcRect l="45318" r="-688"/>
          <a:stretch>
            <a:fillRect/>
          </a:stretch>
        </p:blipFill>
        <p:spPr>
          <a:xfrm>
            <a:off x="7225049" y="3353004"/>
            <a:ext cx="5316201" cy="6400800"/>
          </a:xfrm>
          <a:prstGeom prst="rect">
            <a:avLst/>
          </a:prstGeom>
        </p:spPr>
      </p:pic>
      <p:pic>
        <p:nvPicPr>
          <p:cNvPr id="6" name="Picture 5" descr="A group of graphs showing different types of numbers&#10;&#10;AI-generated content may be incorrect.">
            <a:extLst>
              <a:ext uri="{FF2B5EF4-FFF2-40B4-BE49-F238E27FC236}">
                <a16:creationId xmlns:a16="http://schemas.microsoft.com/office/drawing/2014/main" id="{EB4DEEE5-032F-24A0-861F-748939271A08}"/>
              </a:ext>
            </a:extLst>
          </p:cNvPr>
          <p:cNvPicPr>
            <a:picLocks noChangeAspect="1"/>
          </p:cNvPicPr>
          <p:nvPr/>
        </p:nvPicPr>
        <p:blipFill>
          <a:blip r:embed="rId4">
            <a:extLst>
              <a:ext uri="{28A0092B-C50C-407E-A947-70E740481C1C}">
                <a14:useLocalDpi xmlns:a14="http://schemas.microsoft.com/office/drawing/2010/main" val="0"/>
              </a:ext>
            </a:extLst>
          </a:blip>
          <a:srcRect l="43835" t="-80" r="796" b="78"/>
          <a:stretch>
            <a:fillRect/>
          </a:stretch>
        </p:blipFill>
        <p:spPr>
          <a:xfrm>
            <a:off x="716299" y="3353004"/>
            <a:ext cx="5316201" cy="6400800"/>
          </a:xfrm>
          <a:prstGeom prst="rect">
            <a:avLst/>
          </a:prstGeom>
        </p:spPr>
      </p:pic>
      <p:sp>
        <p:nvSpPr>
          <p:cNvPr id="7" name="TextBox 6">
            <a:extLst>
              <a:ext uri="{FF2B5EF4-FFF2-40B4-BE49-F238E27FC236}">
                <a16:creationId xmlns:a16="http://schemas.microsoft.com/office/drawing/2014/main" id="{94EDDEBD-983A-5BDC-443F-BDE09F24E1A6}"/>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B573B52-6CB2-0FE9-595E-310A38BF6A3B}"/>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sp>
        <p:nvSpPr>
          <p:cNvPr id="4" name="Rectangle 3">
            <a:extLst>
              <a:ext uri="{FF2B5EF4-FFF2-40B4-BE49-F238E27FC236}">
                <a16:creationId xmlns:a16="http://schemas.microsoft.com/office/drawing/2014/main" id="{CF85924E-A2C1-4AE8-4F86-E718A593E020}"/>
              </a:ext>
            </a:extLst>
          </p:cNvPr>
          <p:cNvSpPr/>
          <p:nvPr/>
        </p:nvSpPr>
        <p:spPr>
          <a:xfrm>
            <a:off x="6972299" y="5486400"/>
            <a:ext cx="5316201" cy="4187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2414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D870460-E875-D483-C8B5-A292DB1A3AE1}"/>
              </a:ext>
            </a:extLst>
          </p:cNvPr>
          <p:cNvSpPr>
            <a:spLocks noGrp="1"/>
          </p:cNvSpPr>
          <p:nvPr>
            <p:ph type="title"/>
          </p:nvPr>
        </p:nvSpPr>
        <p:spPr>
          <a:xfrm>
            <a:off x="2235200" y="4706662"/>
            <a:ext cx="8991600" cy="1122523"/>
          </a:xfrm>
        </p:spPr>
        <p:txBody>
          <a:bodyPr>
            <a:noAutofit/>
          </a:bodyPr>
          <a:lstStyle/>
          <a:p>
            <a:r>
              <a:rPr lang="en-US" sz="5120" dirty="0">
                <a:latin typeface="Yu Gothic" charset="-128"/>
                <a:ea typeface="Yu Gothic" charset="-128"/>
                <a:cs typeface="Yu Gothic" charset="-128"/>
              </a:rPr>
              <a:t>Come check out my poster!</a:t>
            </a:r>
          </a:p>
        </p:txBody>
      </p:sp>
      <p:sp>
        <p:nvSpPr>
          <p:cNvPr id="15" name="TextBox 14">
            <a:extLst>
              <a:ext uri="{FF2B5EF4-FFF2-40B4-BE49-F238E27FC236}">
                <a16:creationId xmlns:a16="http://schemas.microsoft.com/office/drawing/2014/main" id="{D25DD320-F08D-4CEA-99E8-A144B310D4FC}"/>
              </a:ext>
            </a:extLst>
          </p:cNvPr>
          <p:cNvSpPr txBox="1"/>
          <p:nvPr/>
        </p:nvSpPr>
        <p:spPr>
          <a:xfrm>
            <a:off x="128165" y="6629400"/>
            <a:ext cx="7975260" cy="880241"/>
          </a:xfrm>
          <a:prstGeom prst="rect">
            <a:avLst/>
          </a:prstGeom>
          <a:noFill/>
        </p:spPr>
        <p:txBody>
          <a:bodyPr wrap="none" rtlCol="0">
            <a:spAutoFit/>
          </a:bodyPr>
          <a:lstStyle/>
          <a:p>
            <a:pPr defTabSz="975390"/>
            <a:r>
              <a:rPr lang="en-US" sz="2560" b="1" dirty="0">
                <a:solidFill>
                  <a:prstClr val="black"/>
                </a:solidFill>
                <a:latin typeface="Yu Gothic" panose="020B0400000000000000" pitchFamily="34" charset="-128"/>
                <a:ea typeface="Yu Gothic" panose="020B0400000000000000" pitchFamily="34" charset="-128"/>
              </a:rPr>
              <a:t>Contact Information</a:t>
            </a:r>
          </a:p>
          <a:p>
            <a:pPr defTabSz="975390"/>
            <a:r>
              <a:rPr lang="en-US" sz="2560" dirty="0">
                <a:solidFill>
                  <a:prstClr val="black"/>
                </a:solidFill>
                <a:latin typeface="Yu Gothic" panose="020B0400000000000000" pitchFamily="34" charset="-128"/>
                <a:ea typeface="Yu Gothic" panose="020B0400000000000000" pitchFamily="34" charset="-128"/>
              </a:rPr>
              <a:t>Jonathan Mah, University of California, Los Angeles</a:t>
            </a:r>
          </a:p>
        </p:txBody>
      </p:sp>
      <p:sp>
        <p:nvSpPr>
          <p:cNvPr id="17" name="object 7">
            <a:extLst>
              <a:ext uri="{FF2B5EF4-FFF2-40B4-BE49-F238E27FC236}">
                <a16:creationId xmlns:a16="http://schemas.microsoft.com/office/drawing/2014/main" id="{63AB51BB-0A0E-B159-850D-1583DEA5CFB2}"/>
              </a:ext>
            </a:extLst>
          </p:cNvPr>
          <p:cNvSpPr/>
          <p:nvPr/>
        </p:nvSpPr>
        <p:spPr>
          <a:xfrm>
            <a:off x="25400" y="7769809"/>
            <a:ext cx="922546" cy="642733"/>
          </a:xfrm>
          <a:prstGeom prst="rect">
            <a:avLst/>
          </a:prstGeom>
          <a:blipFill>
            <a:blip r:embed="rId3" cstate="print"/>
            <a:stretch>
              <a:fillRect/>
            </a:stretch>
          </a:blipFill>
        </p:spPr>
        <p:txBody>
          <a:bodyPr wrap="square" lIns="0" tIns="0" rIns="0" bIns="0" rtlCol="0"/>
          <a:lstStyle/>
          <a:p>
            <a:pPr defTabSz="975390"/>
            <a:endParaRPr sz="1920">
              <a:solidFill>
                <a:prstClr val="black"/>
              </a:solidFill>
              <a:latin typeface="Calibri" panose="020F0502020204030204"/>
            </a:endParaRPr>
          </a:p>
        </p:txBody>
      </p:sp>
      <p:sp>
        <p:nvSpPr>
          <p:cNvPr id="18" name="object 8">
            <a:extLst>
              <a:ext uri="{FF2B5EF4-FFF2-40B4-BE49-F238E27FC236}">
                <a16:creationId xmlns:a16="http://schemas.microsoft.com/office/drawing/2014/main" id="{1B9D2770-EE52-EFE6-9BA6-167C882AA436}"/>
              </a:ext>
            </a:extLst>
          </p:cNvPr>
          <p:cNvSpPr txBox="1"/>
          <p:nvPr/>
        </p:nvSpPr>
        <p:spPr>
          <a:xfrm>
            <a:off x="821769" y="7509641"/>
            <a:ext cx="7975260" cy="1058068"/>
          </a:xfrm>
          <a:prstGeom prst="rect">
            <a:avLst/>
          </a:prstGeom>
        </p:spPr>
        <p:txBody>
          <a:bodyPr vert="horz" wrap="square" lIns="0" tIns="13547" rIns="0" bIns="0" rtlCol="0">
            <a:spAutoFit/>
          </a:bodyPr>
          <a:lstStyle/>
          <a:p>
            <a:pPr marL="13547" defTabSz="975390">
              <a:spcBef>
                <a:spcPts val="1984"/>
              </a:spcBef>
            </a:pPr>
            <a:r>
              <a:rPr lang="en-US" sz="2560" spc="-37" dirty="0">
                <a:solidFill>
                  <a:prstClr val="black"/>
                </a:solidFill>
                <a:latin typeface="Yu Gothic" panose="020B0400000000000000" pitchFamily="34" charset="-128"/>
                <a:ea typeface="Yu Gothic" panose="020B0400000000000000" pitchFamily="34" charset="-128"/>
                <a:cs typeface="Arial"/>
              </a:rPr>
              <a:t>@jonmah_compbio</a:t>
            </a:r>
          </a:p>
          <a:p>
            <a:pPr marL="13547" defTabSz="975390">
              <a:spcBef>
                <a:spcPts val="1984"/>
              </a:spcBef>
            </a:pPr>
            <a:r>
              <a:rPr lang="en-US" sz="2560" spc="-16" dirty="0">
                <a:solidFill>
                  <a:prstClr val="black"/>
                </a:solidFill>
                <a:latin typeface="Yu Gothic" panose="020B0400000000000000" pitchFamily="34" charset="-128"/>
                <a:ea typeface="Yu Gothic" panose="020B0400000000000000" pitchFamily="34" charset="-128"/>
                <a:cs typeface="Arial"/>
              </a:rPr>
              <a:t>jonmah@g.ucla.edu</a:t>
            </a:r>
            <a:endParaRPr sz="2560" dirty="0">
              <a:solidFill>
                <a:prstClr val="black"/>
              </a:solidFill>
              <a:latin typeface="Yu Gothic" panose="020B0400000000000000" pitchFamily="34" charset="-128"/>
              <a:ea typeface="Yu Gothic" panose="020B0400000000000000" pitchFamily="34" charset="-128"/>
              <a:cs typeface="Arial"/>
            </a:endParaRPr>
          </a:p>
        </p:txBody>
      </p:sp>
      <p:pic>
        <p:nvPicPr>
          <p:cNvPr id="19" name="Picture 18" descr="A black and white symbol&#10;&#10;Description automatically generated">
            <a:extLst>
              <a:ext uri="{FF2B5EF4-FFF2-40B4-BE49-F238E27FC236}">
                <a16:creationId xmlns:a16="http://schemas.microsoft.com/office/drawing/2014/main" id="{C89D3F19-D5E9-BAB6-7974-392D07AED9DF}"/>
              </a:ext>
            </a:extLst>
          </p:cNvPr>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13357" y="7460742"/>
            <a:ext cx="511262" cy="594834"/>
          </a:xfrm>
          <a:prstGeom prst="rect">
            <a:avLst/>
          </a:prstGeom>
        </p:spPr>
      </p:pic>
      <p:sp>
        <p:nvSpPr>
          <p:cNvPr id="20" name="Content Placeholder 2">
            <a:extLst>
              <a:ext uri="{FF2B5EF4-FFF2-40B4-BE49-F238E27FC236}">
                <a16:creationId xmlns:a16="http://schemas.microsoft.com/office/drawing/2014/main" id="{1D7E532B-C587-79E9-2BB4-2E08A2C7C890}"/>
              </a:ext>
            </a:extLst>
          </p:cNvPr>
          <p:cNvSpPr txBox="1">
            <a:spLocks/>
          </p:cNvSpPr>
          <p:nvPr/>
        </p:nvSpPr>
        <p:spPr>
          <a:xfrm>
            <a:off x="724620" y="2098696"/>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Population demographic inference is sensitive to the number of individuals.</a:t>
            </a:r>
          </a:p>
          <a:p>
            <a:r>
              <a:rPr lang="en-US" sz="2400" dirty="0">
                <a:latin typeface="Yu Gothic" panose="020B0400000000000000" pitchFamily="34" charset="-128"/>
                <a:ea typeface="Yu Gothic" panose="020B0400000000000000" pitchFamily="34" charset="-128"/>
              </a:rPr>
              <a:t>Dominant evolutionary signals may reflect the distribution of coalescent branch lengths across time</a:t>
            </a:r>
          </a:p>
          <a:p>
            <a:r>
              <a:rPr lang="en-US" sz="2400" dirty="0">
                <a:latin typeface="Yu Gothic" panose="020B0400000000000000" pitchFamily="34" charset="-128"/>
                <a:ea typeface="Yu Gothic" panose="020B0400000000000000" pitchFamily="34" charset="-128"/>
              </a:rPr>
              <a:t>Analyzing data sets consisting of differing numbers of individuals may reveal complementary facets of evolutionary history.</a:t>
            </a:r>
          </a:p>
        </p:txBody>
      </p:sp>
      <p:sp>
        <p:nvSpPr>
          <p:cNvPr id="21" name="Title 1">
            <a:extLst>
              <a:ext uri="{FF2B5EF4-FFF2-40B4-BE49-F238E27FC236}">
                <a16:creationId xmlns:a16="http://schemas.microsoft.com/office/drawing/2014/main" id="{0FC6429E-CE99-196A-3487-0389812D521F}"/>
              </a:ext>
            </a:extLst>
          </p:cNvPr>
          <p:cNvSpPr txBox="1">
            <a:spLocks/>
          </p:cNvSpPr>
          <p:nvPr/>
        </p:nvSpPr>
        <p:spPr>
          <a:xfrm>
            <a:off x="463550" y="9652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Takeaways</a:t>
            </a:r>
          </a:p>
        </p:txBody>
      </p:sp>
      <p:grpSp>
        <p:nvGrpSpPr>
          <p:cNvPr id="22" name="Group 21">
            <a:extLst>
              <a:ext uri="{FF2B5EF4-FFF2-40B4-BE49-F238E27FC236}">
                <a16:creationId xmlns:a16="http://schemas.microsoft.com/office/drawing/2014/main" id="{26C6D7EA-0C1A-61E2-B831-84A712D3AB1B}"/>
              </a:ext>
            </a:extLst>
          </p:cNvPr>
          <p:cNvGrpSpPr/>
          <p:nvPr/>
        </p:nvGrpSpPr>
        <p:grpSpPr>
          <a:xfrm>
            <a:off x="4062110" y="7417299"/>
            <a:ext cx="4846320" cy="1899356"/>
            <a:chOff x="977917" y="246723"/>
            <a:chExt cx="9791683" cy="3703320"/>
          </a:xfrm>
        </p:grpSpPr>
        <p:pic>
          <p:nvPicPr>
            <p:cNvPr id="23" name="Picture 22">
              <a:extLst>
                <a:ext uri="{FF2B5EF4-FFF2-40B4-BE49-F238E27FC236}">
                  <a16:creationId xmlns:a16="http://schemas.microsoft.com/office/drawing/2014/main" id="{2992ADAA-CCB9-BF1D-37E5-C531A0A252E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2543" t="2183" r="14988" b="11079"/>
            <a:stretch/>
          </p:blipFill>
          <p:spPr>
            <a:xfrm>
              <a:off x="977917" y="500347"/>
              <a:ext cx="3962400" cy="3352800"/>
            </a:xfrm>
            <a:prstGeom prst="rect">
              <a:avLst/>
            </a:prstGeom>
          </p:spPr>
        </p:pic>
        <p:pic>
          <p:nvPicPr>
            <p:cNvPr id="24" name="Picture 2" descr="UCLA Script logo">
              <a:extLst>
                <a:ext uri="{FF2B5EF4-FFF2-40B4-BE49-F238E27FC236}">
                  <a16:creationId xmlns:a16="http://schemas.microsoft.com/office/drawing/2014/main" id="{6DFFD341-1825-27BC-F633-147872148B8F}"/>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633" t="23014" r="22461" b="21865"/>
            <a:stretch/>
          </p:blipFill>
          <p:spPr bwMode="auto">
            <a:xfrm>
              <a:off x="4978400" y="1987009"/>
              <a:ext cx="3048000" cy="162339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0883846-C6C6-DC94-8BCE-162FBB658B46}"/>
                </a:ext>
              </a:extLst>
            </p:cNvPr>
            <p:cNvPicPr>
              <a:picLocks noChangeAspect="1"/>
            </p:cNvPicPr>
            <p:nvPr/>
          </p:nvPicPr>
          <p:blipFill>
            <a:blip r:embed="rId7"/>
            <a:stretch>
              <a:fillRect/>
            </a:stretch>
          </p:blipFill>
          <p:spPr>
            <a:xfrm>
              <a:off x="8483600" y="246723"/>
              <a:ext cx="2286000" cy="3703320"/>
            </a:xfrm>
            <a:prstGeom prst="rect">
              <a:avLst/>
            </a:prstGeom>
          </p:spPr>
        </p:pic>
      </p:grpSp>
    </p:spTree>
    <p:extLst>
      <p:ext uri="{BB962C8B-B14F-4D97-AF65-F5344CB8AC3E}">
        <p14:creationId xmlns:p14="http://schemas.microsoft.com/office/powerpoint/2010/main" val="1521993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13869</TotalTime>
  <Words>2238</Words>
  <Application>Microsoft Office PowerPoint</Application>
  <PresentationFormat>Custom</PresentationFormat>
  <Paragraphs>209</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Yu Gothic</vt:lpstr>
      <vt:lpstr>Arial</vt:lpstr>
      <vt:lpstr>Calibri</vt:lpstr>
      <vt:lpstr>Office Theme</vt:lpstr>
      <vt:lpstr>How does the number of individuals studied influence the evolutionary stories we infer from population genetic data?</vt:lpstr>
      <vt:lpstr>How does the number of individuals studied influence the evolutionary stories we infer from population genetic data?</vt:lpstr>
      <vt:lpstr>Inferred demographic models may depend on the number of individuals analyzed</vt:lpstr>
      <vt:lpstr>Inferred demographic models may depend on the number of individuals analyzed</vt:lpstr>
      <vt:lpstr>Inferred demographic models may depend on the number of individuals analyzed</vt:lpstr>
      <vt:lpstr>How can we translate that into a figure?</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Singleton proportion changes with sample size</vt:lpstr>
      <vt:lpstr>Demographic inference of empirical data is sensitive to the number of individuals</vt:lpstr>
      <vt:lpstr>Demographic inference of empirical data is sensitive to the number of individuals</vt:lpstr>
      <vt:lpstr>Demographic inference of empirical data is sensitive to the number of individuals</vt:lpstr>
      <vt:lpstr>Demographic inference of empirical data is sensitive to the number of individuals</vt:lpstr>
      <vt:lpstr>Demographic inference of empirical data is sensitive to the number of individuals</vt:lpstr>
      <vt:lpstr>Come check out my poster!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Domestication on the DFE  and Mutation Spectrum of Canids</dc:title>
  <dc:creator>Jonathan Mah</dc:creator>
  <cp:lastModifiedBy>Jonathan Mah</cp:lastModifiedBy>
  <cp:revision>312</cp:revision>
  <dcterms:created xsi:type="dcterms:W3CDTF">2019-09-10T15:46:25Z</dcterms:created>
  <dcterms:modified xsi:type="dcterms:W3CDTF">2025-10-29T18:03:46Z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2019-09-10T00:00:00Z</vt:filetime>
  </property>
</Properties>
</file>