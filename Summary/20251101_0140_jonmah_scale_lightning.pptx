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3" r:id="rId4"/>
    <p:sldId id="262" r:id="rId5"/>
    <p:sldId id="268" r:id="rId6"/>
    <p:sldId id="273" r:id="rId7"/>
    <p:sldId id="269" r:id="rId8"/>
    <p:sldId id="270" r:id="rId9"/>
    <p:sldId id="271" r:id="rId10"/>
    <p:sldId id="272" r:id="rId11"/>
    <p:sldId id="259" r:id="rId12"/>
    <p:sldId id="274" r:id="rId13"/>
    <p:sldId id="275" r:id="rId14"/>
    <p:sldId id="276" r:id="rId15"/>
    <p:sldId id="277" r:id="rId16"/>
    <p:sldId id="260" r:id="rId17"/>
    <p:sldId id="261" r:id="rId18"/>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57"/>
            <p14:sldId id="263"/>
            <p14:sldId id="262"/>
            <p14:sldId id="268"/>
            <p14:sldId id="273"/>
            <p14:sldId id="269"/>
            <p14:sldId id="270"/>
            <p14:sldId id="271"/>
            <p14:sldId id="272"/>
            <p14:sldId id="259"/>
            <p14:sldId id="274"/>
            <p14:sldId id="275"/>
            <p14:sldId id="276"/>
            <p14:sldId id="277"/>
            <p14:sldId id="260"/>
            <p14:sldId id="26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F79"/>
    <a:srgbClr val="D75600"/>
    <a:srgbClr val="716BB0"/>
    <a:srgbClr val="BC232C"/>
    <a:srgbClr val="E9D4BF"/>
    <a:srgbClr val="5ABAB9"/>
    <a:srgbClr val="D2232E"/>
    <a:srgbClr val="CA985C"/>
    <a:srgbClr val="393F7C"/>
    <a:srgbClr val="0D0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1CA2F3-3D86-4299-9D8E-5770BCF81177}" v="125" dt="2025-10-31T18:46:48.5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82175" autoAdjust="0"/>
  </p:normalViewPr>
  <p:slideViewPr>
    <p:cSldViewPr>
      <p:cViewPr>
        <p:scale>
          <a:sx n="50" d="100"/>
          <a:sy n="50" d="100"/>
        </p:scale>
        <p:origin x="1542" y="-342"/>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10/31/2025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 particular interest in the case of complex demographic histories, such as the story of modern human populations. Here on the top left I show the classic Tennessen demographic model for human population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2</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prioritize capture of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however as we like to say in statistics: all models are wrong, but some are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a:t>
            </a:r>
            <a:r>
              <a:rPr lang="en-US" dirty="0" err="1"/>
              <a:t>MSPrime</a:t>
            </a:r>
            <a:r>
              <a:rPr lang="en-US" dirty="0"/>
              <a:t>, which is a coalescent based simulation framework. As is standard in population genetics, we then fit a simple two-epoch model to determine whether the ancient contraction or the recent expansion was the dominant evolutionary signal.</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5</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Tajima’s D, the inferred ratio of current to ancestral effective population size, and the inferred time since the instantaneous size change.</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6</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which depicts Tajima’s D vs. sample size. A positive Tajima’s D typically indicates an excess of intermediate frequency variants in the SFS, suggesting a population contraction. Conversely, a negative Tajima’s D indicates an excess of low frequency variants in the SFS, suggesting a population expansion.</a:t>
            </a:r>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middle panel on the left depicts how the inferred ratio of current to ancestral population size changes with the number of individuals analyzed. The dotted black line indicates a ratio of 1; thus, data below the line indicates an inferred population contraction, while data above the line indicates an inferred population expansion. As with the story of Tajima’s D, we find that the evolutionary signal is sensitive to the number of individuals analyzed.</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also tells a story about how the inferred timing of the inferred population size change is ancient for a lower number of individuals analyzed and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small dataset, two-epoch inference of this scenario captures an ancient contraction, while when analyzing a large dataset,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the proportion of branch length per epoch. To help with interpretation, I’ve provided a schematic for the simulated three-epoch demographic scenario on the right, color coded and labeled by epoch.</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r>
              <a:rPr lang="en-US" dirty="0"/>
              <a:t>Data points which are solid and filled in indicate the samples from which a two-epoch demographic model inferred a population contraction, while hollow points indicate a population expansion.</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are color-coded by the ground truth epoch in which the branch proportion fell upon the coalescent tree</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was captured by the two-epoch model. As an example, here when the teal data points overtake the orange data points is when the inferred evolutionary signal changes from an ancient bottleneck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here on the right in blue, finding similarly that data sets with fewer individuals infer an ancient contraction while data sets with more individuals infer a recent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evolutionary history.</a:t>
            </a:r>
          </a:p>
          <a:p>
            <a:endParaRPr lang="en-US" dirty="0"/>
          </a:p>
          <a:p>
            <a:r>
              <a:rPr lang="en-US" dirty="0"/>
              <a:t>I’m happy to take any questions, but more realistically for time it’ll be at my poster.</a:t>
            </a:r>
          </a:p>
        </p:txBody>
      </p:sp>
      <p:sp>
        <p:nvSpPr>
          <p:cNvPr id="4" name="Slide Number Placeholder 3"/>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788477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1</a:t>
            </a:r>
            <a:r>
              <a:rPr lang="en-US" sz="3000" spc="-5" baseline="30000" dirty="0">
                <a:solidFill>
                  <a:srgbClr val="929292"/>
                </a:solidFill>
                <a:latin typeface="Yu Gothic" panose="020B0400000000000000" pitchFamily="34" charset="-128"/>
                <a:ea typeface="Yu Gothic" panose="020B0400000000000000" pitchFamily="34" charset="-128"/>
                <a:cs typeface="Arial"/>
              </a:rPr>
              <a:t>st</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solidFill>
              <a:srgbClr val="FF0000"/>
            </a:solid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839355AE-AC49-382A-8C09-A209B8969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Tree>
    <p:extLst>
      <p:ext uri="{BB962C8B-B14F-4D97-AF65-F5344CB8AC3E}">
        <p14:creationId xmlns:p14="http://schemas.microsoft.com/office/powerpoint/2010/main" val="45272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pic>
        <p:nvPicPr>
          <p:cNvPr id="24" name="Picture 23" descr="A graph of different sizes and numbers&#10;&#10;AI-generated content may be incorrect.">
            <a:extLst>
              <a:ext uri="{FF2B5EF4-FFF2-40B4-BE49-F238E27FC236}">
                <a16:creationId xmlns:a16="http://schemas.microsoft.com/office/drawing/2014/main" id="{0D2FB44E-E98B-4564-66D3-95ACFDC8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Rectangle 2">
            <a:extLst>
              <a:ext uri="{FF2B5EF4-FFF2-40B4-BE49-F238E27FC236}">
                <a16:creationId xmlns:a16="http://schemas.microsoft.com/office/drawing/2014/main" id="{44673768-C344-456F-C605-8F84D413E299}"/>
              </a:ext>
            </a:extLst>
          </p:cNvPr>
          <p:cNvSpPr/>
          <p:nvPr/>
        </p:nvSpPr>
        <p:spPr>
          <a:xfrm>
            <a:off x="1300385" y="2567402"/>
            <a:ext cx="53068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02666F9B-B588-A6A7-259C-30DE47851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D9CD594-2D81-69BB-C8B5-33A4094C8897}"/>
              </a:ext>
            </a:extLst>
          </p:cNvPr>
          <p:cNvSpPr/>
          <p:nvPr/>
        </p:nvSpPr>
        <p:spPr>
          <a:xfrm>
            <a:off x="1300385" y="4876800"/>
            <a:ext cx="5306873" cy="22743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75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FEAAACEB-F48A-609A-C1E7-A7835776D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3DD02E8-C266-059D-E1A5-E1B1FE40B992}"/>
              </a:ext>
            </a:extLst>
          </p:cNvPr>
          <p:cNvSpPr/>
          <p:nvPr/>
        </p:nvSpPr>
        <p:spPr>
          <a:xfrm>
            <a:off x="1300385" y="7162800"/>
            <a:ext cx="5306873" cy="2514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2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931E3665-B02B-AA97-2D03-FFFF7DE68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F32BA21D-6620-5935-AC6A-9A8A6F541DB9}"/>
              </a:ext>
            </a:extLst>
          </p:cNvPr>
          <p:cNvSpPr/>
          <p:nvPr/>
        </p:nvSpPr>
        <p:spPr>
          <a:xfrm>
            <a:off x="1300385" y="2622146"/>
            <a:ext cx="5306873" cy="70768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1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3CB5B3F-CCC1-E60A-67D6-830BE6976506}"/>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8684A2-3A76-BC2A-7CF5-49143AC9DDA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BDF4481-EA7C-B668-DB14-A5E05EE0874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FC0001A-C08B-8E4C-0689-AF18228140FC}"/>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8C4190-D4D4-85EF-478E-EF255727E0C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281DE32-05B3-1E49-40B7-AB4442E592FF}"/>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BD41D0E-C5F6-AFD5-E824-84FCCDB77FF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Tree>
    <p:extLst>
      <p:ext uri="{BB962C8B-B14F-4D97-AF65-F5344CB8AC3E}">
        <p14:creationId xmlns:p14="http://schemas.microsoft.com/office/powerpoint/2010/main" val="201394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CB30942-27F5-6965-D695-0D90D5DEF15B}"/>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60F1E1D8-3096-6234-C065-5B7876D4AD52}"/>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8225B8A-2BB5-5DB2-E497-E890A241A610}"/>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7FD2496-C5F8-0EBC-2842-D42B8B0B0BF6}"/>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1A4616-85CF-A2AB-1299-BDC5303E8700}"/>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C701D8D-4943-3B6D-7114-F4C3E44EB5D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1F82A94E-A265-07CB-CEA8-E66717DFA2A4}"/>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252FE87C-DA2B-A89E-E6CE-3E5DE01239DD}"/>
              </a:ext>
            </a:extLst>
          </p:cNvPr>
          <p:cNvSpPr/>
          <p:nvPr/>
        </p:nvSpPr>
        <p:spPr>
          <a:xfrm>
            <a:off x="7486827" y="5428770"/>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5EF4915-6351-8858-7065-6B2CAC9EB813}"/>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BB51FDFB-755F-C24D-921C-6F535B8FB66C}"/>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834A376-D87E-12B3-0F0C-8553E9427E05}"/>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ADC4C22-EDB9-C5F6-799D-D3E7B3630589}"/>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C8CAE9-C6D0-69E3-973B-AA220895D9C1}"/>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4B4C5F8-3203-166C-9E7C-26E9469C1B22}"/>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062E8146-7C10-6681-5A36-D71C666B4E56}"/>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12A808E6-B05C-8895-95BD-6580B0F8789D}"/>
              </a:ext>
            </a:extLst>
          </p:cNvPr>
          <p:cNvSpPr/>
          <p:nvPr/>
        </p:nvSpPr>
        <p:spPr>
          <a:xfrm>
            <a:off x="7486826" y="6186574"/>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C553765-8654-8882-AC50-C1B0D127ADDE}"/>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3C798A7E-862C-6CF0-AD65-1535BA56A59B}"/>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153A8D8-90BC-FF7A-E2B8-D4DEB6975F88}"/>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941B5A6-508F-D78F-F773-2E398A2FD734}"/>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CD99AA-492C-B378-7F4E-479B3CE57FC9}"/>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ECAF11FC-EAE5-8643-C1D3-3574C18699EE}"/>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A57A5040-F570-FDC2-8A88-9905F9FCD42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5ED55A9F-0648-D163-874C-F7223FAB5107}"/>
              </a:ext>
            </a:extLst>
          </p:cNvPr>
          <p:cNvSpPr/>
          <p:nvPr/>
        </p:nvSpPr>
        <p:spPr>
          <a:xfrm>
            <a:off x="1092200" y="3962400"/>
            <a:ext cx="914400" cy="457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CD2233-92F6-8D7D-BBAB-CCF2DB0DFCC2}"/>
              </a:ext>
            </a:extLst>
          </p:cNvPr>
          <p:cNvSpPr/>
          <p:nvPr/>
        </p:nvSpPr>
        <p:spPr>
          <a:xfrm>
            <a:off x="9321801" y="5257800"/>
            <a:ext cx="3411246"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6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pic>
        <p:nvPicPr>
          <p:cNvPr id="3" name="Picture 2" descr="A graph of different sizes and numbers&#10;&#10;AI-generated content may be incorrect.">
            <a:extLst>
              <a:ext uri="{FF2B5EF4-FFF2-40B4-BE49-F238E27FC236}">
                <a16:creationId xmlns:a16="http://schemas.microsoft.com/office/drawing/2014/main" id="{B61A08DD-1268-2A4B-E65E-EE3FE77AF135}"/>
              </a:ext>
            </a:extLst>
          </p:cNvPr>
          <p:cNvPicPr>
            <a:picLocks noChangeAspect="1"/>
          </p:cNvPicPr>
          <p:nvPr/>
        </p:nvPicPr>
        <p:blipFill>
          <a:blip r:embed="rId3">
            <a:extLst>
              <a:ext uri="{28A0092B-C50C-407E-A947-70E740481C1C}">
                <a14:useLocalDpi xmlns:a14="http://schemas.microsoft.com/office/drawing/2010/main" val="0"/>
              </a:ext>
            </a:extLst>
          </a:blip>
          <a:srcRect t="31860"/>
          <a:stretch>
            <a:fillRect/>
          </a:stretch>
        </p:blipFill>
        <p:spPr>
          <a:xfrm>
            <a:off x="345522" y="3353004"/>
            <a:ext cx="5425656" cy="4929416"/>
          </a:xfrm>
          <a:prstGeom prst="rect">
            <a:avLst/>
          </a:prstGeom>
        </p:spPr>
      </p:pic>
      <p:pic>
        <p:nvPicPr>
          <p:cNvPr id="11" name="Picture 10" descr="A graph of a number of people&#10;&#10;AI-generated content may be incorrect.">
            <a:extLst>
              <a:ext uri="{FF2B5EF4-FFF2-40B4-BE49-F238E27FC236}">
                <a16:creationId xmlns:a16="http://schemas.microsoft.com/office/drawing/2014/main" id="{F667711A-01FC-1C85-F487-8C3208DC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06" y="3254200"/>
            <a:ext cx="5167928" cy="5167928"/>
          </a:xfrm>
          <a:prstGeom prst="rect">
            <a:avLst/>
          </a:prstGeom>
        </p:spPr>
      </p:pic>
    </p:spTree>
    <p:extLst>
      <p:ext uri="{BB962C8B-B14F-4D97-AF65-F5344CB8AC3E}">
        <p14:creationId xmlns:p14="http://schemas.microsoft.com/office/powerpoint/2010/main" val="48401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870460-E875-D483-C8B5-A292DB1A3AE1}"/>
              </a:ext>
            </a:extLst>
          </p:cNvPr>
          <p:cNvSpPr>
            <a:spLocks noGrp="1"/>
          </p:cNvSpPr>
          <p:nvPr>
            <p:ph type="title"/>
          </p:nvPr>
        </p:nvSpPr>
        <p:spPr>
          <a:xfrm>
            <a:off x="2235200" y="4706662"/>
            <a:ext cx="8991600" cy="1122523"/>
          </a:xfrm>
        </p:spPr>
        <p:txBody>
          <a:bodyPr>
            <a:noAutofit/>
          </a:bodyPr>
          <a:lstStyle/>
          <a:p>
            <a:r>
              <a:rPr lang="en-US" sz="5120" dirty="0">
                <a:latin typeface="Yu Gothic" charset="-128"/>
                <a:ea typeface="Yu Gothic" charset="-128"/>
                <a:cs typeface="Yu Gothic" charset="-128"/>
              </a:rPr>
              <a:t>Come check out my poster!</a:t>
            </a:r>
          </a:p>
        </p:txBody>
      </p:sp>
      <p:sp>
        <p:nvSpPr>
          <p:cNvPr id="15" name="TextBox 14">
            <a:extLst>
              <a:ext uri="{FF2B5EF4-FFF2-40B4-BE49-F238E27FC236}">
                <a16:creationId xmlns:a16="http://schemas.microsoft.com/office/drawing/2014/main" id="{D25DD320-F08D-4CEA-99E8-A144B310D4FC}"/>
              </a:ext>
            </a:extLst>
          </p:cNvPr>
          <p:cNvSpPr txBox="1"/>
          <p:nvPr/>
        </p:nvSpPr>
        <p:spPr>
          <a:xfrm>
            <a:off x="128165" y="6629400"/>
            <a:ext cx="7975260" cy="880241"/>
          </a:xfrm>
          <a:prstGeom prst="rect">
            <a:avLst/>
          </a:prstGeom>
          <a:noFill/>
        </p:spPr>
        <p:txBody>
          <a:bodyPr wrap="none" rtlCol="0">
            <a:spAutoFit/>
          </a:bodyPr>
          <a:lstStyle/>
          <a:p>
            <a:pPr defTabSz="975390"/>
            <a:r>
              <a:rPr lang="en-US" sz="2560" b="1" dirty="0">
                <a:solidFill>
                  <a:prstClr val="black"/>
                </a:solidFill>
                <a:latin typeface="Yu Gothic" panose="020B0400000000000000" pitchFamily="34" charset="-128"/>
                <a:ea typeface="Yu Gothic" panose="020B0400000000000000" pitchFamily="34" charset="-128"/>
              </a:rPr>
              <a:t>Contact Information</a:t>
            </a:r>
          </a:p>
          <a:p>
            <a:pPr defTabSz="975390"/>
            <a:r>
              <a:rPr lang="en-US" sz="2560" dirty="0">
                <a:solidFill>
                  <a:prstClr val="black"/>
                </a:solidFill>
                <a:latin typeface="Yu Gothic" panose="020B0400000000000000" pitchFamily="34" charset="-128"/>
                <a:ea typeface="Yu Gothic" panose="020B0400000000000000" pitchFamily="34" charset="-128"/>
              </a:rPr>
              <a:t>Jonathan Mah, University of California, Los Angeles</a:t>
            </a:r>
          </a:p>
        </p:txBody>
      </p:sp>
      <p:sp>
        <p:nvSpPr>
          <p:cNvPr id="17" name="object 7">
            <a:extLst>
              <a:ext uri="{FF2B5EF4-FFF2-40B4-BE49-F238E27FC236}">
                <a16:creationId xmlns:a16="http://schemas.microsoft.com/office/drawing/2014/main" id="{63AB51BB-0A0E-B159-850D-1583DEA5CFB2}"/>
              </a:ext>
            </a:extLst>
          </p:cNvPr>
          <p:cNvSpPr/>
          <p:nvPr/>
        </p:nvSpPr>
        <p:spPr>
          <a:xfrm>
            <a:off x="34326" y="8246342"/>
            <a:ext cx="922546" cy="642733"/>
          </a:xfrm>
          <a:prstGeom prst="rect">
            <a:avLst/>
          </a:prstGeom>
          <a:blipFill>
            <a:blip r:embed="rId3" cstate="print"/>
            <a:stretch>
              <a:fillRect/>
            </a:stretch>
          </a:blipFill>
        </p:spPr>
        <p:txBody>
          <a:bodyPr wrap="square" lIns="0" tIns="0" rIns="0" bIns="0" rtlCol="0"/>
          <a:lstStyle/>
          <a:p>
            <a:pPr defTabSz="975390"/>
            <a:endParaRPr sz="1920">
              <a:solidFill>
                <a:prstClr val="black"/>
              </a:solidFill>
              <a:latin typeface="Calibri" panose="020F0502020204030204"/>
            </a:endParaRPr>
          </a:p>
        </p:txBody>
      </p:sp>
      <p:sp>
        <p:nvSpPr>
          <p:cNvPr id="18" name="object 8">
            <a:extLst>
              <a:ext uri="{FF2B5EF4-FFF2-40B4-BE49-F238E27FC236}">
                <a16:creationId xmlns:a16="http://schemas.microsoft.com/office/drawing/2014/main" id="{1B9D2770-EE52-EFE6-9BA6-167C882AA436}"/>
              </a:ext>
            </a:extLst>
          </p:cNvPr>
          <p:cNvSpPr txBox="1"/>
          <p:nvPr/>
        </p:nvSpPr>
        <p:spPr>
          <a:xfrm>
            <a:off x="933170" y="7717308"/>
            <a:ext cx="7975260" cy="1058068"/>
          </a:xfrm>
          <a:prstGeom prst="rect">
            <a:avLst/>
          </a:prstGeom>
        </p:spPr>
        <p:txBody>
          <a:bodyPr vert="horz" wrap="square" lIns="0" tIns="13547" rIns="0" bIns="0" rtlCol="0">
            <a:spAutoFit/>
          </a:bodyPr>
          <a:lstStyle/>
          <a:p>
            <a:pPr marL="13547" defTabSz="975390">
              <a:spcBef>
                <a:spcPts val="1984"/>
              </a:spcBef>
            </a:pPr>
            <a:r>
              <a:rPr lang="en-US" sz="2560" spc="-37" dirty="0">
                <a:solidFill>
                  <a:prstClr val="black"/>
                </a:solidFill>
                <a:latin typeface="Yu Gothic" panose="020B0400000000000000" pitchFamily="34" charset="-128"/>
                <a:ea typeface="Yu Gothic" panose="020B0400000000000000" pitchFamily="34" charset="-128"/>
                <a:cs typeface="Arial"/>
              </a:rPr>
              <a:t>@jonmah_compbio</a:t>
            </a:r>
          </a:p>
          <a:p>
            <a:pPr marL="13547" defTabSz="975390">
              <a:spcBef>
                <a:spcPts val="1984"/>
              </a:spcBef>
            </a:pPr>
            <a:r>
              <a:rPr lang="en-US" sz="2560" spc="-16" dirty="0">
                <a:solidFill>
                  <a:prstClr val="black"/>
                </a:solidFill>
                <a:latin typeface="Yu Gothic" panose="020B0400000000000000" pitchFamily="34" charset="-128"/>
                <a:ea typeface="Yu Gothic" panose="020B0400000000000000" pitchFamily="34" charset="-128"/>
                <a:cs typeface="Arial"/>
              </a:rPr>
              <a:t>jonmah@g.ucla.edu</a:t>
            </a:r>
            <a:endParaRPr sz="2560" dirty="0">
              <a:solidFill>
                <a:prstClr val="black"/>
              </a:solidFill>
              <a:latin typeface="Yu Gothic" panose="020B0400000000000000" pitchFamily="34" charset="-128"/>
              <a:ea typeface="Yu Gothic" panose="020B0400000000000000" pitchFamily="34" charset="-128"/>
              <a:cs typeface="Arial"/>
            </a:endParaRPr>
          </a:p>
        </p:txBody>
      </p:sp>
      <p:pic>
        <p:nvPicPr>
          <p:cNvPr id="19" name="Picture 18" descr="A black and white symbol&#10;&#10;Description automatically generated">
            <a:extLst>
              <a:ext uri="{FF2B5EF4-FFF2-40B4-BE49-F238E27FC236}">
                <a16:creationId xmlns:a16="http://schemas.microsoft.com/office/drawing/2014/main" id="{C89D3F19-D5E9-BAB6-7974-392D07AED9DF}"/>
              </a:ext>
            </a:extLst>
          </p:cNvPr>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13358" y="7659713"/>
            <a:ext cx="511262" cy="594834"/>
          </a:xfrm>
          <a:prstGeom prst="rect">
            <a:avLst/>
          </a:prstGeom>
        </p:spPr>
      </p:pic>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Takeaways</a:t>
            </a:r>
          </a:p>
        </p:txBody>
      </p:sp>
      <p:grpSp>
        <p:nvGrpSpPr>
          <p:cNvPr id="22" name="Group 21">
            <a:extLst>
              <a:ext uri="{FF2B5EF4-FFF2-40B4-BE49-F238E27FC236}">
                <a16:creationId xmlns:a16="http://schemas.microsoft.com/office/drawing/2014/main" id="{26C6D7EA-0C1A-61E2-B831-84A712D3AB1B}"/>
              </a:ext>
            </a:extLst>
          </p:cNvPr>
          <p:cNvGrpSpPr/>
          <p:nvPr/>
        </p:nvGrpSpPr>
        <p:grpSpPr>
          <a:xfrm>
            <a:off x="4062110" y="7417299"/>
            <a:ext cx="4846320" cy="1899356"/>
            <a:chOff x="977917" y="246723"/>
            <a:chExt cx="9791683" cy="3703320"/>
          </a:xfrm>
        </p:grpSpPr>
        <p:pic>
          <p:nvPicPr>
            <p:cNvPr id="23" name="Picture 22">
              <a:extLst>
                <a:ext uri="{FF2B5EF4-FFF2-40B4-BE49-F238E27FC236}">
                  <a16:creationId xmlns:a16="http://schemas.microsoft.com/office/drawing/2014/main" id="{2992ADAA-CCB9-BF1D-37E5-C531A0A252E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543" t="2183" r="14988" b="11079"/>
            <a:stretch/>
          </p:blipFill>
          <p:spPr>
            <a:xfrm>
              <a:off x="977917" y="500347"/>
              <a:ext cx="3962400" cy="3352800"/>
            </a:xfrm>
            <a:prstGeom prst="rect">
              <a:avLst/>
            </a:prstGeom>
          </p:spPr>
        </p:pic>
        <p:pic>
          <p:nvPicPr>
            <p:cNvPr id="24" name="Picture 2" descr="UCLA Script logo">
              <a:extLst>
                <a:ext uri="{FF2B5EF4-FFF2-40B4-BE49-F238E27FC236}">
                  <a16:creationId xmlns:a16="http://schemas.microsoft.com/office/drawing/2014/main" id="{6DFFD341-1825-27BC-F633-147872148B8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633" t="23014" r="22461" b="21865"/>
            <a:stretch/>
          </p:blipFill>
          <p:spPr bwMode="auto">
            <a:xfrm>
              <a:off x="4978400" y="1987009"/>
              <a:ext cx="3048000" cy="162339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0883846-C6C6-DC94-8BCE-162FBB658B46}"/>
                </a:ext>
              </a:extLst>
            </p:cNvPr>
            <p:cNvPicPr>
              <a:picLocks noChangeAspect="1"/>
            </p:cNvPicPr>
            <p:nvPr/>
          </p:nvPicPr>
          <p:blipFill>
            <a:blip r:embed="rId7"/>
            <a:stretch>
              <a:fillRect/>
            </a:stretch>
          </p:blipFill>
          <p:spPr>
            <a:xfrm>
              <a:off x="8483600" y="246723"/>
              <a:ext cx="2286000" cy="3703320"/>
            </a:xfrm>
            <a:prstGeom prst="rect">
              <a:avLst/>
            </a:prstGeom>
          </p:spPr>
        </p:pic>
      </p:grpSp>
    </p:spTree>
    <p:extLst>
      <p:ext uri="{BB962C8B-B14F-4D97-AF65-F5344CB8AC3E}">
        <p14:creationId xmlns:p14="http://schemas.microsoft.com/office/powerpoint/2010/main" val="1521993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13836</TotalTime>
  <Words>1417</Words>
  <Application>Microsoft Office PowerPoint</Application>
  <PresentationFormat>Custom</PresentationFormat>
  <Paragraphs>131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Yu Gothic</vt:lpstr>
      <vt:lpstr>Arial</vt:lpstr>
      <vt:lpstr>Calibri</vt:lpstr>
      <vt:lpstr>Office Theme</vt:lpstr>
      <vt:lpstr>How does the number of individuals studied influence the evolutionary stories we infer from population genetic data?</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Demographic inference of empirical data is sensitive to the number of individuals</vt:lpstr>
      <vt:lpstr>Come check out my poster!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312</cp:revision>
  <dcterms:created xsi:type="dcterms:W3CDTF">2019-09-10T15:46:25Z</dcterms:created>
  <dcterms:modified xsi:type="dcterms:W3CDTF">2025-10-31T18:55:44Z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